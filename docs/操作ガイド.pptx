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ja-JP"/>
    </a:defPPr>
    <a:lvl1pPr marL="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DFCBA5-1EA0-E270-5390-BD81DFEAE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673ED21-5CA1-35F2-6F9E-40FA00FC3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23E605-0B6F-E891-22C6-66C6D3505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9FF7E-59E9-410A-AF9F-592922283F94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37C683-1603-5769-9C56-C4A0846B0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6469E2-44DE-F5C2-9F8A-B5982BAEB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095A3-C087-43C9-AAF3-94457615C1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9029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06378A-5AEE-92A2-CFF0-2FB54BF50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36C38B-A856-E244-DF98-688CA0491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C2EC19-BC41-8936-1C3A-37C40D246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9FF7E-59E9-410A-AF9F-592922283F94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E2D8D1-D70D-71C6-FBB8-BCA4FE085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98C8AE-480A-3D28-98B3-4F36BC475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095A3-C087-43C9-AAF3-94457615C1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6548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080A83-C53F-20B9-9AC4-F945CE7DD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DAAAABC-A187-D640-97FC-A8C9B9FBC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E0CC4F-0FC2-EF6C-795B-3DECD1F22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9FF7E-59E9-410A-AF9F-592922283F94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5067DE-B546-8DBA-A59E-4917B151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5FEA0A-D29F-0FAB-4851-12F4D242D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095A3-C087-43C9-AAF3-94457615C1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7004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20E969-AAA2-61DA-FF57-2A07F3C64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8826C7-9EED-26B3-BED3-56CD6CB848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71E9600-B76D-0C7F-DD76-639FD69BDC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CE0AAAF-2B9C-74BD-CBAF-FA154A74C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9FF7E-59E9-410A-AF9F-592922283F94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6880A52-4C47-65C0-FF96-AB4DD6ECB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A05B71D-D187-023B-55D5-38C8CF37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095A3-C087-43C9-AAF3-94457615C1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7672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583434-92CE-F90B-A75E-006D26DD4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4C52EC2-81AF-FBF4-EFCF-89829A5B2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E1E30EE-FD34-3881-0899-A8579D682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7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837DE73-C7E4-E6E3-FB35-FFF41DBEBA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D92E732-6437-8CB5-5AC8-239AAB6BBA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7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15AAD47-807C-9DB2-3604-87542E43A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9FF7E-59E9-410A-AF9F-592922283F94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7E0B372-C738-F27D-773A-706D31BCF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03AF765-FFDA-CE6F-56AE-CD7356FE1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095A3-C087-43C9-AAF3-94457615C1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4902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41E395-6B7C-6165-C9B7-A265F5FA9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D6B585A-9C1F-6E7E-9C08-C0859AF58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9FF7E-59E9-410A-AF9F-592922283F94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F91A707-26DE-7211-A230-0EA57AD31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185DF65-8C50-5070-FD7F-0DCBB4FFD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095A3-C087-43C9-AAF3-94457615C1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5830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75F3C4B-1DE4-7A70-098F-37B76F63E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9FF7E-59E9-410A-AF9F-592922283F94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DD3500A-5AB8-8275-3120-02673DAB7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2CB4BA-2229-3898-9FFE-99D216A22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095A3-C087-43C9-AAF3-94457615C1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7162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F3EAAF-BBA8-CDEC-E061-BEABA6132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EDC549-1679-7C06-8EFD-0AC401A92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A64D8D1-7DFA-D759-0EB0-D2902AA48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C9CB886-F503-DB31-57CC-378F0496A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9FF7E-59E9-410A-AF9F-592922283F94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E7B659-6593-EA24-B1C1-1C5BC2730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02EF98-67B1-0E62-1FA9-3AC29A826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095A3-C087-43C9-AAF3-94457615C1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5491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1D1184-F422-B4F8-F5EE-A9310215F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14A4AF9-7EAB-B3F6-4259-49A5A0BE9FC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3AE59B4-23C9-A241-6A96-A828FD3F7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4455F27-ED0C-BA11-FF9D-1E14DB410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9FF7E-59E9-410A-AF9F-592922283F94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90BC815-8910-F8DA-9021-7410CAC38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A9420D3-5C3B-4CB0-C9E1-4FB756D9F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095A3-C087-43C9-AAF3-94457615C1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8653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E82FCC-9ABA-CA6F-8541-A24C6E664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CB6D786-D75C-5C7A-2BBC-E8CD9E41A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D93EBC-FBD8-A640-A016-005365179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9FF7E-59E9-410A-AF9F-592922283F94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19587E-98D5-3018-AAA6-17FA16E2A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14F463-CA16-0D34-6780-6AA4CF35C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095A3-C087-43C9-AAF3-94457615C1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7888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D5D77DA-F216-E4C5-8336-A95286C2E9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811839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0516E5F-BF7C-4216-B92E-8A370168E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7"/>
            <a:ext cx="7734300" cy="5811839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9A4288-A3D3-1F8C-DDB1-895762EA2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9FF7E-59E9-410A-AF9F-592922283F94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A40F0C-D83E-88B6-6348-7EF2ECB58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A5BC16-854B-2366-7956-F5C114D24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095A3-C087-43C9-AAF3-94457615C1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2323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E2A2DC8-9E84-7893-1333-A6A08E376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0B3658-4BC1-F324-ED35-F05ED0C21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05A9A9-EF96-AE3A-CC47-559D0774A1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69FF7E-59E9-410A-AF9F-592922283F94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B5F8D3-076E-5D3F-A1D0-9B62586C81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A9FE06-D967-B0DD-7DA4-78CD1C96DB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7095A3-C087-43C9-AAF3-94457615C1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9878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D12F232-F9B1-5092-C6BD-410AEDE7A9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DF41308-B3CD-483D-9497-F5F2318C1D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C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F46473BE-76F1-AACC-6DCC-5A459FD1904D}"/>
              </a:ext>
            </a:extLst>
          </p:cNvPr>
          <p:cNvSpPr/>
          <p:nvPr/>
        </p:nvSpPr>
        <p:spPr>
          <a:xfrm>
            <a:off x="7747000" y="-1778000"/>
            <a:ext cx="6604000" cy="6604000"/>
          </a:xfrm>
          <a:prstGeom prst="ellipse">
            <a:avLst/>
          </a:prstGeom>
          <a:solidFill>
            <a:srgbClr val="2563EB">
              <a:alpha val="1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AFA128A1-74E4-5ADC-1417-87C790919E2A}"/>
              </a:ext>
            </a:extLst>
          </p:cNvPr>
          <p:cNvSpPr/>
          <p:nvPr/>
        </p:nvSpPr>
        <p:spPr>
          <a:xfrm>
            <a:off x="9271000" y="3175000"/>
            <a:ext cx="4826000" cy="4826000"/>
          </a:xfrm>
          <a:prstGeom prst="ellipse">
            <a:avLst/>
          </a:prstGeom>
          <a:solidFill>
            <a:srgbClr val="0F8E92">
              <a:alpha val="14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50EFBDE-1B7B-32A2-59A6-797E57104C4F}"/>
              </a:ext>
            </a:extLst>
          </p:cNvPr>
          <p:cNvSpPr/>
          <p:nvPr/>
        </p:nvSpPr>
        <p:spPr>
          <a:xfrm>
            <a:off x="812800" y="1905000"/>
            <a:ext cx="863600" cy="63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EBCF3B4-9D6D-A581-34AF-E4ED94144217}"/>
              </a:ext>
            </a:extLst>
          </p:cNvPr>
          <p:cNvSpPr txBox="1"/>
          <p:nvPr/>
        </p:nvSpPr>
        <p:spPr>
          <a:xfrm>
            <a:off x="812800" y="1498600"/>
            <a:ext cx="6350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1250" b="1">
                <a:solidFill>
                  <a:srgbClr val="7FA6F5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SIMPLE DIGITAL SIGNAGE</a:t>
            </a:r>
            <a:endParaRPr kumimoji="1" lang="ja-JP" altLang="en-US" sz="1250" b="1">
              <a:solidFill>
                <a:srgbClr val="7FA6F5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0179070-8318-ECDA-DE8F-B0F36772C6C1}"/>
              </a:ext>
            </a:extLst>
          </p:cNvPr>
          <p:cNvSpPr txBox="1"/>
          <p:nvPr/>
        </p:nvSpPr>
        <p:spPr>
          <a:xfrm>
            <a:off x="812800" y="2286000"/>
            <a:ext cx="78740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52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操作ガイド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5A3269F-268B-9DB3-CA09-23BCB012F2EA}"/>
              </a:ext>
            </a:extLst>
          </p:cNvPr>
          <p:cNvSpPr txBox="1"/>
          <p:nvPr/>
        </p:nvSpPr>
        <p:spPr>
          <a:xfrm>
            <a:off x="812800" y="3378200"/>
            <a:ext cx="7112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1500">
                <a:solidFill>
                  <a:srgbClr val="C6D2E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フォルダに入れるだけ。あとは全画面で自動ループ。</a:t>
            </a:r>
          </a:p>
          <a:p>
            <a:pPr>
              <a:lnSpc>
                <a:spcPct val="150000"/>
              </a:lnSpc>
            </a:pPr>
            <a:r>
              <a:rPr kumimoji="1" lang="en-US" altLang="ja-JP" sz="1500">
                <a:solidFill>
                  <a:srgbClr val="C6D2E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PDF</a:t>
            </a:r>
            <a:r>
              <a:rPr kumimoji="1" lang="ja-JP" altLang="en-US" sz="1500">
                <a:solidFill>
                  <a:srgbClr val="C6D2E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・画像・動画をそのまま掲示できるサイネージアプリの使いかた。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4760F7E3-917A-FE26-5AF6-2DBBCC33BA13}"/>
              </a:ext>
            </a:extLst>
          </p:cNvPr>
          <p:cNvSpPr/>
          <p:nvPr/>
        </p:nvSpPr>
        <p:spPr>
          <a:xfrm>
            <a:off x="812800" y="4546600"/>
            <a:ext cx="1884680" cy="381000"/>
          </a:xfrm>
          <a:prstGeom prst="roundRect">
            <a:avLst>
              <a:gd name="adj" fmla="val 50000"/>
            </a:avLst>
          </a:prstGeom>
          <a:solidFill>
            <a:srgbClr val="1E3A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96884E6-873A-5ABF-015F-2EBC89CFC15E}"/>
              </a:ext>
            </a:extLst>
          </p:cNvPr>
          <p:cNvSpPr txBox="1"/>
          <p:nvPr/>
        </p:nvSpPr>
        <p:spPr>
          <a:xfrm>
            <a:off x="812800" y="4546600"/>
            <a:ext cx="188468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ja-JP" altLang="en-US" sz="1200" b="1">
                <a:solidFill>
                  <a:srgbClr val="BBD1FA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コンテンツ担当者向け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8FF00F4D-798A-47A2-5534-9127BE9C3179}"/>
              </a:ext>
            </a:extLst>
          </p:cNvPr>
          <p:cNvSpPr/>
          <p:nvPr/>
        </p:nvSpPr>
        <p:spPr>
          <a:xfrm>
            <a:off x="2946400" y="4546600"/>
            <a:ext cx="1729232" cy="381000"/>
          </a:xfrm>
          <a:prstGeom prst="roundRect">
            <a:avLst>
              <a:gd name="adj" fmla="val 50000"/>
            </a:avLst>
          </a:prstGeom>
          <a:solidFill>
            <a:srgbClr val="1741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82D0E9F-9D7F-4E19-DFE4-B23240E67157}"/>
              </a:ext>
            </a:extLst>
          </p:cNvPr>
          <p:cNvSpPr txBox="1"/>
          <p:nvPr/>
        </p:nvSpPr>
        <p:spPr>
          <a:xfrm>
            <a:off x="2946400" y="4546600"/>
            <a:ext cx="1729232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ja-JP" altLang="en-US" sz="1200" b="1">
                <a:solidFill>
                  <a:srgbClr val="A9DDD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システム管理者向け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249EC3D-A1CE-34C0-BDE3-BE6C71897090}"/>
              </a:ext>
            </a:extLst>
          </p:cNvPr>
          <p:cNvSpPr/>
          <p:nvPr/>
        </p:nvSpPr>
        <p:spPr>
          <a:xfrm>
            <a:off x="812800" y="5486400"/>
            <a:ext cx="3810000" cy="12700"/>
          </a:xfrm>
          <a:prstGeom prst="rect">
            <a:avLst/>
          </a:prstGeom>
          <a:solidFill>
            <a:srgbClr val="2E405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4AE5F4C-656E-FA14-4805-4854A4781146}"/>
              </a:ext>
            </a:extLst>
          </p:cNvPr>
          <p:cNvSpPr txBox="1"/>
          <p:nvPr/>
        </p:nvSpPr>
        <p:spPr>
          <a:xfrm>
            <a:off x="812800" y="5689600"/>
            <a:ext cx="609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1100">
                <a:solidFill>
                  <a:srgbClr val="7C8CA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2026</a:t>
            </a:r>
            <a:r>
              <a:rPr kumimoji="1" lang="ja-JP" altLang="en-US" sz="1100">
                <a:solidFill>
                  <a:srgbClr val="7C8CA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年</a:t>
            </a:r>
            <a:r>
              <a:rPr kumimoji="1" lang="en-US" altLang="ja-JP" sz="1100">
                <a:solidFill>
                  <a:srgbClr val="7C8CA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8</a:t>
            </a:r>
            <a:r>
              <a:rPr kumimoji="1" lang="ja-JP" altLang="en-US" sz="1100">
                <a:solidFill>
                  <a:srgbClr val="7C8CA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月版　｜　操作ガイド</a:t>
            </a:r>
            <a:r>
              <a:rPr kumimoji="1" lang="en-US" altLang="ja-JP" sz="1100">
                <a:solidFill>
                  <a:srgbClr val="7C8CA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.md </a:t>
            </a:r>
            <a:r>
              <a:rPr kumimoji="1" lang="ja-JP" altLang="en-US" sz="1100">
                <a:solidFill>
                  <a:srgbClr val="7C8CA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より作成</a:t>
            </a:r>
          </a:p>
        </p:txBody>
      </p:sp>
    </p:spTree>
    <p:extLst>
      <p:ext uri="{BB962C8B-B14F-4D97-AF65-F5344CB8AC3E}">
        <p14:creationId xmlns:p14="http://schemas.microsoft.com/office/powerpoint/2010/main" val="3360397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6163A2D-FA46-9D9F-BF22-069E871F10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50591F8-EBE7-F1D2-AA31-24FC465AEFF2}"/>
              </a:ext>
            </a:extLst>
          </p:cNvPr>
          <p:cNvSpPr/>
          <p:nvPr/>
        </p:nvSpPr>
        <p:spPr>
          <a:xfrm>
            <a:off x="812800" y="5842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A845175-04B9-111A-2819-506F11FC9584}"/>
              </a:ext>
            </a:extLst>
          </p:cNvPr>
          <p:cNvSpPr txBox="1"/>
          <p:nvPr/>
        </p:nvSpPr>
        <p:spPr>
          <a:xfrm>
            <a:off x="1028700" y="5715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1050" b="1">
                <a:solidFill>
                  <a:srgbClr val="2563E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OVERVIEW</a:t>
            </a:r>
            <a:endParaRPr kumimoji="1" lang="ja-JP" altLang="en-US" sz="1050" b="1">
              <a:solidFill>
                <a:srgbClr val="2563EB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502C4AA-6720-D4EF-2A31-220498CF66F4}"/>
              </a:ext>
            </a:extLst>
          </p:cNvPr>
          <p:cNvSpPr txBox="1"/>
          <p:nvPr/>
        </p:nvSpPr>
        <p:spPr>
          <a:xfrm>
            <a:off x="1028700" y="774700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27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このガイドの対象と役割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3E9CF30-7D81-1802-B1D1-788F51528084}"/>
              </a:ext>
            </a:extLst>
          </p:cNvPr>
          <p:cNvSpPr/>
          <p:nvPr/>
        </p:nvSpPr>
        <p:spPr>
          <a:xfrm>
            <a:off x="812800" y="1498600"/>
            <a:ext cx="10566400" cy="12700"/>
          </a:xfrm>
          <a:prstGeom prst="rect">
            <a:avLst/>
          </a:prstGeom>
          <a:solidFill>
            <a:srgbClr val="DEE5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A91CE33-3F37-8756-360E-B0D8892DD5E0}"/>
              </a:ext>
            </a:extLst>
          </p:cNvPr>
          <p:cNvSpPr txBox="1"/>
          <p:nvPr/>
        </p:nvSpPr>
        <p:spPr>
          <a:xfrm>
            <a:off x="812800" y="63754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簡易デジタルサイネージ ｜ 操作ガイド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E8F98B0-BBD7-2108-7A5B-98D8C71F9904}"/>
              </a:ext>
            </a:extLst>
          </p:cNvPr>
          <p:cNvSpPr txBox="1"/>
          <p:nvPr/>
        </p:nvSpPr>
        <p:spPr>
          <a:xfrm>
            <a:off x="10109200" y="63754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kumimoji="1" lang="en-US" altLang="ja-JP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900">
              <a:solidFill>
                <a:srgbClr val="8794A8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89B387C-1C64-4BB5-9334-71F7F8001797}"/>
              </a:ext>
            </a:extLst>
          </p:cNvPr>
          <p:cNvSpPr txBox="1"/>
          <p:nvPr/>
        </p:nvSpPr>
        <p:spPr>
          <a:xfrm>
            <a:off x="812800" y="1905000"/>
            <a:ext cx="10566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日常の運用は </a:t>
            </a:r>
            <a:r>
              <a:rPr kumimoji="1" lang="en-US" altLang="ja-JP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 </a:t>
            </a:r>
            <a:r>
              <a:rPr kumimoji="1" lang="ja-JP" altLang="en-US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つの役割に分かれます。自分の役割のページだけ読めば運用できます。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81B628D-AC13-794A-8996-66A9765987CE}"/>
              </a:ext>
            </a:extLst>
          </p:cNvPr>
          <p:cNvSpPr/>
          <p:nvPr/>
        </p:nvSpPr>
        <p:spPr>
          <a:xfrm>
            <a:off x="812800" y="2362200"/>
            <a:ext cx="5130800" cy="299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A3E956C-C6C1-A41E-C343-A42281024598}"/>
              </a:ext>
            </a:extLst>
          </p:cNvPr>
          <p:cNvSpPr/>
          <p:nvPr/>
        </p:nvSpPr>
        <p:spPr>
          <a:xfrm>
            <a:off x="812800" y="2362200"/>
            <a:ext cx="5130800" cy="63500"/>
          </a:xfrm>
          <a:prstGeom prst="rect">
            <a:avLst/>
          </a:prstGeom>
          <a:solidFill>
            <a:srgbClr val="0F8E9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9A75802-29E5-4A21-F485-E2EB9D4B1EFF}"/>
              </a:ext>
            </a:extLst>
          </p:cNvPr>
          <p:cNvSpPr/>
          <p:nvPr/>
        </p:nvSpPr>
        <p:spPr>
          <a:xfrm>
            <a:off x="1143000" y="2692400"/>
            <a:ext cx="828040" cy="279400"/>
          </a:xfrm>
          <a:prstGeom prst="roundRect">
            <a:avLst>
              <a:gd name="adj" fmla="val 50000"/>
            </a:avLst>
          </a:prstGeom>
          <a:solidFill>
            <a:srgbClr val="E3F4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6E8364A-A5DC-231E-52F4-A510E340F46E}"/>
              </a:ext>
            </a:extLst>
          </p:cNvPr>
          <p:cNvSpPr txBox="1"/>
          <p:nvPr/>
        </p:nvSpPr>
        <p:spPr>
          <a:xfrm>
            <a:off x="1143000" y="2692400"/>
            <a:ext cx="82804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000" b="1">
                <a:solidFill>
                  <a:srgbClr val="0F8E9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ROLE 01</a:t>
            </a:r>
            <a:endParaRPr kumimoji="1" lang="ja-JP" altLang="en-US" sz="1000" b="1">
              <a:solidFill>
                <a:srgbClr val="0F8E9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7A6A8A5-48FE-9BBD-4B68-6A4F4A917671}"/>
              </a:ext>
            </a:extLst>
          </p:cNvPr>
          <p:cNvSpPr txBox="1"/>
          <p:nvPr/>
        </p:nvSpPr>
        <p:spPr>
          <a:xfrm>
            <a:off x="1143000" y="3098800"/>
            <a:ext cx="4470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21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コンテンツ担当者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F65C6FF-3B30-D339-3471-843ED3EE844C}"/>
              </a:ext>
            </a:extLst>
          </p:cNvPr>
          <p:cNvSpPr txBox="1"/>
          <p:nvPr/>
        </p:nvSpPr>
        <p:spPr>
          <a:xfrm>
            <a:off x="1143000" y="3505200"/>
            <a:ext cx="4470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2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表示するファイルを扱う人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E6B64BB-AAB9-F99E-B293-69C1E43FACB4}"/>
              </a:ext>
            </a:extLst>
          </p:cNvPr>
          <p:cNvSpPr txBox="1"/>
          <p:nvPr/>
        </p:nvSpPr>
        <p:spPr>
          <a:xfrm>
            <a:off x="1143000" y="3937000"/>
            <a:ext cx="44704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kumimoji="1" lang="ja-JP" altLang="en-US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・表示したいファイルをフォルダに入れる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kumimoji="1" lang="ja-JP" altLang="en-US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・不要になったファイルを削除する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kumimoji="1" lang="ja-JP" altLang="en-US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・ファイル名で表示順・表示時間・再生期限を調整する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FC6832F2-3417-E861-9B2D-A38D5EFDCFB6}"/>
              </a:ext>
            </a:extLst>
          </p:cNvPr>
          <p:cNvSpPr/>
          <p:nvPr/>
        </p:nvSpPr>
        <p:spPr>
          <a:xfrm>
            <a:off x="6248400" y="2362200"/>
            <a:ext cx="5130800" cy="299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D800825-80DD-AA1C-9AC2-75250DD3287E}"/>
              </a:ext>
            </a:extLst>
          </p:cNvPr>
          <p:cNvSpPr/>
          <p:nvPr/>
        </p:nvSpPr>
        <p:spPr>
          <a:xfrm>
            <a:off x="6248400" y="2362200"/>
            <a:ext cx="5130800" cy="63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5A90A128-FDC4-67C7-565A-D890DDFC9D00}"/>
              </a:ext>
            </a:extLst>
          </p:cNvPr>
          <p:cNvSpPr/>
          <p:nvPr/>
        </p:nvSpPr>
        <p:spPr>
          <a:xfrm>
            <a:off x="6578600" y="2692400"/>
            <a:ext cx="828040" cy="279400"/>
          </a:xfrm>
          <a:prstGeom prst="roundRect">
            <a:avLst>
              <a:gd name="adj" fmla="val 50000"/>
            </a:avLst>
          </a:prstGeom>
          <a:solidFill>
            <a:srgbClr val="E9F0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5A50B84-5EB4-790B-2AA5-FF59E11353B9}"/>
              </a:ext>
            </a:extLst>
          </p:cNvPr>
          <p:cNvSpPr txBox="1"/>
          <p:nvPr/>
        </p:nvSpPr>
        <p:spPr>
          <a:xfrm>
            <a:off x="6578600" y="2692400"/>
            <a:ext cx="82804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000" b="1">
                <a:solidFill>
                  <a:srgbClr val="2563E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ROLE 02</a:t>
            </a:r>
            <a:endParaRPr kumimoji="1" lang="ja-JP" altLang="en-US" sz="1000" b="1">
              <a:solidFill>
                <a:srgbClr val="2563EB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FB97994-4A9A-1EE2-1EF0-114D262F13AE}"/>
              </a:ext>
            </a:extLst>
          </p:cNvPr>
          <p:cNvSpPr txBox="1"/>
          <p:nvPr/>
        </p:nvSpPr>
        <p:spPr>
          <a:xfrm>
            <a:off x="6578600" y="3098800"/>
            <a:ext cx="4470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21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システム管理者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C6289A1-8F42-C725-F403-8BEC5CC15408}"/>
              </a:ext>
            </a:extLst>
          </p:cNvPr>
          <p:cNvSpPr txBox="1"/>
          <p:nvPr/>
        </p:nvSpPr>
        <p:spPr>
          <a:xfrm>
            <a:off x="6578600" y="3505200"/>
            <a:ext cx="4470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2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アプリと設定を扱う人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5B51208-2965-B2D7-22F7-C96C6E4C8355}"/>
              </a:ext>
            </a:extLst>
          </p:cNvPr>
          <p:cNvSpPr txBox="1"/>
          <p:nvPr/>
        </p:nvSpPr>
        <p:spPr>
          <a:xfrm>
            <a:off x="6578600" y="3937000"/>
            <a:ext cx="44704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kumimoji="1" lang="ja-JP" altLang="en-US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・アプリの起動と管理画面の操作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kumimoji="1" lang="ja-JP" altLang="en-US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・監視フォルダ・表示秒数などの設定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kumimoji="1" lang="ja-JP" altLang="en-US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・夜間停止と朝の自動起動、ログの確認</a:t>
            </a: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E1561335-9E66-F3C5-0D56-BC5CB8A81A23}"/>
              </a:ext>
            </a:extLst>
          </p:cNvPr>
          <p:cNvSpPr/>
          <p:nvPr/>
        </p:nvSpPr>
        <p:spPr>
          <a:xfrm>
            <a:off x="812800" y="5638800"/>
            <a:ext cx="10566400" cy="5842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47513B1-B791-63FA-DBFC-DE06812F80A0}"/>
              </a:ext>
            </a:extLst>
          </p:cNvPr>
          <p:cNvSpPr/>
          <p:nvPr/>
        </p:nvSpPr>
        <p:spPr>
          <a:xfrm>
            <a:off x="812800" y="5638800"/>
            <a:ext cx="50800" cy="584200"/>
          </a:xfrm>
          <a:prstGeom prst="rect">
            <a:avLst/>
          </a:prstGeom>
          <a:solidFill>
            <a:srgbClr val="8794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0F7B8E2-DAE1-AA8D-CB64-95D87711E4A9}"/>
              </a:ext>
            </a:extLst>
          </p:cNvPr>
          <p:cNvSpPr txBox="1"/>
          <p:nvPr/>
        </p:nvSpPr>
        <p:spPr>
          <a:xfrm>
            <a:off x="1092200" y="5638800"/>
            <a:ext cx="581152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1150" b="1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MEMO</a:t>
            </a:r>
            <a:endParaRPr kumimoji="1" lang="ja-JP" altLang="en-US" sz="1150" b="1">
              <a:solidFill>
                <a:srgbClr val="8794A8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07425CB-4B44-4081-4114-DF28C2BF028A}"/>
              </a:ext>
            </a:extLst>
          </p:cNvPr>
          <p:cNvSpPr txBox="1"/>
          <p:nvPr/>
        </p:nvSpPr>
        <p:spPr>
          <a:xfrm>
            <a:off x="1673352" y="5638800"/>
            <a:ext cx="9426448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ログ・権限・技術的な制限事項などの詳細は「運用ガイド」を参照してください。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3552689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293C5BE-4BB6-65AC-5A02-06B2C96790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4E54F21-0D47-908C-7B4C-83CEEE1E819F}"/>
              </a:ext>
            </a:extLst>
          </p:cNvPr>
          <p:cNvSpPr/>
          <p:nvPr/>
        </p:nvSpPr>
        <p:spPr>
          <a:xfrm>
            <a:off x="812800" y="5842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5A73C01-B830-CAE4-C3D1-089B052CD590}"/>
              </a:ext>
            </a:extLst>
          </p:cNvPr>
          <p:cNvSpPr txBox="1"/>
          <p:nvPr/>
        </p:nvSpPr>
        <p:spPr>
          <a:xfrm>
            <a:off x="1028700" y="5715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1050" b="1">
                <a:solidFill>
                  <a:srgbClr val="2563E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HOW IT WORKS</a:t>
            </a:r>
            <a:endParaRPr kumimoji="1" lang="ja-JP" altLang="en-US" sz="1050" b="1">
              <a:solidFill>
                <a:srgbClr val="2563EB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A310E47-0D96-A31D-7846-4785788E21F3}"/>
              </a:ext>
            </a:extLst>
          </p:cNvPr>
          <p:cNvSpPr txBox="1"/>
          <p:nvPr/>
        </p:nvSpPr>
        <p:spPr>
          <a:xfrm>
            <a:off x="1028700" y="774700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27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表示のしくみ（全体像）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2D3D259-CF6C-0D30-C030-C5AEB97EED73}"/>
              </a:ext>
            </a:extLst>
          </p:cNvPr>
          <p:cNvSpPr/>
          <p:nvPr/>
        </p:nvSpPr>
        <p:spPr>
          <a:xfrm>
            <a:off x="812800" y="1498600"/>
            <a:ext cx="10566400" cy="12700"/>
          </a:xfrm>
          <a:prstGeom prst="rect">
            <a:avLst/>
          </a:prstGeom>
          <a:solidFill>
            <a:srgbClr val="DEE5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712716A-CF91-4A1F-F29E-C4FD691B686F}"/>
              </a:ext>
            </a:extLst>
          </p:cNvPr>
          <p:cNvSpPr txBox="1"/>
          <p:nvPr/>
        </p:nvSpPr>
        <p:spPr>
          <a:xfrm>
            <a:off x="812800" y="63754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簡易デジタルサイネージ ｜ 操作ガイド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4DA6961-A8E0-47BC-9AAC-A6089CD36771}"/>
              </a:ext>
            </a:extLst>
          </p:cNvPr>
          <p:cNvSpPr txBox="1"/>
          <p:nvPr/>
        </p:nvSpPr>
        <p:spPr>
          <a:xfrm>
            <a:off x="10109200" y="63754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kumimoji="1" lang="en-US" altLang="ja-JP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900">
              <a:solidFill>
                <a:srgbClr val="8794A8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7A52C9A-4A22-8A36-C981-6583902E713E}"/>
              </a:ext>
            </a:extLst>
          </p:cNvPr>
          <p:cNvSpPr txBox="1"/>
          <p:nvPr/>
        </p:nvSpPr>
        <p:spPr>
          <a:xfrm>
            <a:off x="812800" y="1905000"/>
            <a:ext cx="10566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操作はフォルダにファイルを置くだけ。検知も表示もアプリが自動で行います。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788BF29-81C1-0ADF-3523-0898392C44D9}"/>
              </a:ext>
            </a:extLst>
          </p:cNvPr>
          <p:cNvSpPr/>
          <p:nvPr/>
        </p:nvSpPr>
        <p:spPr>
          <a:xfrm>
            <a:off x="812800" y="2413000"/>
            <a:ext cx="31750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DA0237A7-026D-1853-CDF5-8B961697C943}"/>
              </a:ext>
            </a:extLst>
          </p:cNvPr>
          <p:cNvSpPr/>
          <p:nvPr/>
        </p:nvSpPr>
        <p:spPr>
          <a:xfrm>
            <a:off x="1117600" y="2717800"/>
            <a:ext cx="457200" cy="457200"/>
          </a:xfrm>
          <a:prstGeom prst="ellipse">
            <a:avLst/>
          </a:prstGeom>
          <a:solidFill>
            <a:srgbClr val="E9F0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FCBBA31-9CF6-4AB8-74DA-1CEB853DB406}"/>
              </a:ext>
            </a:extLst>
          </p:cNvPr>
          <p:cNvSpPr txBox="1"/>
          <p:nvPr/>
        </p:nvSpPr>
        <p:spPr>
          <a:xfrm>
            <a:off x="1117600" y="2717800"/>
            <a:ext cx="457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500" b="1">
                <a:solidFill>
                  <a:srgbClr val="2563E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1500" b="1">
              <a:solidFill>
                <a:srgbClr val="2563EB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5390F06-D9D0-5195-C565-70C7CE1E408B}"/>
              </a:ext>
            </a:extLst>
          </p:cNvPr>
          <p:cNvSpPr txBox="1"/>
          <p:nvPr/>
        </p:nvSpPr>
        <p:spPr>
          <a:xfrm>
            <a:off x="1117600" y="3352800"/>
            <a:ext cx="25654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6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ファイルを置く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B555D7C-F3EE-0B57-75B3-15B7F818C85C}"/>
              </a:ext>
            </a:extLst>
          </p:cNvPr>
          <p:cNvSpPr txBox="1"/>
          <p:nvPr/>
        </p:nvSpPr>
        <p:spPr>
          <a:xfrm>
            <a:off x="1117600" y="3733800"/>
            <a:ext cx="25654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指定した監視フォルダの直下に</a:t>
            </a:r>
          </a:p>
          <a:p>
            <a:pPr>
              <a:lnSpc>
                <a:spcPct val="140000"/>
              </a:lnSpc>
            </a:pPr>
            <a:r>
              <a:rPr kumimoji="1" lang="en-US" altLang="ja-JP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PDF</a:t>
            </a: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・画像・動画を保存します。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346F5B96-463D-11EE-6FDC-1FE64167A956}"/>
              </a:ext>
            </a:extLst>
          </p:cNvPr>
          <p:cNvSpPr/>
          <p:nvPr/>
        </p:nvSpPr>
        <p:spPr>
          <a:xfrm>
            <a:off x="4508500" y="2413000"/>
            <a:ext cx="31750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E845FB28-2069-892B-638D-9D5ACCEE1D32}"/>
              </a:ext>
            </a:extLst>
          </p:cNvPr>
          <p:cNvSpPr/>
          <p:nvPr/>
        </p:nvSpPr>
        <p:spPr>
          <a:xfrm>
            <a:off x="4813300" y="2717800"/>
            <a:ext cx="457200" cy="457200"/>
          </a:xfrm>
          <a:prstGeom prst="ellipse">
            <a:avLst/>
          </a:prstGeom>
          <a:solidFill>
            <a:srgbClr val="E9F0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91CC74C-883F-1948-A79E-FC35405491B8}"/>
              </a:ext>
            </a:extLst>
          </p:cNvPr>
          <p:cNvSpPr txBox="1"/>
          <p:nvPr/>
        </p:nvSpPr>
        <p:spPr>
          <a:xfrm>
            <a:off x="4813300" y="2717800"/>
            <a:ext cx="457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500" b="1">
                <a:solidFill>
                  <a:srgbClr val="2563E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1500" b="1">
              <a:solidFill>
                <a:srgbClr val="2563EB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E2C8081-856B-D453-4D5B-9FA3C1C2606C}"/>
              </a:ext>
            </a:extLst>
          </p:cNvPr>
          <p:cNvSpPr txBox="1"/>
          <p:nvPr/>
        </p:nvSpPr>
        <p:spPr>
          <a:xfrm>
            <a:off x="4813300" y="3352800"/>
            <a:ext cx="25654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6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アプリが検知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41301AB-D760-97DF-5E84-2542A355353B}"/>
              </a:ext>
            </a:extLst>
          </p:cNvPr>
          <p:cNvSpPr txBox="1"/>
          <p:nvPr/>
        </p:nvSpPr>
        <p:spPr>
          <a:xfrm>
            <a:off x="4813300" y="3733800"/>
            <a:ext cx="25654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追加・削除を自動で見つけて</a:t>
            </a:r>
          </a:p>
          <a:p>
            <a:pPr>
              <a:lnSpc>
                <a:spcPct val="140000"/>
              </a:lnSpc>
            </a:pP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再生リストを作り直します。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C50FA135-5218-4207-6168-AEEF946412A4}"/>
              </a:ext>
            </a:extLst>
          </p:cNvPr>
          <p:cNvSpPr/>
          <p:nvPr/>
        </p:nvSpPr>
        <p:spPr>
          <a:xfrm>
            <a:off x="8204200" y="2413000"/>
            <a:ext cx="31750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8CE6BA1-CC3F-9788-6F7E-38530F803E0C}"/>
              </a:ext>
            </a:extLst>
          </p:cNvPr>
          <p:cNvSpPr/>
          <p:nvPr/>
        </p:nvSpPr>
        <p:spPr>
          <a:xfrm>
            <a:off x="8509000" y="2717800"/>
            <a:ext cx="457200" cy="457200"/>
          </a:xfrm>
          <a:prstGeom prst="ellipse">
            <a:avLst/>
          </a:prstGeom>
          <a:solidFill>
            <a:srgbClr val="E9F0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1515930-ABE1-0F17-3A03-7E7218C0F4FA}"/>
              </a:ext>
            </a:extLst>
          </p:cNvPr>
          <p:cNvSpPr txBox="1"/>
          <p:nvPr/>
        </p:nvSpPr>
        <p:spPr>
          <a:xfrm>
            <a:off x="8509000" y="2717800"/>
            <a:ext cx="457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500" b="1">
                <a:solidFill>
                  <a:srgbClr val="2563E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1500" b="1">
              <a:solidFill>
                <a:srgbClr val="2563EB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0AD89A9-FAE9-C852-E431-898FE2EC3B7E}"/>
              </a:ext>
            </a:extLst>
          </p:cNvPr>
          <p:cNvSpPr txBox="1"/>
          <p:nvPr/>
        </p:nvSpPr>
        <p:spPr>
          <a:xfrm>
            <a:off x="8509000" y="3352800"/>
            <a:ext cx="25654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6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全画面でループ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C02370F-AC5D-EB49-E2D5-387DF47C423D}"/>
              </a:ext>
            </a:extLst>
          </p:cNvPr>
          <p:cNvSpPr txBox="1"/>
          <p:nvPr/>
        </p:nvSpPr>
        <p:spPr>
          <a:xfrm>
            <a:off x="8509000" y="3733800"/>
            <a:ext cx="25654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順番に全画面表示し、</a:t>
            </a:r>
          </a:p>
          <a:p>
            <a:pPr>
              <a:lnSpc>
                <a:spcPct val="140000"/>
              </a:lnSpc>
            </a:pP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最後まで行くと先頭へ戻ります。</a:t>
            </a:r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BCB20EC8-DB92-5BDE-2B66-FD8F3B95BD67}"/>
              </a:ext>
            </a:extLst>
          </p:cNvPr>
          <p:cNvSpPr/>
          <p:nvPr/>
        </p:nvSpPr>
        <p:spPr>
          <a:xfrm>
            <a:off x="4089400" y="3327400"/>
            <a:ext cx="317500" cy="254000"/>
          </a:xfrm>
          <a:prstGeom prst="rightArrow">
            <a:avLst/>
          </a:prstGeom>
          <a:solidFill>
            <a:srgbClr val="BFD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矢印: 右 25">
            <a:extLst>
              <a:ext uri="{FF2B5EF4-FFF2-40B4-BE49-F238E27FC236}">
                <a16:creationId xmlns:a16="http://schemas.microsoft.com/office/drawing/2014/main" id="{C90DB1E1-E82D-C4DF-5123-0D29DF683F0A}"/>
              </a:ext>
            </a:extLst>
          </p:cNvPr>
          <p:cNvSpPr/>
          <p:nvPr/>
        </p:nvSpPr>
        <p:spPr>
          <a:xfrm>
            <a:off x="7785100" y="3327400"/>
            <a:ext cx="317500" cy="254000"/>
          </a:xfrm>
          <a:prstGeom prst="rightArrow">
            <a:avLst/>
          </a:prstGeom>
          <a:solidFill>
            <a:srgbClr val="BFD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91FF6FC2-E1E5-AA78-E56F-98C97D418958}"/>
              </a:ext>
            </a:extLst>
          </p:cNvPr>
          <p:cNvSpPr/>
          <p:nvPr/>
        </p:nvSpPr>
        <p:spPr>
          <a:xfrm>
            <a:off x="812800" y="5130800"/>
            <a:ext cx="10566400" cy="787400"/>
          </a:xfrm>
          <a:prstGeom prst="roundRect">
            <a:avLst>
              <a:gd name="adj" fmla="val 12000"/>
            </a:avLst>
          </a:prstGeom>
          <a:solidFill>
            <a:srgbClr val="E9F0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BD315A24-9B7B-FAC7-5BA1-63F10F69D9CB}"/>
              </a:ext>
            </a:extLst>
          </p:cNvPr>
          <p:cNvSpPr/>
          <p:nvPr/>
        </p:nvSpPr>
        <p:spPr>
          <a:xfrm>
            <a:off x="812800" y="5130800"/>
            <a:ext cx="50800" cy="7874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1EB42C9-804B-5300-E05D-E813DC759D25}"/>
              </a:ext>
            </a:extLst>
          </p:cNvPr>
          <p:cNvSpPr txBox="1"/>
          <p:nvPr/>
        </p:nvSpPr>
        <p:spPr>
          <a:xfrm>
            <a:off x="1092200" y="5130800"/>
            <a:ext cx="1497584" cy="787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200" b="1">
                <a:solidFill>
                  <a:srgbClr val="2563E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反映のタイミング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48A488C-5767-A05D-5A9F-4D30AECD1D07}"/>
              </a:ext>
            </a:extLst>
          </p:cNvPr>
          <p:cNvSpPr txBox="1"/>
          <p:nvPr/>
        </p:nvSpPr>
        <p:spPr>
          <a:xfrm>
            <a:off x="2589784" y="5130800"/>
            <a:ext cx="8510016" cy="787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ファイルを追加・削除しても、いま表示しているスライドが終わったあとに切り替わります。普段は全画面（キオスクモード）のまま運用します。</a:t>
            </a:r>
          </a:p>
        </p:txBody>
      </p:sp>
    </p:spTree>
    <p:extLst>
      <p:ext uri="{BB962C8B-B14F-4D97-AF65-F5344CB8AC3E}">
        <p14:creationId xmlns:p14="http://schemas.microsoft.com/office/powerpoint/2010/main" val="691189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7E6A0DB-31FF-22DF-008A-849966AA11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1655108-E15E-F6B0-3D79-D2B55E7B1A45}"/>
              </a:ext>
            </a:extLst>
          </p:cNvPr>
          <p:cNvSpPr/>
          <p:nvPr/>
        </p:nvSpPr>
        <p:spPr>
          <a:xfrm>
            <a:off x="812800" y="584200"/>
            <a:ext cx="63500" cy="584200"/>
          </a:xfrm>
          <a:prstGeom prst="rect">
            <a:avLst/>
          </a:prstGeom>
          <a:solidFill>
            <a:srgbClr val="0F8E9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AFC8B44-4019-1CF2-E1C2-9CBA98DE96B8}"/>
              </a:ext>
            </a:extLst>
          </p:cNvPr>
          <p:cNvSpPr txBox="1"/>
          <p:nvPr/>
        </p:nvSpPr>
        <p:spPr>
          <a:xfrm>
            <a:off x="1028700" y="5715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1050" b="1">
                <a:solidFill>
                  <a:srgbClr val="0F8E9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FOR CONTENT OWNER</a:t>
            </a:r>
            <a:endParaRPr kumimoji="1" lang="ja-JP" altLang="en-US" sz="1050" b="1">
              <a:solidFill>
                <a:srgbClr val="0F8E9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5B6D975-B531-5D9D-8B76-D7A58CAAEFB0}"/>
              </a:ext>
            </a:extLst>
          </p:cNvPr>
          <p:cNvSpPr txBox="1"/>
          <p:nvPr/>
        </p:nvSpPr>
        <p:spPr>
          <a:xfrm>
            <a:off x="1028700" y="774700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27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ファイルを追加する・止める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5078660-A02D-B8DB-C26E-9B661C8F74D1}"/>
              </a:ext>
            </a:extLst>
          </p:cNvPr>
          <p:cNvSpPr/>
          <p:nvPr/>
        </p:nvSpPr>
        <p:spPr>
          <a:xfrm>
            <a:off x="812800" y="1498600"/>
            <a:ext cx="10566400" cy="12700"/>
          </a:xfrm>
          <a:prstGeom prst="rect">
            <a:avLst/>
          </a:prstGeom>
          <a:solidFill>
            <a:srgbClr val="DEE5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37F6E79-6926-2D3F-033B-A8FCD8C19C2A}"/>
              </a:ext>
            </a:extLst>
          </p:cNvPr>
          <p:cNvSpPr/>
          <p:nvPr/>
        </p:nvSpPr>
        <p:spPr>
          <a:xfrm>
            <a:off x="9857232" y="736600"/>
            <a:ext cx="1521968" cy="330200"/>
          </a:xfrm>
          <a:prstGeom prst="roundRect">
            <a:avLst>
              <a:gd name="adj" fmla="val 50000"/>
            </a:avLst>
          </a:prstGeom>
          <a:solidFill>
            <a:srgbClr val="0F8E9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9DB8620-5E70-B5E6-0AF3-9A61BBF2AACC}"/>
              </a:ext>
            </a:extLst>
          </p:cNvPr>
          <p:cNvSpPr txBox="1"/>
          <p:nvPr/>
        </p:nvSpPr>
        <p:spPr>
          <a:xfrm>
            <a:off x="9857232" y="736600"/>
            <a:ext cx="1521968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ja-JP" altLang="en-US" sz="115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コンテンツ担当者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C7DCA99-1534-CE14-607E-75DF31C0A719}"/>
              </a:ext>
            </a:extLst>
          </p:cNvPr>
          <p:cNvSpPr txBox="1"/>
          <p:nvPr/>
        </p:nvSpPr>
        <p:spPr>
          <a:xfrm>
            <a:off x="812800" y="63754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簡易デジタルサイネージ ｜ 操作ガイド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7015916-4EF6-93BD-E6AB-D1709E48F4C7}"/>
              </a:ext>
            </a:extLst>
          </p:cNvPr>
          <p:cNvSpPr txBox="1"/>
          <p:nvPr/>
        </p:nvSpPr>
        <p:spPr>
          <a:xfrm>
            <a:off x="10109200" y="63754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kumimoji="1" lang="en-US" altLang="ja-JP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</a:t>
            </a:r>
            <a:endParaRPr kumimoji="1" lang="ja-JP" altLang="en-US" sz="900">
              <a:solidFill>
                <a:srgbClr val="8794A8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3D71FEF2-863F-E0FC-A7B1-399112AE697A}"/>
              </a:ext>
            </a:extLst>
          </p:cNvPr>
          <p:cNvSpPr/>
          <p:nvPr/>
        </p:nvSpPr>
        <p:spPr>
          <a:xfrm>
            <a:off x="812800" y="1930400"/>
            <a:ext cx="10566400" cy="762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E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F4C7C65D-CEA3-8AB2-D563-FEC7EAF105D7}"/>
              </a:ext>
            </a:extLst>
          </p:cNvPr>
          <p:cNvSpPr/>
          <p:nvPr/>
        </p:nvSpPr>
        <p:spPr>
          <a:xfrm>
            <a:off x="1066800" y="2133600"/>
            <a:ext cx="381000" cy="381000"/>
          </a:xfrm>
          <a:prstGeom prst="ellipse">
            <a:avLst/>
          </a:prstGeom>
          <a:solidFill>
            <a:srgbClr val="E3F4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617E909-0EB2-9F2F-ACB8-8DA86A992ADF}"/>
              </a:ext>
            </a:extLst>
          </p:cNvPr>
          <p:cNvSpPr txBox="1"/>
          <p:nvPr/>
        </p:nvSpPr>
        <p:spPr>
          <a:xfrm>
            <a:off x="1066800" y="2133600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400" b="1">
                <a:solidFill>
                  <a:srgbClr val="0F8E9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1400" b="1">
              <a:solidFill>
                <a:srgbClr val="0F8E9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CC86B55-4FB0-9290-D5A5-7BF00BE54620}"/>
              </a:ext>
            </a:extLst>
          </p:cNvPr>
          <p:cNvSpPr txBox="1"/>
          <p:nvPr/>
        </p:nvSpPr>
        <p:spPr>
          <a:xfrm>
            <a:off x="1625600" y="2082800"/>
            <a:ext cx="508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5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監視フォルダを開く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98874D9-0F0E-D57F-4DDB-81AA812C9045}"/>
              </a:ext>
            </a:extLst>
          </p:cNvPr>
          <p:cNvSpPr txBox="1"/>
          <p:nvPr/>
        </p:nvSpPr>
        <p:spPr>
          <a:xfrm>
            <a:off x="1625600" y="2362200"/>
            <a:ext cx="9347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2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本番の例：</a:t>
            </a:r>
            <a:r>
              <a:rPr kumimoji="1" lang="en-US" altLang="ja-JP" sz="12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D:\Signage</a:t>
            </a:r>
            <a:r>
              <a:rPr kumimoji="1" lang="ja-JP" altLang="en-US" sz="12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（場所は管理者に確認）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425973C1-F91D-6A40-7716-E9195CC44CD8}"/>
              </a:ext>
            </a:extLst>
          </p:cNvPr>
          <p:cNvSpPr/>
          <p:nvPr/>
        </p:nvSpPr>
        <p:spPr>
          <a:xfrm>
            <a:off x="812800" y="2844800"/>
            <a:ext cx="10566400" cy="762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E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43E4D051-6811-09A5-30C2-8B15E9AB57C3}"/>
              </a:ext>
            </a:extLst>
          </p:cNvPr>
          <p:cNvSpPr/>
          <p:nvPr/>
        </p:nvSpPr>
        <p:spPr>
          <a:xfrm>
            <a:off x="1066800" y="3048000"/>
            <a:ext cx="381000" cy="381000"/>
          </a:xfrm>
          <a:prstGeom prst="ellipse">
            <a:avLst/>
          </a:prstGeom>
          <a:solidFill>
            <a:srgbClr val="E3F4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FEC120E-A769-B4D6-689F-6CD4A4B27137}"/>
              </a:ext>
            </a:extLst>
          </p:cNvPr>
          <p:cNvSpPr txBox="1"/>
          <p:nvPr/>
        </p:nvSpPr>
        <p:spPr>
          <a:xfrm>
            <a:off x="1066800" y="3048000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400" b="1">
                <a:solidFill>
                  <a:srgbClr val="0F8E9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1400" b="1">
              <a:solidFill>
                <a:srgbClr val="0F8E9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F969F3A-EA26-F763-29FE-959C54960E38}"/>
              </a:ext>
            </a:extLst>
          </p:cNvPr>
          <p:cNvSpPr txBox="1"/>
          <p:nvPr/>
        </p:nvSpPr>
        <p:spPr>
          <a:xfrm>
            <a:off x="1625600" y="2997200"/>
            <a:ext cx="508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5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ファイルをフォルダ直下にコピーする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65F8A41-DAB9-2638-D256-F222EBDADA5C}"/>
              </a:ext>
            </a:extLst>
          </p:cNvPr>
          <p:cNvSpPr txBox="1"/>
          <p:nvPr/>
        </p:nvSpPr>
        <p:spPr>
          <a:xfrm>
            <a:off x="1625600" y="3276600"/>
            <a:ext cx="9347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2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対応形式は </a:t>
            </a:r>
            <a:r>
              <a:rPr kumimoji="1" lang="en-US" altLang="ja-JP" sz="12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JPG / JPEG</a:t>
            </a:r>
            <a:r>
              <a:rPr kumimoji="1" lang="ja-JP" altLang="en-US" sz="12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</a:t>
            </a:r>
            <a:r>
              <a:rPr kumimoji="1" lang="en-US" altLang="ja-JP" sz="12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PDF</a:t>
            </a:r>
            <a:r>
              <a:rPr kumimoji="1" lang="ja-JP" altLang="en-US" sz="12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</a:t>
            </a:r>
            <a:r>
              <a:rPr kumimoji="1" lang="en-US" altLang="ja-JP" sz="12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MP4</a:t>
            </a:r>
            <a:endParaRPr kumimoji="1" lang="ja-JP" altLang="en-US" sz="1200">
              <a:solidFill>
                <a:srgbClr val="8794A8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71A90391-7CE2-F4EA-B529-0B1D3A4588EF}"/>
              </a:ext>
            </a:extLst>
          </p:cNvPr>
          <p:cNvSpPr/>
          <p:nvPr/>
        </p:nvSpPr>
        <p:spPr>
          <a:xfrm>
            <a:off x="812800" y="3759200"/>
            <a:ext cx="10566400" cy="762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E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5ED36F06-1FEE-56D7-1DA4-E564532B957C}"/>
              </a:ext>
            </a:extLst>
          </p:cNvPr>
          <p:cNvSpPr/>
          <p:nvPr/>
        </p:nvSpPr>
        <p:spPr>
          <a:xfrm>
            <a:off x="1066800" y="3962400"/>
            <a:ext cx="381000" cy="381000"/>
          </a:xfrm>
          <a:prstGeom prst="ellipse">
            <a:avLst/>
          </a:prstGeom>
          <a:solidFill>
            <a:srgbClr val="E3F4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B1C53C4-9CE0-DEB0-3F00-E9CEB4F7466B}"/>
              </a:ext>
            </a:extLst>
          </p:cNvPr>
          <p:cNvSpPr txBox="1"/>
          <p:nvPr/>
        </p:nvSpPr>
        <p:spPr>
          <a:xfrm>
            <a:off x="1066800" y="3962400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400" b="1">
                <a:solidFill>
                  <a:srgbClr val="0F8E9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1400" b="1">
              <a:solidFill>
                <a:srgbClr val="0F8E9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06B7514-56E5-B5A8-4C99-62A19006378E}"/>
              </a:ext>
            </a:extLst>
          </p:cNvPr>
          <p:cNvSpPr txBox="1"/>
          <p:nvPr/>
        </p:nvSpPr>
        <p:spPr>
          <a:xfrm>
            <a:off x="1625600" y="3911600"/>
            <a:ext cx="508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5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自動で表示に反映される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4242FCE-ECEC-E286-95D8-515C10FFA400}"/>
              </a:ext>
            </a:extLst>
          </p:cNvPr>
          <p:cNvSpPr txBox="1"/>
          <p:nvPr/>
        </p:nvSpPr>
        <p:spPr>
          <a:xfrm>
            <a:off x="1625600" y="4191000"/>
            <a:ext cx="9347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2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現在のスライドが終わったタイミングで切り替わります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F90D3470-8D41-D52C-4880-3FE419A4257C}"/>
              </a:ext>
            </a:extLst>
          </p:cNvPr>
          <p:cNvSpPr/>
          <p:nvPr/>
        </p:nvSpPr>
        <p:spPr>
          <a:xfrm>
            <a:off x="812800" y="4724400"/>
            <a:ext cx="10566400" cy="635000"/>
          </a:xfrm>
          <a:prstGeom prst="roundRect">
            <a:avLst>
              <a:gd name="adj" fmla="val 12000"/>
            </a:avLst>
          </a:prstGeom>
          <a:solidFill>
            <a:srgbClr val="FDF3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23033331-56ED-7F7E-6A68-51D761A627C5}"/>
              </a:ext>
            </a:extLst>
          </p:cNvPr>
          <p:cNvSpPr/>
          <p:nvPr/>
        </p:nvSpPr>
        <p:spPr>
          <a:xfrm>
            <a:off x="812800" y="4724400"/>
            <a:ext cx="50800" cy="635000"/>
          </a:xfrm>
          <a:prstGeom prst="rect">
            <a:avLst/>
          </a:prstGeom>
          <a:solidFill>
            <a:srgbClr val="B469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DB44D19-CEEE-6874-F330-CD084E3CD3AC}"/>
              </a:ext>
            </a:extLst>
          </p:cNvPr>
          <p:cNvSpPr txBox="1"/>
          <p:nvPr/>
        </p:nvSpPr>
        <p:spPr>
          <a:xfrm>
            <a:off x="1092200" y="4724400"/>
            <a:ext cx="564896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200" b="1">
                <a:solidFill>
                  <a:srgbClr val="B4690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注意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FEE96E4E-3564-5077-4CE9-DC9835D4A8BC}"/>
              </a:ext>
            </a:extLst>
          </p:cNvPr>
          <p:cNvSpPr txBox="1"/>
          <p:nvPr/>
        </p:nvSpPr>
        <p:spPr>
          <a:xfrm>
            <a:off x="1657096" y="4724400"/>
            <a:ext cx="9442704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サブフォルダの中のファイルは表示されません。必ずフォルダ直下に置いてください。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0A5CE9BB-C4E2-2E31-3A5C-ED7703AE3E73}"/>
              </a:ext>
            </a:extLst>
          </p:cNvPr>
          <p:cNvSpPr/>
          <p:nvPr/>
        </p:nvSpPr>
        <p:spPr>
          <a:xfrm>
            <a:off x="812800" y="5461000"/>
            <a:ext cx="10566400" cy="635000"/>
          </a:xfrm>
          <a:prstGeom prst="roundRect">
            <a:avLst>
              <a:gd name="adj" fmla="val 12000"/>
            </a:avLst>
          </a:prstGeom>
          <a:solidFill>
            <a:srgbClr val="E3F4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2A34C004-F47F-E657-050D-3CB8E8F0DE6C}"/>
              </a:ext>
            </a:extLst>
          </p:cNvPr>
          <p:cNvSpPr/>
          <p:nvPr/>
        </p:nvSpPr>
        <p:spPr>
          <a:xfrm>
            <a:off x="812800" y="5461000"/>
            <a:ext cx="50800" cy="635000"/>
          </a:xfrm>
          <a:prstGeom prst="rect">
            <a:avLst/>
          </a:prstGeom>
          <a:solidFill>
            <a:srgbClr val="0F8E9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5DDD0AE8-CA7D-FF3C-B57B-E70FFE73652F}"/>
              </a:ext>
            </a:extLst>
          </p:cNvPr>
          <p:cNvSpPr txBox="1"/>
          <p:nvPr/>
        </p:nvSpPr>
        <p:spPr>
          <a:xfrm>
            <a:off x="1092200" y="5461000"/>
            <a:ext cx="103124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200" b="1">
                <a:solidFill>
                  <a:srgbClr val="0F8E9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止めるとき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C96C4077-DE62-147A-ECA4-7D5B2987C033}"/>
              </a:ext>
            </a:extLst>
          </p:cNvPr>
          <p:cNvSpPr txBox="1"/>
          <p:nvPr/>
        </p:nvSpPr>
        <p:spPr>
          <a:xfrm>
            <a:off x="2123440" y="5461000"/>
            <a:ext cx="897636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監視フォルダから該当のファイルを削除するだけです。反映はやはり現在のスライドが終わったあとです。</a:t>
            </a:r>
          </a:p>
        </p:txBody>
      </p:sp>
    </p:spTree>
    <p:extLst>
      <p:ext uri="{BB962C8B-B14F-4D97-AF65-F5344CB8AC3E}">
        <p14:creationId xmlns:p14="http://schemas.microsoft.com/office/powerpoint/2010/main" val="3437908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1F0A44D-224D-1073-C71E-E004C933DB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192B1B9-D859-8DA5-EEE2-AAD3AF1F3570}"/>
              </a:ext>
            </a:extLst>
          </p:cNvPr>
          <p:cNvSpPr/>
          <p:nvPr/>
        </p:nvSpPr>
        <p:spPr>
          <a:xfrm>
            <a:off x="812800" y="584200"/>
            <a:ext cx="63500" cy="584200"/>
          </a:xfrm>
          <a:prstGeom prst="rect">
            <a:avLst/>
          </a:prstGeom>
          <a:solidFill>
            <a:srgbClr val="0F8E9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3116B94-637F-917D-DF9A-45AAE2947505}"/>
              </a:ext>
            </a:extLst>
          </p:cNvPr>
          <p:cNvSpPr txBox="1"/>
          <p:nvPr/>
        </p:nvSpPr>
        <p:spPr>
          <a:xfrm>
            <a:off x="1028700" y="5715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1050" b="1">
                <a:solidFill>
                  <a:srgbClr val="0F8E9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FOR CONTENT OWNER</a:t>
            </a:r>
            <a:endParaRPr kumimoji="1" lang="ja-JP" altLang="en-US" sz="1050" b="1">
              <a:solidFill>
                <a:srgbClr val="0F8E9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176E849-EC56-E6A0-43F6-B79F9B035AC9}"/>
              </a:ext>
            </a:extLst>
          </p:cNvPr>
          <p:cNvSpPr txBox="1"/>
          <p:nvPr/>
        </p:nvSpPr>
        <p:spPr>
          <a:xfrm>
            <a:off x="1028700" y="774700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27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使えるファイルの種類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B409D10-8BB9-59B5-B263-19A623E4B9A1}"/>
              </a:ext>
            </a:extLst>
          </p:cNvPr>
          <p:cNvSpPr/>
          <p:nvPr/>
        </p:nvSpPr>
        <p:spPr>
          <a:xfrm>
            <a:off x="812800" y="1498600"/>
            <a:ext cx="10566400" cy="12700"/>
          </a:xfrm>
          <a:prstGeom prst="rect">
            <a:avLst/>
          </a:prstGeom>
          <a:solidFill>
            <a:srgbClr val="DEE5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2F47EBC9-B2CF-2CF9-8DE5-C9672D52C3CB}"/>
              </a:ext>
            </a:extLst>
          </p:cNvPr>
          <p:cNvSpPr/>
          <p:nvPr/>
        </p:nvSpPr>
        <p:spPr>
          <a:xfrm>
            <a:off x="9857232" y="736600"/>
            <a:ext cx="1521968" cy="330200"/>
          </a:xfrm>
          <a:prstGeom prst="roundRect">
            <a:avLst>
              <a:gd name="adj" fmla="val 50000"/>
            </a:avLst>
          </a:prstGeom>
          <a:solidFill>
            <a:srgbClr val="0F8E9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315C7FE-6834-539B-F5DE-108E8B0A518C}"/>
              </a:ext>
            </a:extLst>
          </p:cNvPr>
          <p:cNvSpPr txBox="1"/>
          <p:nvPr/>
        </p:nvSpPr>
        <p:spPr>
          <a:xfrm>
            <a:off x="9857232" y="736600"/>
            <a:ext cx="1521968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ja-JP" altLang="en-US" sz="115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コンテンツ担当者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93F4578-B225-244A-71BB-7282C744BC4A}"/>
              </a:ext>
            </a:extLst>
          </p:cNvPr>
          <p:cNvSpPr txBox="1"/>
          <p:nvPr/>
        </p:nvSpPr>
        <p:spPr>
          <a:xfrm>
            <a:off x="812800" y="63754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簡易デジタルサイネージ ｜ 操作ガイド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C54177D-641C-6F9B-C5F5-272BA35CC3A5}"/>
              </a:ext>
            </a:extLst>
          </p:cNvPr>
          <p:cNvSpPr txBox="1"/>
          <p:nvPr/>
        </p:nvSpPr>
        <p:spPr>
          <a:xfrm>
            <a:off x="10109200" y="63754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kumimoji="1" lang="en-US" altLang="ja-JP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5</a:t>
            </a:r>
            <a:endParaRPr kumimoji="1" lang="ja-JP" altLang="en-US" sz="900">
              <a:solidFill>
                <a:srgbClr val="8794A8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635A91B-18B9-C7D9-3766-A771FECEC800}"/>
              </a:ext>
            </a:extLst>
          </p:cNvPr>
          <p:cNvSpPr txBox="1"/>
          <p:nvPr/>
        </p:nvSpPr>
        <p:spPr>
          <a:xfrm>
            <a:off x="812800" y="1905000"/>
            <a:ext cx="10566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次の </a:t>
            </a:r>
            <a:r>
              <a:rPr kumimoji="1" lang="en-US" altLang="ja-JP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 </a:t>
            </a:r>
            <a:r>
              <a:rPr kumimoji="1" lang="ja-JP" altLang="en-US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種類だけが表示対象です。それ以外の形式は無視されます。</a:t>
            </a:r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28FFF0AA-0750-6D45-7134-B5F67DC37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36927"/>
              </p:ext>
            </p:extLst>
          </p:nvPr>
        </p:nvGraphicFramePr>
        <p:xfrm>
          <a:off x="812800" y="2438400"/>
          <a:ext cx="10566400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958949489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4264630976"/>
                    </a:ext>
                  </a:extLst>
                </a:gridCol>
                <a:gridCol w="6248400">
                  <a:extLst>
                    <a:ext uri="{9D8B030D-6E8A-4147-A177-3AD203B41FA5}">
                      <a16:colId xmlns:a16="http://schemas.microsoft.com/office/drawing/2014/main" val="99933902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250" b="1">
                          <a:solidFill>
                            <a:srgbClr val="FFFFFF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種類</a:t>
                      </a:r>
                    </a:p>
                  </a:txBody>
                  <a:tcPr marL="152400" marR="152400" marT="63500" marB="63500" anchor="ctr">
                    <a:lnB w="19050">
                      <a:solidFill>
                        <a:srgbClr val="0F8E92"/>
                      </a:solidFill>
                    </a:lnB>
                    <a:solidFill>
                      <a:srgbClr val="0F8E9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250" b="1">
                          <a:solidFill>
                            <a:srgbClr val="FFFFFF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拡張子</a:t>
                      </a:r>
                    </a:p>
                  </a:txBody>
                  <a:tcPr marL="152400" marR="152400" marT="63500" marB="63500" anchor="ctr">
                    <a:lnB w="19050">
                      <a:solidFill>
                        <a:srgbClr val="0F8E92"/>
                      </a:solidFill>
                    </a:lnB>
                    <a:solidFill>
                      <a:srgbClr val="0F8E9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250" b="1">
                          <a:solidFill>
                            <a:srgbClr val="FFFFFF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表示のしかた</a:t>
                      </a:r>
                    </a:p>
                  </a:txBody>
                  <a:tcPr marL="152400" marR="152400" marT="63500" marB="63500" anchor="ctr">
                    <a:lnB w="19050">
                      <a:solidFill>
                        <a:srgbClr val="0F8E92"/>
                      </a:solidFill>
                    </a:lnB>
                    <a:solidFill>
                      <a:srgbClr val="0F8E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08087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250" b="1">
                          <a:solidFill>
                            <a:srgbClr val="1B2430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画像</a:t>
                      </a:r>
                    </a:p>
                  </a:txBody>
                  <a:tcPr marL="152400" marR="152400" marT="63500" marB="63500" anchor="ctr">
                    <a:lnT w="19050">
                      <a:solidFill>
                        <a:srgbClr val="0F8E92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en-US" altLang="ja-JP" sz="12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.jpg / .jpeg</a:t>
                      </a:r>
                      <a:endParaRPr kumimoji="1" lang="ja-JP" altLang="en-US" sz="1250" b="0">
                        <a:solidFill>
                          <a:srgbClr val="465263"/>
                        </a:solidFill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 marL="152400" marR="152400" marT="63500" marB="63500" anchor="ctr">
                    <a:lnT w="19050">
                      <a:solidFill>
                        <a:srgbClr val="0F8E92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en-US" altLang="ja-JP" sz="12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1 </a:t>
                      </a:r>
                      <a:r>
                        <a:rPr kumimoji="1" lang="ja-JP" altLang="en-US" sz="12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ファイル </a:t>
                      </a:r>
                      <a:r>
                        <a:rPr kumimoji="1" lang="en-US" altLang="ja-JP" sz="12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= 1 </a:t>
                      </a:r>
                      <a:r>
                        <a:rPr kumimoji="1" lang="ja-JP" altLang="en-US" sz="12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枚のスライド</a:t>
                      </a:r>
                    </a:p>
                  </a:txBody>
                  <a:tcPr marL="152400" marR="152400" marT="63500" marB="63500" anchor="ctr">
                    <a:lnT w="19050">
                      <a:solidFill>
                        <a:srgbClr val="0F8E92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5884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en-US" altLang="ja-JP" sz="1250" b="1">
                          <a:solidFill>
                            <a:srgbClr val="1B2430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PDF</a:t>
                      </a:r>
                      <a:endParaRPr kumimoji="1" lang="ja-JP" altLang="en-US" sz="1250" b="1">
                        <a:solidFill>
                          <a:srgbClr val="1B2430"/>
                        </a:solidFill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en-US" altLang="ja-JP" sz="12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.pdf</a:t>
                      </a:r>
                      <a:endParaRPr kumimoji="1" lang="ja-JP" altLang="en-US" sz="1250" b="0">
                        <a:solidFill>
                          <a:srgbClr val="465263"/>
                        </a:solidFill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en-US" altLang="ja-JP" sz="12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1 </a:t>
                      </a:r>
                      <a:r>
                        <a:rPr kumimoji="1" lang="ja-JP" altLang="en-US" sz="12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ページ </a:t>
                      </a:r>
                      <a:r>
                        <a:rPr kumimoji="1" lang="en-US" altLang="ja-JP" sz="12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= 1 </a:t>
                      </a:r>
                      <a:r>
                        <a:rPr kumimoji="1" lang="ja-JP" altLang="en-US" sz="12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枚のスライド（ページ順に表示）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5238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250" b="1">
                          <a:solidFill>
                            <a:srgbClr val="1B2430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動画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en-US" altLang="ja-JP" sz="12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.mp4</a:t>
                      </a:r>
                      <a:endParaRPr kumimoji="1" lang="ja-JP" altLang="en-US" sz="1250" b="0">
                        <a:solidFill>
                          <a:srgbClr val="465263"/>
                        </a:solidFill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2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最後まで再生してから次のスライドへ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679486"/>
                  </a:ext>
                </a:extLst>
              </a:tr>
            </a:tbl>
          </a:graphicData>
        </a:graphic>
      </p:graphicFrame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BD86D8DF-E8A0-494F-D6E5-2FDB42E90FB6}"/>
              </a:ext>
            </a:extLst>
          </p:cNvPr>
          <p:cNvSpPr/>
          <p:nvPr/>
        </p:nvSpPr>
        <p:spPr>
          <a:xfrm>
            <a:off x="812800" y="5207000"/>
            <a:ext cx="10566400" cy="660400"/>
          </a:xfrm>
          <a:prstGeom prst="roundRect">
            <a:avLst>
              <a:gd name="adj" fmla="val 12000"/>
            </a:avLst>
          </a:prstGeom>
          <a:solidFill>
            <a:srgbClr val="FDF3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761CEC3-7E0C-40C2-BF86-0E9D9F295345}"/>
              </a:ext>
            </a:extLst>
          </p:cNvPr>
          <p:cNvSpPr/>
          <p:nvPr/>
        </p:nvSpPr>
        <p:spPr>
          <a:xfrm>
            <a:off x="812800" y="5207000"/>
            <a:ext cx="50800" cy="660400"/>
          </a:xfrm>
          <a:prstGeom prst="rect">
            <a:avLst/>
          </a:prstGeom>
          <a:solidFill>
            <a:srgbClr val="B469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AA37AA1-990B-A035-BF5D-937B0A624BC5}"/>
              </a:ext>
            </a:extLst>
          </p:cNvPr>
          <p:cNvSpPr txBox="1"/>
          <p:nvPr/>
        </p:nvSpPr>
        <p:spPr>
          <a:xfrm>
            <a:off x="1092200" y="5207000"/>
            <a:ext cx="1186688" cy="66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200" b="1">
                <a:solidFill>
                  <a:srgbClr val="B4690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使えない形式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A418382-75A8-ABBF-F7E5-EBFD47A1CB0E}"/>
              </a:ext>
            </a:extLst>
          </p:cNvPr>
          <p:cNvSpPr txBox="1"/>
          <p:nvPr/>
        </p:nvSpPr>
        <p:spPr>
          <a:xfrm>
            <a:off x="2278888" y="5207000"/>
            <a:ext cx="8820912" cy="66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PNG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</a:t>
            </a: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GIF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</a:t>
            </a: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MOV 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などは表示できません。</a:t>
            </a: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JPEG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</a:t>
            </a: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PDF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</a:t>
            </a: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MP4 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に変換してから置いてください。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213041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F18A7A1-726D-DD9E-20F8-9E2705C394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620DBE9-DCCF-3C4D-2E2A-0FF733A289D1}"/>
              </a:ext>
            </a:extLst>
          </p:cNvPr>
          <p:cNvSpPr/>
          <p:nvPr/>
        </p:nvSpPr>
        <p:spPr>
          <a:xfrm>
            <a:off x="812800" y="584200"/>
            <a:ext cx="63500" cy="584200"/>
          </a:xfrm>
          <a:prstGeom prst="rect">
            <a:avLst/>
          </a:prstGeom>
          <a:solidFill>
            <a:srgbClr val="0F8E9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5017D1B-6FE4-B538-2FF0-C24106A222EB}"/>
              </a:ext>
            </a:extLst>
          </p:cNvPr>
          <p:cNvSpPr txBox="1"/>
          <p:nvPr/>
        </p:nvSpPr>
        <p:spPr>
          <a:xfrm>
            <a:off x="1028700" y="5715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1050" b="1">
                <a:solidFill>
                  <a:srgbClr val="0F8E9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FOR CONTENT OWNER</a:t>
            </a:r>
            <a:endParaRPr kumimoji="1" lang="ja-JP" altLang="en-US" sz="1050" b="1">
              <a:solidFill>
                <a:srgbClr val="0F8E9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C791446-741A-A5EF-4359-FB4383A87A29}"/>
              </a:ext>
            </a:extLst>
          </p:cNvPr>
          <p:cNvSpPr txBox="1"/>
          <p:nvPr/>
        </p:nvSpPr>
        <p:spPr>
          <a:xfrm>
            <a:off x="1028700" y="774700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27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表示順はファイル名の昇順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B185826-A766-495E-AF7A-47FA18549333}"/>
              </a:ext>
            </a:extLst>
          </p:cNvPr>
          <p:cNvSpPr/>
          <p:nvPr/>
        </p:nvSpPr>
        <p:spPr>
          <a:xfrm>
            <a:off x="812800" y="1498600"/>
            <a:ext cx="10566400" cy="12700"/>
          </a:xfrm>
          <a:prstGeom prst="rect">
            <a:avLst/>
          </a:prstGeom>
          <a:solidFill>
            <a:srgbClr val="DEE5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352670FB-9030-62E3-CC93-C1D16A5939FC}"/>
              </a:ext>
            </a:extLst>
          </p:cNvPr>
          <p:cNvSpPr/>
          <p:nvPr/>
        </p:nvSpPr>
        <p:spPr>
          <a:xfrm>
            <a:off x="9857232" y="736600"/>
            <a:ext cx="1521968" cy="330200"/>
          </a:xfrm>
          <a:prstGeom prst="roundRect">
            <a:avLst>
              <a:gd name="adj" fmla="val 50000"/>
            </a:avLst>
          </a:prstGeom>
          <a:solidFill>
            <a:srgbClr val="0F8E9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FC933C1-35E6-224F-8AEA-D8BCA1C1C26D}"/>
              </a:ext>
            </a:extLst>
          </p:cNvPr>
          <p:cNvSpPr txBox="1"/>
          <p:nvPr/>
        </p:nvSpPr>
        <p:spPr>
          <a:xfrm>
            <a:off x="9857232" y="736600"/>
            <a:ext cx="1521968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ja-JP" altLang="en-US" sz="115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コンテンツ担当者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8CA4BDF-F1D1-D1D7-81E1-E872B6351D7B}"/>
              </a:ext>
            </a:extLst>
          </p:cNvPr>
          <p:cNvSpPr txBox="1"/>
          <p:nvPr/>
        </p:nvSpPr>
        <p:spPr>
          <a:xfrm>
            <a:off x="812800" y="63754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簡易デジタルサイネージ ｜ 操作ガイド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AC4B401-DE27-55B2-66FD-C975B305C54D}"/>
              </a:ext>
            </a:extLst>
          </p:cNvPr>
          <p:cNvSpPr txBox="1"/>
          <p:nvPr/>
        </p:nvSpPr>
        <p:spPr>
          <a:xfrm>
            <a:off x="10109200" y="63754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kumimoji="1" lang="en-US" altLang="ja-JP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6</a:t>
            </a:r>
            <a:endParaRPr kumimoji="1" lang="ja-JP" altLang="en-US" sz="900">
              <a:solidFill>
                <a:srgbClr val="8794A8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8A52EBE-5475-2BC9-45BE-4378CB37E359}"/>
              </a:ext>
            </a:extLst>
          </p:cNvPr>
          <p:cNvSpPr txBox="1"/>
          <p:nvPr/>
        </p:nvSpPr>
        <p:spPr>
          <a:xfrm>
            <a:off x="812800" y="1905000"/>
            <a:ext cx="10566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ファイル名の昇順で表示します。数字の部分は数値として比べるので、</a:t>
            </a:r>
            <a:r>
              <a:rPr kumimoji="1" lang="en-US" altLang="ja-JP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001 → 002 → 010 </a:t>
            </a:r>
            <a:r>
              <a:rPr kumimoji="1" lang="ja-JP" altLang="en-US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の順になります。</a:t>
            </a:r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994A62CB-B7E2-E64E-7940-F02FDF0587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171700"/>
              </p:ext>
            </p:extLst>
          </p:nvPr>
        </p:nvGraphicFramePr>
        <p:xfrm>
          <a:off x="812800" y="2438400"/>
          <a:ext cx="10566400" cy="1930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61000">
                  <a:extLst>
                    <a:ext uri="{9D8B030D-6E8A-4147-A177-3AD203B41FA5}">
                      <a16:colId xmlns:a16="http://schemas.microsoft.com/office/drawing/2014/main" val="563979788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119495903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250" b="1">
                          <a:solidFill>
                            <a:srgbClr val="FFFFFF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ファイル名の例</a:t>
                      </a:r>
                    </a:p>
                  </a:txBody>
                  <a:tcPr marL="152400" marR="152400" marT="63500" marB="63500" anchor="ctr">
                    <a:lnB w="19050">
                      <a:solidFill>
                        <a:srgbClr val="0F8E92"/>
                      </a:solidFill>
                    </a:lnB>
                    <a:solidFill>
                      <a:srgbClr val="0F8E9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250" b="1">
                          <a:solidFill>
                            <a:srgbClr val="FFFFFF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実際の表示順</a:t>
                      </a:r>
                    </a:p>
                  </a:txBody>
                  <a:tcPr marL="152400" marR="152400" marT="63500" marB="63500" anchor="ctr">
                    <a:lnB w="19050">
                      <a:solidFill>
                        <a:srgbClr val="0F8E92"/>
                      </a:solidFill>
                    </a:lnB>
                    <a:solidFill>
                      <a:srgbClr val="0F8E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051215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en-US" altLang="ja-JP" sz="12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001.jpg → 002.jpg → 010.jpg</a:t>
                      </a:r>
                      <a:endParaRPr kumimoji="1" lang="ja-JP" altLang="en-US" sz="1250" b="0">
                        <a:solidFill>
                          <a:srgbClr val="465263"/>
                        </a:solidFill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 marL="152400" marR="152400" marT="63500" marB="63500" anchor="ctr">
                    <a:lnT w="19050">
                      <a:solidFill>
                        <a:srgbClr val="0F8E92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en-US" altLang="ja-JP" sz="12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001 → 002 → 010</a:t>
                      </a:r>
                      <a:r>
                        <a:rPr kumimoji="1" lang="ja-JP" altLang="en-US" sz="12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（昇順）</a:t>
                      </a:r>
                    </a:p>
                  </a:txBody>
                  <a:tcPr marL="152400" marR="152400" marT="63500" marB="63500" anchor="ctr">
                    <a:lnT w="19050">
                      <a:solidFill>
                        <a:srgbClr val="0F8E92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910227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en-US" altLang="ja-JP" sz="12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1.jpg → 2.jpg → 10.jpg</a:t>
                      </a:r>
                      <a:endParaRPr kumimoji="1" lang="ja-JP" altLang="en-US" sz="1250" b="0">
                        <a:solidFill>
                          <a:srgbClr val="465263"/>
                        </a:solidFill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en-US" altLang="ja-JP" sz="12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1 → 2 → 10</a:t>
                      </a:r>
                      <a:r>
                        <a:rPr kumimoji="1" lang="ja-JP" altLang="en-US" sz="12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（数値の昇順）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851993"/>
                  </a:ext>
                </a:extLst>
              </a:tr>
            </a:tbl>
          </a:graphicData>
        </a:graphic>
      </p:graphicFrame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B4EE951B-E8BA-84C8-F239-5A5E38E89249}"/>
              </a:ext>
            </a:extLst>
          </p:cNvPr>
          <p:cNvSpPr/>
          <p:nvPr/>
        </p:nvSpPr>
        <p:spPr>
          <a:xfrm>
            <a:off x="812800" y="4775200"/>
            <a:ext cx="10566400" cy="762000"/>
          </a:xfrm>
          <a:prstGeom prst="roundRect">
            <a:avLst>
              <a:gd name="adj" fmla="val 12000"/>
            </a:avLst>
          </a:prstGeom>
          <a:solidFill>
            <a:srgbClr val="E3F4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A20B696-2243-A12B-5BBC-00FD80ECFD92}"/>
              </a:ext>
            </a:extLst>
          </p:cNvPr>
          <p:cNvSpPr/>
          <p:nvPr/>
        </p:nvSpPr>
        <p:spPr>
          <a:xfrm>
            <a:off x="812800" y="4775200"/>
            <a:ext cx="50800" cy="762000"/>
          </a:xfrm>
          <a:prstGeom prst="rect">
            <a:avLst/>
          </a:prstGeom>
          <a:solidFill>
            <a:srgbClr val="0F8E9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BE78D0C-F463-DB68-F1A1-D29AC5F3399E}"/>
              </a:ext>
            </a:extLst>
          </p:cNvPr>
          <p:cNvSpPr txBox="1"/>
          <p:nvPr/>
        </p:nvSpPr>
        <p:spPr>
          <a:xfrm>
            <a:off x="1092200" y="4775200"/>
            <a:ext cx="875792" cy="762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200" b="1">
                <a:solidFill>
                  <a:srgbClr val="0F8E9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おすすめ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B45237D-2793-9916-996A-24DB73C92FFD}"/>
              </a:ext>
            </a:extLst>
          </p:cNvPr>
          <p:cNvSpPr txBox="1"/>
          <p:nvPr/>
        </p:nvSpPr>
        <p:spPr>
          <a:xfrm>
            <a:off x="1967992" y="4775200"/>
            <a:ext cx="9131808" cy="762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先頭を </a:t>
            </a: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001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</a:t>
            </a: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002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</a:t>
            </a: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003 … 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のように桁を揃えておくと、意図どおりの昇順になり、並び替えも差し替えも管理しやすくなります。</a:t>
            </a:r>
          </a:p>
        </p:txBody>
      </p:sp>
    </p:spTree>
    <p:extLst>
      <p:ext uri="{BB962C8B-B14F-4D97-AF65-F5344CB8AC3E}">
        <p14:creationId xmlns:p14="http://schemas.microsoft.com/office/powerpoint/2010/main" val="779935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E31CA13-1CC1-EF11-E309-B8B2887A7C2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C6029AF-39AD-4C72-97DC-830F52E580F4}"/>
              </a:ext>
            </a:extLst>
          </p:cNvPr>
          <p:cNvSpPr/>
          <p:nvPr/>
        </p:nvSpPr>
        <p:spPr>
          <a:xfrm>
            <a:off x="812800" y="584200"/>
            <a:ext cx="63500" cy="584200"/>
          </a:xfrm>
          <a:prstGeom prst="rect">
            <a:avLst/>
          </a:prstGeom>
          <a:solidFill>
            <a:srgbClr val="0F8E9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5CBBF05-7FE0-0133-0D0B-9A751485CB16}"/>
              </a:ext>
            </a:extLst>
          </p:cNvPr>
          <p:cNvSpPr txBox="1"/>
          <p:nvPr/>
        </p:nvSpPr>
        <p:spPr>
          <a:xfrm>
            <a:off x="1028700" y="5715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1050" b="1">
                <a:solidFill>
                  <a:srgbClr val="0F8E9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FOR CONTENT OWNER</a:t>
            </a:r>
            <a:endParaRPr kumimoji="1" lang="ja-JP" altLang="en-US" sz="1050" b="1">
              <a:solidFill>
                <a:srgbClr val="0F8E9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D1D73BD-E8C6-B345-64C6-4F83A11A64B6}"/>
              </a:ext>
            </a:extLst>
          </p:cNvPr>
          <p:cNvSpPr txBox="1"/>
          <p:nvPr/>
        </p:nvSpPr>
        <p:spPr>
          <a:xfrm>
            <a:off x="1028700" y="774700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27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表示時間はファイル名で変えられる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8BC8B53-9438-003D-707D-9F5C7AD76951}"/>
              </a:ext>
            </a:extLst>
          </p:cNvPr>
          <p:cNvSpPr/>
          <p:nvPr/>
        </p:nvSpPr>
        <p:spPr>
          <a:xfrm>
            <a:off x="812800" y="1498600"/>
            <a:ext cx="10566400" cy="12700"/>
          </a:xfrm>
          <a:prstGeom prst="rect">
            <a:avLst/>
          </a:prstGeom>
          <a:solidFill>
            <a:srgbClr val="DEE5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D885CF98-A74E-1877-B1C0-2DB34A677E09}"/>
              </a:ext>
            </a:extLst>
          </p:cNvPr>
          <p:cNvSpPr/>
          <p:nvPr/>
        </p:nvSpPr>
        <p:spPr>
          <a:xfrm>
            <a:off x="9857232" y="736600"/>
            <a:ext cx="1521968" cy="330200"/>
          </a:xfrm>
          <a:prstGeom prst="roundRect">
            <a:avLst>
              <a:gd name="adj" fmla="val 50000"/>
            </a:avLst>
          </a:prstGeom>
          <a:solidFill>
            <a:srgbClr val="0F8E9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7191735-48BD-8238-63D9-BDE3F7B5768E}"/>
              </a:ext>
            </a:extLst>
          </p:cNvPr>
          <p:cNvSpPr txBox="1"/>
          <p:nvPr/>
        </p:nvSpPr>
        <p:spPr>
          <a:xfrm>
            <a:off x="9857232" y="736600"/>
            <a:ext cx="1521968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ja-JP" altLang="en-US" sz="115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コンテンツ担当者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00F44DC-AE45-295B-F6BA-5BCD77F6DAD9}"/>
              </a:ext>
            </a:extLst>
          </p:cNvPr>
          <p:cNvSpPr txBox="1"/>
          <p:nvPr/>
        </p:nvSpPr>
        <p:spPr>
          <a:xfrm>
            <a:off x="812800" y="63754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簡易デジタルサイネージ ｜ 操作ガイド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04D5A21-EF0A-EC82-72CB-BF49AB7AD40C}"/>
              </a:ext>
            </a:extLst>
          </p:cNvPr>
          <p:cNvSpPr txBox="1"/>
          <p:nvPr/>
        </p:nvSpPr>
        <p:spPr>
          <a:xfrm>
            <a:off x="10109200" y="63754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kumimoji="1" lang="en-US" altLang="ja-JP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7</a:t>
            </a:r>
            <a:endParaRPr kumimoji="1" lang="ja-JP" altLang="en-US" sz="900">
              <a:solidFill>
                <a:srgbClr val="8794A8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B77C86F-E0D9-4498-6C27-E7A72148CA12}"/>
              </a:ext>
            </a:extLst>
          </p:cNvPr>
          <p:cNvSpPr txBox="1"/>
          <p:nvPr/>
        </p:nvSpPr>
        <p:spPr>
          <a:xfrm>
            <a:off x="812800" y="1905000"/>
            <a:ext cx="10566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画像と </a:t>
            </a:r>
            <a:r>
              <a:rPr kumimoji="1" lang="en-US" altLang="ja-JP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PDF </a:t>
            </a:r>
            <a:r>
              <a:rPr kumimoji="1" lang="ja-JP" altLang="en-US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は、ファイル名の末尾（拡張子の直前）に「</a:t>
            </a:r>
            <a:r>
              <a:rPr kumimoji="1" lang="en-US" altLang="ja-JP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_</a:t>
            </a:r>
            <a:r>
              <a:rPr kumimoji="1" lang="ja-JP" altLang="en-US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秒数」を付けると、そのファイルだけ表示時間を変えられます（</a:t>
            </a:r>
            <a:r>
              <a:rPr kumimoji="1" lang="en-US" altLang="ja-JP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5〜300 </a:t>
            </a:r>
            <a:r>
              <a:rPr kumimoji="1" lang="ja-JP" altLang="en-US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秒）。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0ABABB49-94F9-B03B-B605-2BC46029F63F}"/>
              </a:ext>
            </a:extLst>
          </p:cNvPr>
          <p:cNvSpPr/>
          <p:nvPr/>
        </p:nvSpPr>
        <p:spPr>
          <a:xfrm>
            <a:off x="812800" y="2362200"/>
            <a:ext cx="10566400" cy="1066800"/>
          </a:xfrm>
          <a:prstGeom prst="roundRect">
            <a:avLst>
              <a:gd name="adj" fmla="val 12000"/>
            </a:avLst>
          </a:prstGeom>
          <a:solidFill>
            <a:srgbClr val="102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0A3E591-75A2-EA43-788B-5C0BEDEF4CA8}"/>
              </a:ext>
            </a:extLst>
          </p:cNvPr>
          <p:cNvSpPr txBox="1"/>
          <p:nvPr/>
        </p:nvSpPr>
        <p:spPr>
          <a:xfrm>
            <a:off x="1244600" y="2540000"/>
            <a:ext cx="508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2600" b="1">
                <a:solidFill>
                  <a:srgbClr val="FFFFFF"/>
                </a:solidFill>
                <a:latin typeface="Consolas" panose="020B0609020204030204" pitchFamily="49" charset="0"/>
              </a:rPr>
              <a:t>案内</a:t>
            </a:r>
            <a:r>
              <a:rPr kumimoji="1" lang="en-US" altLang="ja-JP" sz="2600" b="1">
                <a:solidFill>
                  <a:srgbClr val="FFFFFF"/>
                </a:solidFill>
                <a:latin typeface="Consolas" panose="020B0609020204030204" pitchFamily="49" charset="0"/>
              </a:rPr>
              <a:t>_120.pdf</a:t>
            </a:r>
            <a:endParaRPr kumimoji="1" lang="ja-JP" altLang="en-US" sz="26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CA8CD79-0947-6F0F-B3EE-0D758E1DB29B}"/>
              </a:ext>
            </a:extLst>
          </p:cNvPr>
          <p:cNvSpPr txBox="1"/>
          <p:nvPr/>
        </p:nvSpPr>
        <p:spPr>
          <a:xfrm>
            <a:off x="1244600" y="2997200"/>
            <a:ext cx="9702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250">
                <a:solidFill>
                  <a:srgbClr val="9FB4D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「</a:t>
            </a:r>
            <a:r>
              <a:rPr kumimoji="1" lang="en-US" altLang="ja-JP" sz="1250">
                <a:solidFill>
                  <a:srgbClr val="9FB4D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_120</a:t>
            </a:r>
            <a:r>
              <a:rPr kumimoji="1" lang="ja-JP" altLang="en-US" sz="1250">
                <a:solidFill>
                  <a:srgbClr val="9FB4D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」の部分が表示秒数。付けなければ管理者が決めた標準の秒数になります。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535173AF-6330-9B98-A1A5-77A6F3E61011}"/>
              </a:ext>
            </a:extLst>
          </p:cNvPr>
          <p:cNvSpPr/>
          <p:nvPr/>
        </p:nvSpPr>
        <p:spPr>
          <a:xfrm>
            <a:off x="812800" y="3708400"/>
            <a:ext cx="3352800" cy="1397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E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2EC651A-A7D4-14EB-ED94-14EBCF538041}"/>
              </a:ext>
            </a:extLst>
          </p:cNvPr>
          <p:cNvSpPr txBox="1"/>
          <p:nvPr/>
        </p:nvSpPr>
        <p:spPr>
          <a:xfrm>
            <a:off x="1066800" y="3937000"/>
            <a:ext cx="2844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400" b="1">
                <a:solidFill>
                  <a:srgbClr val="1B2430"/>
                </a:solidFill>
                <a:latin typeface="Consolas" panose="020B0609020204030204" pitchFamily="49" charset="0"/>
              </a:rPr>
              <a:t>案内</a:t>
            </a:r>
            <a:r>
              <a:rPr kumimoji="1" lang="en-US" altLang="ja-JP" sz="1400" b="1">
                <a:solidFill>
                  <a:srgbClr val="1B2430"/>
                </a:solidFill>
                <a:latin typeface="Consolas" panose="020B0609020204030204" pitchFamily="49" charset="0"/>
              </a:rPr>
              <a:t>.pdf</a:t>
            </a:r>
            <a:endParaRPr kumimoji="1" lang="ja-JP" altLang="en-US" sz="1400" b="1">
              <a:solidFill>
                <a:srgbClr val="1B2430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66BC86F-BE5E-F2B7-311E-228559A117FC}"/>
              </a:ext>
            </a:extLst>
          </p:cNvPr>
          <p:cNvSpPr txBox="1"/>
          <p:nvPr/>
        </p:nvSpPr>
        <p:spPr>
          <a:xfrm>
            <a:off x="1066800" y="4267200"/>
            <a:ext cx="28448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900" b="1">
                <a:solidFill>
                  <a:srgbClr val="0F8E9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標準の秒数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56E1736-550E-FF02-32F3-E0E06A27B36A}"/>
              </a:ext>
            </a:extLst>
          </p:cNvPr>
          <p:cNvSpPr txBox="1"/>
          <p:nvPr/>
        </p:nvSpPr>
        <p:spPr>
          <a:xfrm>
            <a:off x="1066800" y="4648200"/>
            <a:ext cx="2844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kumimoji="1" lang="ja-JP" altLang="en-US" sz="115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管理画面の設定値（初期値 </a:t>
            </a:r>
            <a:r>
              <a:rPr kumimoji="1" lang="en-US" altLang="ja-JP" sz="115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15 </a:t>
            </a:r>
            <a:r>
              <a:rPr kumimoji="1" lang="ja-JP" altLang="en-US" sz="115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秒）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E9FF0453-AA2A-11FB-B06B-566605E489FB}"/>
              </a:ext>
            </a:extLst>
          </p:cNvPr>
          <p:cNvSpPr/>
          <p:nvPr/>
        </p:nvSpPr>
        <p:spPr>
          <a:xfrm>
            <a:off x="4419600" y="3708400"/>
            <a:ext cx="3352800" cy="1397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E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9C9B780-66B2-E073-4437-C691F18E0E1B}"/>
              </a:ext>
            </a:extLst>
          </p:cNvPr>
          <p:cNvSpPr txBox="1"/>
          <p:nvPr/>
        </p:nvSpPr>
        <p:spPr>
          <a:xfrm>
            <a:off x="4673600" y="3937000"/>
            <a:ext cx="2844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400" b="1">
                <a:solidFill>
                  <a:srgbClr val="1B2430"/>
                </a:solidFill>
                <a:latin typeface="Consolas" panose="020B0609020204030204" pitchFamily="49" charset="0"/>
              </a:rPr>
              <a:t>案内</a:t>
            </a:r>
            <a:r>
              <a:rPr kumimoji="1" lang="en-US" altLang="ja-JP" sz="1400" b="1">
                <a:solidFill>
                  <a:srgbClr val="1B2430"/>
                </a:solidFill>
                <a:latin typeface="Consolas" panose="020B0609020204030204" pitchFamily="49" charset="0"/>
              </a:rPr>
              <a:t>_120.pdf</a:t>
            </a:r>
            <a:endParaRPr kumimoji="1" lang="ja-JP" altLang="en-US" sz="1400" b="1">
              <a:solidFill>
                <a:srgbClr val="1B2430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653BB55-1412-FFFB-1836-ABA2389664F7}"/>
              </a:ext>
            </a:extLst>
          </p:cNvPr>
          <p:cNvSpPr txBox="1"/>
          <p:nvPr/>
        </p:nvSpPr>
        <p:spPr>
          <a:xfrm>
            <a:off x="4673600" y="4267200"/>
            <a:ext cx="28448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1900" b="1">
                <a:solidFill>
                  <a:srgbClr val="0F8E9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120 </a:t>
            </a:r>
            <a:r>
              <a:rPr kumimoji="1" lang="ja-JP" altLang="en-US" sz="1900" b="1">
                <a:solidFill>
                  <a:srgbClr val="0F8E9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秒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33EC652-E4DD-84C4-B67B-E2C06826D65A}"/>
              </a:ext>
            </a:extLst>
          </p:cNvPr>
          <p:cNvSpPr txBox="1"/>
          <p:nvPr/>
        </p:nvSpPr>
        <p:spPr>
          <a:xfrm>
            <a:off x="4673600" y="4648200"/>
            <a:ext cx="2844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kumimoji="1" lang="en-US" altLang="ja-JP" sz="115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 </a:t>
            </a:r>
            <a:r>
              <a:rPr kumimoji="1" lang="ja-JP" altLang="en-US" sz="115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分間しっかり読ませたい掲示に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06E6B81C-2BDF-BB5A-949D-4B2374F54431}"/>
              </a:ext>
            </a:extLst>
          </p:cNvPr>
          <p:cNvSpPr/>
          <p:nvPr/>
        </p:nvSpPr>
        <p:spPr>
          <a:xfrm>
            <a:off x="8026400" y="3708400"/>
            <a:ext cx="3352800" cy="1397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E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346DC9B-8BC6-F894-D7F1-46CD8E99FBA9}"/>
              </a:ext>
            </a:extLst>
          </p:cNvPr>
          <p:cNvSpPr txBox="1"/>
          <p:nvPr/>
        </p:nvSpPr>
        <p:spPr>
          <a:xfrm>
            <a:off x="8280400" y="3937000"/>
            <a:ext cx="2844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400" b="1">
                <a:solidFill>
                  <a:srgbClr val="1B2430"/>
                </a:solidFill>
                <a:latin typeface="Consolas" panose="020B0609020204030204" pitchFamily="49" charset="0"/>
              </a:rPr>
              <a:t>写真</a:t>
            </a:r>
            <a:r>
              <a:rPr kumimoji="1" lang="en-US" altLang="ja-JP" sz="1400" b="1">
                <a:solidFill>
                  <a:srgbClr val="1B2430"/>
                </a:solidFill>
                <a:latin typeface="Consolas" panose="020B0609020204030204" pitchFamily="49" charset="0"/>
              </a:rPr>
              <a:t>_30.jpg</a:t>
            </a:r>
            <a:endParaRPr kumimoji="1" lang="ja-JP" altLang="en-US" sz="1400" b="1">
              <a:solidFill>
                <a:srgbClr val="1B2430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305E9CE-CC0D-A6B5-31C6-62DBCEA9F338}"/>
              </a:ext>
            </a:extLst>
          </p:cNvPr>
          <p:cNvSpPr txBox="1"/>
          <p:nvPr/>
        </p:nvSpPr>
        <p:spPr>
          <a:xfrm>
            <a:off x="8280400" y="4267200"/>
            <a:ext cx="28448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1900" b="1">
                <a:solidFill>
                  <a:srgbClr val="0F8E9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30 </a:t>
            </a:r>
            <a:r>
              <a:rPr kumimoji="1" lang="ja-JP" altLang="en-US" sz="1900" b="1">
                <a:solidFill>
                  <a:srgbClr val="0F8E9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秒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E73E1B2-8ADA-FB18-3316-A49469DFD23B}"/>
              </a:ext>
            </a:extLst>
          </p:cNvPr>
          <p:cNvSpPr txBox="1"/>
          <p:nvPr/>
        </p:nvSpPr>
        <p:spPr>
          <a:xfrm>
            <a:off x="8280400" y="4648200"/>
            <a:ext cx="2844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kumimoji="1" lang="ja-JP" altLang="en-US" sz="115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短めに流したい写真に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3112A2A5-9A25-8239-4F06-96EDCDDFD5BF}"/>
              </a:ext>
            </a:extLst>
          </p:cNvPr>
          <p:cNvSpPr/>
          <p:nvPr/>
        </p:nvSpPr>
        <p:spPr>
          <a:xfrm>
            <a:off x="812800" y="5334000"/>
            <a:ext cx="10566400" cy="609600"/>
          </a:xfrm>
          <a:prstGeom prst="roundRect">
            <a:avLst>
              <a:gd name="adj" fmla="val 12000"/>
            </a:avLst>
          </a:prstGeom>
          <a:solidFill>
            <a:srgbClr val="FDF3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EB3854C5-5874-FCD5-6ED2-84A5315C234B}"/>
              </a:ext>
            </a:extLst>
          </p:cNvPr>
          <p:cNvSpPr/>
          <p:nvPr/>
        </p:nvSpPr>
        <p:spPr>
          <a:xfrm>
            <a:off x="812800" y="5334000"/>
            <a:ext cx="50800" cy="609600"/>
          </a:xfrm>
          <a:prstGeom prst="rect">
            <a:avLst/>
          </a:prstGeom>
          <a:solidFill>
            <a:srgbClr val="B469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AED9439-8E2E-7FA0-EDEC-51492ECF12DD}"/>
              </a:ext>
            </a:extLst>
          </p:cNvPr>
          <p:cNvSpPr txBox="1"/>
          <p:nvPr/>
        </p:nvSpPr>
        <p:spPr>
          <a:xfrm>
            <a:off x="1092200" y="5334000"/>
            <a:ext cx="103124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200" b="1">
                <a:solidFill>
                  <a:srgbClr val="B4690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動画は例外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0B70E82-5E04-21EA-6915-8C9979D875F8}"/>
              </a:ext>
            </a:extLst>
          </p:cNvPr>
          <p:cNvSpPr txBox="1"/>
          <p:nvPr/>
        </p:nvSpPr>
        <p:spPr>
          <a:xfrm>
            <a:off x="2123440" y="5334000"/>
            <a:ext cx="897636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.mp4 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は再生が終わるまで表示します。秒数指定は効きません。</a:t>
            </a:r>
          </a:p>
        </p:txBody>
      </p:sp>
    </p:spTree>
    <p:extLst>
      <p:ext uri="{BB962C8B-B14F-4D97-AF65-F5344CB8AC3E}">
        <p14:creationId xmlns:p14="http://schemas.microsoft.com/office/powerpoint/2010/main" val="1339934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EB3A776-07A3-8DDB-E498-03560AE7A8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171768D-78D9-979D-720C-D6EB8F9C6E64}"/>
              </a:ext>
            </a:extLst>
          </p:cNvPr>
          <p:cNvSpPr/>
          <p:nvPr/>
        </p:nvSpPr>
        <p:spPr>
          <a:xfrm>
            <a:off x="812800" y="584200"/>
            <a:ext cx="63500" cy="584200"/>
          </a:xfrm>
          <a:prstGeom prst="rect">
            <a:avLst/>
          </a:prstGeom>
          <a:solidFill>
            <a:srgbClr val="0F8E9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55FA9BD-4906-E073-0D2E-09A0A5EBE0E4}"/>
              </a:ext>
            </a:extLst>
          </p:cNvPr>
          <p:cNvSpPr txBox="1"/>
          <p:nvPr/>
        </p:nvSpPr>
        <p:spPr>
          <a:xfrm>
            <a:off x="1028700" y="5715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1050" b="1">
                <a:solidFill>
                  <a:srgbClr val="0F8E9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FOR CONTENT OWNER</a:t>
            </a:r>
            <a:endParaRPr kumimoji="1" lang="ja-JP" altLang="en-US" sz="1050" b="1">
              <a:solidFill>
                <a:srgbClr val="0F8E9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EE99447-C514-0B94-D68B-CEC2C912F4CC}"/>
              </a:ext>
            </a:extLst>
          </p:cNvPr>
          <p:cNvSpPr txBox="1"/>
          <p:nvPr/>
        </p:nvSpPr>
        <p:spPr>
          <a:xfrm>
            <a:off x="1028700" y="774700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27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再生期限もファイル名で付けられる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5F35C0C-EF54-C3AE-91D0-8EBA5237C9C5}"/>
              </a:ext>
            </a:extLst>
          </p:cNvPr>
          <p:cNvSpPr/>
          <p:nvPr/>
        </p:nvSpPr>
        <p:spPr>
          <a:xfrm>
            <a:off x="812800" y="1498600"/>
            <a:ext cx="10566400" cy="12700"/>
          </a:xfrm>
          <a:prstGeom prst="rect">
            <a:avLst/>
          </a:prstGeom>
          <a:solidFill>
            <a:srgbClr val="DEE5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4564F40C-632E-1C91-3714-01546DD38A1B}"/>
              </a:ext>
            </a:extLst>
          </p:cNvPr>
          <p:cNvSpPr/>
          <p:nvPr/>
        </p:nvSpPr>
        <p:spPr>
          <a:xfrm>
            <a:off x="9857232" y="736600"/>
            <a:ext cx="1521968" cy="330200"/>
          </a:xfrm>
          <a:prstGeom prst="roundRect">
            <a:avLst>
              <a:gd name="adj" fmla="val 50000"/>
            </a:avLst>
          </a:prstGeom>
          <a:solidFill>
            <a:srgbClr val="0F8E9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2FC7C7E-24B1-F71C-5CA3-625E58E110A7}"/>
              </a:ext>
            </a:extLst>
          </p:cNvPr>
          <p:cNvSpPr txBox="1"/>
          <p:nvPr/>
        </p:nvSpPr>
        <p:spPr>
          <a:xfrm>
            <a:off x="9857232" y="736600"/>
            <a:ext cx="1521968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ja-JP" altLang="en-US" sz="115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コンテンツ担当者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255173C-98AD-385A-493E-FA0FAFBA7579}"/>
              </a:ext>
            </a:extLst>
          </p:cNvPr>
          <p:cNvSpPr txBox="1"/>
          <p:nvPr/>
        </p:nvSpPr>
        <p:spPr>
          <a:xfrm>
            <a:off x="812800" y="63754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簡易デジタルサイネージ ｜ 操作ガイド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022833D-A335-7587-9790-06E0F6EA4A0D}"/>
              </a:ext>
            </a:extLst>
          </p:cNvPr>
          <p:cNvSpPr txBox="1"/>
          <p:nvPr/>
        </p:nvSpPr>
        <p:spPr>
          <a:xfrm>
            <a:off x="10109200" y="63754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kumimoji="1" lang="en-US" altLang="ja-JP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8</a:t>
            </a:r>
            <a:endParaRPr kumimoji="1" lang="ja-JP" altLang="en-US" sz="900">
              <a:solidFill>
                <a:srgbClr val="8794A8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3582599-5FF9-B5E6-672B-3C3C3B104147}"/>
              </a:ext>
            </a:extLst>
          </p:cNvPr>
          <p:cNvSpPr txBox="1"/>
          <p:nvPr/>
        </p:nvSpPr>
        <p:spPr>
          <a:xfrm>
            <a:off x="812800" y="1905000"/>
            <a:ext cx="10566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末尾に「</a:t>
            </a:r>
            <a:r>
              <a:rPr kumimoji="1" lang="en-US" altLang="ja-JP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_</a:t>
            </a:r>
            <a:r>
              <a:rPr kumimoji="1" lang="ja-JP" altLang="en-US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年月日」（</a:t>
            </a:r>
            <a:r>
              <a:rPr kumimoji="1" lang="en-US" altLang="ja-JP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8 </a:t>
            </a:r>
            <a:r>
              <a:rPr kumimoji="1" lang="ja-JP" altLang="en-US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桁）を付けると、その日まで再生し、翌日から表示しなくなります。秒数との順番は問いません。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556FDD85-F3DD-1A2A-3D29-2195398AFE59}"/>
              </a:ext>
            </a:extLst>
          </p:cNvPr>
          <p:cNvSpPr/>
          <p:nvPr/>
        </p:nvSpPr>
        <p:spPr>
          <a:xfrm>
            <a:off x="812800" y="2362200"/>
            <a:ext cx="10566400" cy="1066800"/>
          </a:xfrm>
          <a:prstGeom prst="roundRect">
            <a:avLst>
              <a:gd name="adj" fmla="val 12000"/>
            </a:avLst>
          </a:prstGeom>
          <a:solidFill>
            <a:srgbClr val="102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FD3AA8E-39BC-8397-3D1D-C97E2915CD1D}"/>
              </a:ext>
            </a:extLst>
          </p:cNvPr>
          <p:cNvSpPr txBox="1"/>
          <p:nvPr/>
        </p:nvSpPr>
        <p:spPr>
          <a:xfrm>
            <a:off x="1244600" y="2540000"/>
            <a:ext cx="635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2400" b="1">
                <a:solidFill>
                  <a:srgbClr val="FFFFFF"/>
                </a:solidFill>
                <a:latin typeface="Consolas" panose="020B0609020204030204" pitchFamily="49" charset="0"/>
              </a:rPr>
              <a:t>案内</a:t>
            </a:r>
            <a:r>
              <a:rPr kumimoji="1" lang="en-US" altLang="ja-JP" sz="2400" b="1">
                <a:solidFill>
                  <a:srgbClr val="FFFFFF"/>
                </a:solidFill>
                <a:latin typeface="Consolas" panose="020B0609020204030204" pitchFamily="49" charset="0"/>
              </a:rPr>
              <a:t>_20_20260904.pdf</a:t>
            </a:r>
            <a:endParaRPr kumimoji="1" lang="ja-JP" altLang="en-US" sz="24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10505AA-B2A6-C5E9-0E59-74FFDBA30B42}"/>
              </a:ext>
            </a:extLst>
          </p:cNvPr>
          <p:cNvSpPr txBox="1"/>
          <p:nvPr/>
        </p:nvSpPr>
        <p:spPr>
          <a:xfrm>
            <a:off x="1244600" y="2997200"/>
            <a:ext cx="9702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250">
                <a:solidFill>
                  <a:srgbClr val="9FB4D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「</a:t>
            </a:r>
            <a:r>
              <a:rPr kumimoji="1" lang="en-US" altLang="ja-JP" sz="1250">
                <a:solidFill>
                  <a:srgbClr val="9FB4D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_20</a:t>
            </a:r>
            <a:r>
              <a:rPr kumimoji="1" lang="ja-JP" altLang="en-US" sz="1250">
                <a:solidFill>
                  <a:srgbClr val="9FB4D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」が表示秒数、「</a:t>
            </a:r>
            <a:r>
              <a:rPr kumimoji="1" lang="en-US" altLang="ja-JP" sz="1250">
                <a:solidFill>
                  <a:srgbClr val="9FB4D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_20260904</a:t>
            </a:r>
            <a:r>
              <a:rPr kumimoji="1" lang="ja-JP" altLang="en-US" sz="1250">
                <a:solidFill>
                  <a:srgbClr val="9FB4D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」が期限。案内</a:t>
            </a:r>
            <a:r>
              <a:rPr kumimoji="1" lang="en-US" altLang="ja-JP" sz="1250">
                <a:solidFill>
                  <a:srgbClr val="9FB4D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_20260904_20.pdf </a:t>
            </a:r>
            <a:r>
              <a:rPr kumimoji="1" lang="ja-JP" altLang="en-US" sz="1250">
                <a:solidFill>
                  <a:srgbClr val="9FB4D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でも同じです。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2D57AC9C-B724-37A8-592F-ADF00705F3AC}"/>
              </a:ext>
            </a:extLst>
          </p:cNvPr>
          <p:cNvSpPr/>
          <p:nvPr/>
        </p:nvSpPr>
        <p:spPr>
          <a:xfrm>
            <a:off x="812800" y="3708400"/>
            <a:ext cx="3352800" cy="1397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E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F806992-32DE-51DC-BC7F-4B9AA55D8811}"/>
              </a:ext>
            </a:extLst>
          </p:cNvPr>
          <p:cNvSpPr txBox="1"/>
          <p:nvPr/>
        </p:nvSpPr>
        <p:spPr>
          <a:xfrm>
            <a:off x="1016000" y="3911600"/>
            <a:ext cx="2946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200" b="1">
                <a:solidFill>
                  <a:srgbClr val="1B2430"/>
                </a:solidFill>
                <a:latin typeface="Consolas" panose="020B0609020204030204" pitchFamily="49" charset="0"/>
              </a:rPr>
              <a:t>案内</a:t>
            </a:r>
            <a:r>
              <a:rPr kumimoji="1" lang="en-US" altLang="ja-JP" sz="1200" b="1">
                <a:solidFill>
                  <a:srgbClr val="1B2430"/>
                </a:solidFill>
                <a:latin typeface="Consolas" panose="020B0609020204030204" pitchFamily="49" charset="0"/>
              </a:rPr>
              <a:t>_20260904.pdf</a:t>
            </a:r>
            <a:endParaRPr kumimoji="1" lang="ja-JP" altLang="en-US" sz="1200" b="1">
              <a:solidFill>
                <a:srgbClr val="1B2430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49FD782-2170-3C2F-4757-27B6EC79AF7B}"/>
              </a:ext>
            </a:extLst>
          </p:cNvPr>
          <p:cNvSpPr txBox="1"/>
          <p:nvPr/>
        </p:nvSpPr>
        <p:spPr>
          <a:xfrm>
            <a:off x="1016000" y="4241800"/>
            <a:ext cx="2946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600" b="1">
                <a:solidFill>
                  <a:srgbClr val="0F8E9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期限のみ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F382724-FF7D-9C53-7756-1FC75B63BE12}"/>
              </a:ext>
            </a:extLst>
          </p:cNvPr>
          <p:cNvSpPr txBox="1"/>
          <p:nvPr/>
        </p:nvSpPr>
        <p:spPr>
          <a:xfrm>
            <a:off x="1016000" y="4597400"/>
            <a:ext cx="2946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kumimoji="1" lang="ja-JP" altLang="en-US" sz="115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標準の秒数で </a:t>
            </a:r>
            <a:r>
              <a:rPr kumimoji="1" lang="en-US" altLang="ja-JP" sz="115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9</a:t>
            </a:r>
            <a:r>
              <a:rPr kumimoji="1" lang="ja-JP" altLang="en-US" sz="115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月</a:t>
            </a:r>
            <a:r>
              <a:rPr kumimoji="1" lang="en-US" altLang="ja-JP" sz="115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</a:t>
            </a:r>
            <a:r>
              <a:rPr kumimoji="1" lang="ja-JP" altLang="en-US" sz="115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日まで再生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5265A7D8-6B2E-ACFE-98B4-D660AEBFCA34}"/>
              </a:ext>
            </a:extLst>
          </p:cNvPr>
          <p:cNvSpPr/>
          <p:nvPr/>
        </p:nvSpPr>
        <p:spPr>
          <a:xfrm>
            <a:off x="4419600" y="3708400"/>
            <a:ext cx="3352800" cy="1397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E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CD5198B-B976-A048-F16C-604E5B9BDC14}"/>
              </a:ext>
            </a:extLst>
          </p:cNvPr>
          <p:cNvSpPr txBox="1"/>
          <p:nvPr/>
        </p:nvSpPr>
        <p:spPr>
          <a:xfrm>
            <a:off x="4622800" y="3911600"/>
            <a:ext cx="2946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200" b="1">
                <a:solidFill>
                  <a:srgbClr val="1B2430"/>
                </a:solidFill>
                <a:latin typeface="Consolas" panose="020B0609020204030204" pitchFamily="49" charset="0"/>
              </a:rPr>
              <a:t>案内</a:t>
            </a:r>
            <a:r>
              <a:rPr kumimoji="1" lang="en-US" altLang="ja-JP" sz="1200" b="1">
                <a:solidFill>
                  <a:srgbClr val="1B2430"/>
                </a:solidFill>
                <a:latin typeface="Consolas" panose="020B0609020204030204" pitchFamily="49" charset="0"/>
              </a:rPr>
              <a:t>_20_20260212.pdf</a:t>
            </a:r>
            <a:endParaRPr kumimoji="1" lang="ja-JP" altLang="en-US" sz="1200" b="1">
              <a:solidFill>
                <a:srgbClr val="1B2430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37ABD70-4BBF-E889-E03D-C367A120580F}"/>
              </a:ext>
            </a:extLst>
          </p:cNvPr>
          <p:cNvSpPr txBox="1"/>
          <p:nvPr/>
        </p:nvSpPr>
        <p:spPr>
          <a:xfrm>
            <a:off x="4622800" y="4241800"/>
            <a:ext cx="2946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600" b="1">
                <a:solidFill>
                  <a:srgbClr val="0F8E9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秒数 → 期限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3616744-AF07-F9E2-19B2-851B4DF6E04C}"/>
              </a:ext>
            </a:extLst>
          </p:cNvPr>
          <p:cNvSpPr txBox="1"/>
          <p:nvPr/>
        </p:nvSpPr>
        <p:spPr>
          <a:xfrm>
            <a:off x="4622800" y="4597400"/>
            <a:ext cx="2946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kumimoji="1" lang="en-US" altLang="ja-JP" sz="115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20 </a:t>
            </a:r>
            <a:r>
              <a:rPr kumimoji="1" lang="ja-JP" altLang="en-US" sz="115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秒表示、</a:t>
            </a:r>
            <a:r>
              <a:rPr kumimoji="1" lang="en-US" altLang="ja-JP" sz="115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r>
              <a:rPr kumimoji="1" lang="ja-JP" altLang="en-US" sz="115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月</a:t>
            </a:r>
            <a:r>
              <a:rPr kumimoji="1" lang="en-US" altLang="ja-JP" sz="115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12</a:t>
            </a:r>
            <a:r>
              <a:rPr kumimoji="1" lang="ja-JP" altLang="en-US" sz="115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日まで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2807E6AD-8A3D-735A-B4BC-1FB2EBA6E4E9}"/>
              </a:ext>
            </a:extLst>
          </p:cNvPr>
          <p:cNvSpPr/>
          <p:nvPr/>
        </p:nvSpPr>
        <p:spPr>
          <a:xfrm>
            <a:off x="8026400" y="3708400"/>
            <a:ext cx="3352800" cy="1397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E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87FFEBD-E6A8-E295-3002-3EF242F96234}"/>
              </a:ext>
            </a:extLst>
          </p:cNvPr>
          <p:cNvSpPr txBox="1"/>
          <p:nvPr/>
        </p:nvSpPr>
        <p:spPr>
          <a:xfrm>
            <a:off x="8229600" y="3911600"/>
            <a:ext cx="2946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200" b="1">
                <a:solidFill>
                  <a:srgbClr val="1B2430"/>
                </a:solidFill>
                <a:latin typeface="Consolas" panose="020B0609020204030204" pitchFamily="49" charset="0"/>
              </a:rPr>
              <a:t>案内</a:t>
            </a:r>
            <a:r>
              <a:rPr kumimoji="1" lang="en-US" altLang="ja-JP" sz="1200" b="1">
                <a:solidFill>
                  <a:srgbClr val="1B2430"/>
                </a:solidFill>
                <a:latin typeface="Consolas" panose="020B0609020204030204" pitchFamily="49" charset="0"/>
              </a:rPr>
              <a:t>_20260102_30.pdf</a:t>
            </a:r>
            <a:endParaRPr kumimoji="1" lang="ja-JP" altLang="en-US" sz="1200" b="1">
              <a:solidFill>
                <a:srgbClr val="1B2430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F0BEE30-92DF-B855-0A83-AB069E660AA2}"/>
              </a:ext>
            </a:extLst>
          </p:cNvPr>
          <p:cNvSpPr txBox="1"/>
          <p:nvPr/>
        </p:nvSpPr>
        <p:spPr>
          <a:xfrm>
            <a:off x="8229600" y="4241800"/>
            <a:ext cx="2946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600" b="1">
                <a:solidFill>
                  <a:srgbClr val="0F8E9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期限 → 秒数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65EFAA7-3FCA-2249-B3D3-037C84A3795E}"/>
              </a:ext>
            </a:extLst>
          </p:cNvPr>
          <p:cNvSpPr txBox="1"/>
          <p:nvPr/>
        </p:nvSpPr>
        <p:spPr>
          <a:xfrm>
            <a:off x="8229600" y="4597400"/>
            <a:ext cx="2946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kumimoji="1" lang="en-US" altLang="ja-JP" sz="115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30 </a:t>
            </a:r>
            <a:r>
              <a:rPr kumimoji="1" lang="ja-JP" altLang="en-US" sz="115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秒表示、</a:t>
            </a:r>
            <a:r>
              <a:rPr kumimoji="1" lang="en-US" altLang="ja-JP" sz="115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r>
              <a:rPr kumimoji="1" lang="ja-JP" altLang="en-US" sz="115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月</a:t>
            </a:r>
            <a:r>
              <a:rPr kumimoji="1" lang="en-US" altLang="ja-JP" sz="115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r>
              <a:rPr kumimoji="1" lang="ja-JP" altLang="en-US" sz="115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日まで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CFBEA9A4-AF7B-C799-72AE-ADC4C32C58FC}"/>
              </a:ext>
            </a:extLst>
          </p:cNvPr>
          <p:cNvSpPr/>
          <p:nvPr/>
        </p:nvSpPr>
        <p:spPr>
          <a:xfrm>
            <a:off x="812800" y="5334000"/>
            <a:ext cx="10566400" cy="609600"/>
          </a:xfrm>
          <a:prstGeom prst="roundRect">
            <a:avLst>
              <a:gd name="adj" fmla="val 12000"/>
            </a:avLst>
          </a:prstGeom>
          <a:solidFill>
            <a:srgbClr val="FDF3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DB712EC8-407B-4E9A-7B37-7AEAE2F9F273}"/>
              </a:ext>
            </a:extLst>
          </p:cNvPr>
          <p:cNvSpPr/>
          <p:nvPr/>
        </p:nvSpPr>
        <p:spPr>
          <a:xfrm>
            <a:off x="812800" y="5334000"/>
            <a:ext cx="50800" cy="609600"/>
          </a:xfrm>
          <a:prstGeom prst="rect">
            <a:avLst/>
          </a:prstGeom>
          <a:solidFill>
            <a:srgbClr val="B469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44883AD-04D2-46F8-9525-52930641C7B1}"/>
              </a:ext>
            </a:extLst>
          </p:cNvPr>
          <p:cNvSpPr txBox="1"/>
          <p:nvPr/>
        </p:nvSpPr>
        <p:spPr>
          <a:xfrm>
            <a:off x="1092200" y="5334000"/>
            <a:ext cx="103124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200" b="1">
                <a:solidFill>
                  <a:srgbClr val="B4690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誤りと動画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5EFE1E37-E745-C025-6412-78B30671CBC6}"/>
              </a:ext>
            </a:extLst>
          </p:cNvPr>
          <p:cNvSpPr txBox="1"/>
          <p:nvPr/>
        </p:nvSpPr>
        <p:spPr>
          <a:xfrm>
            <a:off x="2123440" y="5334000"/>
            <a:ext cx="897636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存在しない日付・桁不足（例 </a:t>
            </a: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_2026923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）・秒数の重複などは再生を止めません。管理画面を開くたびに「表示期限の指定」ダイアログで、○○</a:t>
            </a: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_20261231 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などの例と対象ファイル名を知らせます。動画も期限の対象です。</a:t>
            </a:r>
          </a:p>
        </p:txBody>
      </p:sp>
    </p:spTree>
    <p:extLst>
      <p:ext uri="{BB962C8B-B14F-4D97-AF65-F5344CB8AC3E}">
        <p14:creationId xmlns:p14="http://schemas.microsoft.com/office/powerpoint/2010/main" val="921773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DEEC124-2B6D-2C64-8FA8-FB9A8ADA35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0CFB4B6-33B1-F645-C96B-F0C4EE18A2FA}"/>
              </a:ext>
            </a:extLst>
          </p:cNvPr>
          <p:cNvSpPr/>
          <p:nvPr/>
        </p:nvSpPr>
        <p:spPr>
          <a:xfrm>
            <a:off x="812800" y="584200"/>
            <a:ext cx="63500" cy="584200"/>
          </a:xfrm>
          <a:prstGeom prst="rect">
            <a:avLst/>
          </a:prstGeom>
          <a:solidFill>
            <a:srgbClr val="0F8E9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3A1E47B-2782-8EBB-290E-43230055F691}"/>
              </a:ext>
            </a:extLst>
          </p:cNvPr>
          <p:cNvSpPr txBox="1"/>
          <p:nvPr/>
        </p:nvSpPr>
        <p:spPr>
          <a:xfrm>
            <a:off x="1028700" y="5715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1050" b="1">
                <a:solidFill>
                  <a:srgbClr val="0F8E9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FOR CONTENT OWNER</a:t>
            </a:r>
            <a:endParaRPr kumimoji="1" lang="ja-JP" altLang="en-US" sz="1050" b="1">
              <a:solidFill>
                <a:srgbClr val="0F8E9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A5655CC-0DA8-3CC6-A922-22BC68590FB3}"/>
              </a:ext>
            </a:extLst>
          </p:cNvPr>
          <p:cNvSpPr txBox="1"/>
          <p:nvPr/>
        </p:nvSpPr>
        <p:spPr>
          <a:xfrm>
            <a:off x="1028700" y="774700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27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知っておきたい </a:t>
            </a:r>
            <a:r>
              <a:rPr kumimoji="1" lang="en-US" altLang="ja-JP" sz="27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 </a:t>
            </a:r>
            <a:r>
              <a:rPr kumimoji="1" lang="ja-JP" altLang="en-US" sz="27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つのこと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0C50E38-A709-4FA9-9DF7-1BA99F210834}"/>
              </a:ext>
            </a:extLst>
          </p:cNvPr>
          <p:cNvSpPr/>
          <p:nvPr/>
        </p:nvSpPr>
        <p:spPr>
          <a:xfrm>
            <a:off x="812800" y="1498600"/>
            <a:ext cx="10566400" cy="12700"/>
          </a:xfrm>
          <a:prstGeom prst="rect">
            <a:avLst/>
          </a:prstGeom>
          <a:solidFill>
            <a:srgbClr val="DEE5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CFE11701-F79D-DC8F-2F7A-0381EB162103}"/>
              </a:ext>
            </a:extLst>
          </p:cNvPr>
          <p:cNvSpPr/>
          <p:nvPr/>
        </p:nvSpPr>
        <p:spPr>
          <a:xfrm>
            <a:off x="9857232" y="736600"/>
            <a:ext cx="1521968" cy="330200"/>
          </a:xfrm>
          <a:prstGeom prst="roundRect">
            <a:avLst>
              <a:gd name="adj" fmla="val 50000"/>
            </a:avLst>
          </a:prstGeom>
          <a:solidFill>
            <a:srgbClr val="0F8E9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481C865-F82D-17E5-80CD-194387C3932E}"/>
              </a:ext>
            </a:extLst>
          </p:cNvPr>
          <p:cNvSpPr txBox="1"/>
          <p:nvPr/>
        </p:nvSpPr>
        <p:spPr>
          <a:xfrm>
            <a:off x="9857232" y="736600"/>
            <a:ext cx="1521968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ja-JP" altLang="en-US" sz="115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コンテンツ担当者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5CD482B-3E10-1B49-21CB-36678E8A41E9}"/>
              </a:ext>
            </a:extLst>
          </p:cNvPr>
          <p:cNvSpPr txBox="1"/>
          <p:nvPr/>
        </p:nvSpPr>
        <p:spPr>
          <a:xfrm>
            <a:off x="812800" y="63754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簡易デジタルサイネージ ｜ 操作ガイド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C66A3C9-8A38-B7F5-4A3F-2FA32C3000B0}"/>
              </a:ext>
            </a:extLst>
          </p:cNvPr>
          <p:cNvSpPr txBox="1"/>
          <p:nvPr/>
        </p:nvSpPr>
        <p:spPr>
          <a:xfrm>
            <a:off x="10109200" y="63754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kumimoji="1" lang="en-US" altLang="ja-JP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9</a:t>
            </a:r>
            <a:endParaRPr kumimoji="1" lang="ja-JP" altLang="en-US" sz="900">
              <a:solidFill>
                <a:srgbClr val="8794A8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231B850F-3F6F-F172-6C58-7AADBD78F583}"/>
              </a:ext>
            </a:extLst>
          </p:cNvPr>
          <p:cNvSpPr/>
          <p:nvPr/>
        </p:nvSpPr>
        <p:spPr>
          <a:xfrm>
            <a:off x="812800" y="2133600"/>
            <a:ext cx="10566400" cy="1219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E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2B6889C-45B9-AF37-E4EC-40C4D360880A}"/>
              </a:ext>
            </a:extLst>
          </p:cNvPr>
          <p:cNvSpPr/>
          <p:nvPr/>
        </p:nvSpPr>
        <p:spPr>
          <a:xfrm>
            <a:off x="812800" y="2133600"/>
            <a:ext cx="50800" cy="1219200"/>
          </a:xfrm>
          <a:prstGeom prst="rect">
            <a:avLst/>
          </a:prstGeom>
          <a:solidFill>
            <a:srgbClr val="0F8E9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B652D5E-C507-A624-FB32-8B413C4B7D65}"/>
              </a:ext>
            </a:extLst>
          </p:cNvPr>
          <p:cNvSpPr txBox="1"/>
          <p:nvPr/>
        </p:nvSpPr>
        <p:spPr>
          <a:xfrm>
            <a:off x="1168400" y="2413000"/>
            <a:ext cx="9855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6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コピー中は反映されない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2BC2A18-EEA6-A8D5-7441-42A890AEC085}"/>
              </a:ext>
            </a:extLst>
          </p:cNvPr>
          <p:cNvSpPr txBox="1"/>
          <p:nvPr/>
        </p:nvSpPr>
        <p:spPr>
          <a:xfrm>
            <a:off x="1168400" y="2768600"/>
            <a:ext cx="9855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ファイルのコピー途中だと読み込みに失敗することがあります。コピーが完了すれば自動で反映されます。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8CED5A22-9879-B8D0-CDC6-564A95A00C5B}"/>
              </a:ext>
            </a:extLst>
          </p:cNvPr>
          <p:cNvSpPr/>
          <p:nvPr/>
        </p:nvSpPr>
        <p:spPr>
          <a:xfrm>
            <a:off x="812800" y="3530600"/>
            <a:ext cx="10566400" cy="1219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E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6700332-FB66-731D-DF69-B2004F6AF1C3}"/>
              </a:ext>
            </a:extLst>
          </p:cNvPr>
          <p:cNvSpPr/>
          <p:nvPr/>
        </p:nvSpPr>
        <p:spPr>
          <a:xfrm>
            <a:off x="812800" y="3530600"/>
            <a:ext cx="50800" cy="1219200"/>
          </a:xfrm>
          <a:prstGeom prst="rect">
            <a:avLst/>
          </a:prstGeom>
          <a:solidFill>
            <a:srgbClr val="0F8E9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0C82598-5043-4311-E9BA-EE6D57A8EBD1}"/>
              </a:ext>
            </a:extLst>
          </p:cNvPr>
          <p:cNvSpPr txBox="1"/>
          <p:nvPr/>
        </p:nvSpPr>
        <p:spPr>
          <a:xfrm>
            <a:off x="1168400" y="3810000"/>
            <a:ext cx="9855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6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壊れたファイルはスキップ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DED7EE8-78E4-C1AF-3DC7-17AFC48576AA}"/>
              </a:ext>
            </a:extLst>
          </p:cNvPr>
          <p:cNvSpPr txBox="1"/>
          <p:nvPr/>
        </p:nvSpPr>
        <p:spPr>
          <a:xfrm>
            <a:off x="1168400" y="4165600"/>
            <a:ext cx="9855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読めないファイルは自動で飛ばし、残りのファイルは続けて表示されます。管理画面を開くと、対象ファイル名を「壊れたファイル」ダイアログで知らせます。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90210637-AEE0-0D35-787A-28ED3453C4F4}"/>
              </a:ext>
            </a:extLst>
          </p:cNvPr>
          <p:cNvSpPr/>
          <p:nvPr/>
        </p:nvSpPr>
        <p:spPr>
          <a:xfrm>
            <a:off x="812800" y="4927600"/>
            <a:ext cx="10566400" cy="1219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E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96250DF-A749-3EC6-2DA2-D2967D471653}"/>
              </a:ext>
            </a:extLst>
          </p:cNvPr>
          <p:cNvSpPr/>
          <p:nvPr/>
        </p:nvSpPr>
        <p:spPr>
          <a:xfrm>
            <a:off x="812800" y="4927600"/>
            <a:ext cx="50800" cy="1219200"/>
          </a:xfrm>
          <a:prstGeom prst="rect">
            <a:avLst/>
          </a:prstGeom>
          <a:solidFill>
            <a:srgbClr val="0F8E9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402B470-EF0A-1E21-157C-6D88EAE44421}"/>
              </a:ext>
            </a:extLst>
          </p:cNvPr>
          <p:cNvSpPr txBox="1"/>
          <p:nvPr/>
        </p:nvSpPr>
        <p:spPr>
          <a:xfrm>
            <a:off x="1168400" y="5207000"/>
            <a:ext cx="9855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6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設定変更は管理者が行う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D02A6BA-1A34-E815-EE5E-8C116E08C541}"/>
              </a:ext>
            </a:extLst>
          </p:cNvPr>
          <p:cNvSpPr txBox="1"/>
          <p:nvPr/>
        </p:nvSpPr>
        <p:spPr>
          <a:xfrm>
            <a:off x="1168400" y="5562600"/>
            <a:ext cx="9855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フォルダの場所や標準の表示秒数などの変更は、管理者が管理画面で行います。</a:t>
            </a:r>
          </a:p>
        </p:txBody>
      </p:sp>
    </p:spTree>
    <p:extLst>
      <p:ext uri="{BB962C8B-B14F-4D97-AF65-F5344CB8AC3E}">
        <p14:creationId xmlns:p14="http://schemas.microsoft.com/office/powerpoint/2010/main" val="3698273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0F30E27-38CC-240A-C1A5-B6747B4113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159D24C-E722-602E-7467-68030B56AA52}"/>
              </a:ext>
            </a:extLst>
          </p:cNvPr>
          <p:cNvSpPr/>
          <p:nvPr/>
        </p:nvSpPr>
        <p:spPr>
          <a:xfrm>
            <a:off x="812800" y="5842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228BBF2-2E55-2911-4BBB-5935C03B5D96}"/>
              </a:ext>
            </a:extLst>
          </p:cNvPr>
          <p:cNvSpPr txBox="1"/>
          <p:nvPr/>
        </p:nvSpPr>
        <p:spPr>
          <a:xfrm>
            <a:off x="1028700" y="5715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1050" b="1">
                <a:solidFill>
                  <a:srgbClr val="2563E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FOR ADMINISTRATOR</a:t>
            </a:r>
            <a:endParaRPr kumimoji="1" lang="ja-JP" altLang="en-US" sz="1050" b="1">
              <a:solidFill>
                <a:srgbClr val="2563EB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1D7B6D0-3C17-B9F5-0744-F8A051379374}"/>
              </a:ext>
            </a:extLst>
          </p:cNvPr>
          <p:cNvSpPr txBox="1"/>
          <p:nvPr/>
        </p:nvSpPr>
        <p:spPr>
          <a:xfrm>
            <a:off x="1028700" y="774700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27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アプリの起動と管理画面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A0A0188-2EFF-75CA-0C61-5A57D4291E1E}"/>
              </a:ext>
            </a:extLst>
          </p:cNvPr>
          <p:cNvSpPr/>
          <p:nvPr/>
        </p:nvSpPr>
        <p:spPr>
          <a:xfrm>
            <a:off x="812800" y="1498600"/>
            <a:ext cx="10566400" cy="12700"/>
          </a:xfrm>
          <a:prstGeom prst="rect">
            <a:avLst/>
          </a:prstGeom>
          <a:solidFill>
            <a:srgbClr val="DEE5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6DE8746F-1CAD-26B4-BDEE-8B09D5E4F0F5}"/>
              </a:ext>
            </a:extLst>
          </p:cNvPr>
          <p:cNvSpPr/>
          <p:nvPr/>
        </p:nvSpPr>
        <p:spPr>
          <a:xfrm>
            <a:off x="10006203" y="736600"/>
            <a:ext cx="1372997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6AF0BBD-D178-52DE-0A07-B9FEDAD8CF2E}"/>
              </a:ext>
            </a:extLst>
          </p:cNvPr>
          <p:cNvSpPr txBox="1"/>
          <p:nvPr/>
        </p:nvSpPr>
        <p:spPr>
          <a:xfrm>
            <a:off x="10006203" y="736600"/>
            <a:ext cx="1372997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ja-JP" altLang="en-US" sz="115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システム管理者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5974F10-0F30-EBE2-5D8F-5D3DA887F266}"/>
              </a:ext>
            </a:extLst>
          </p:cNvPr>
          <p:cNvSpPr txBox="1"/>
          <p:nvPr/>
        </p:nvSpPr>
        <p:spPr>
          <a:xfrm>
            <a:off x="812800" y="63754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簡易デジタルサイネージ ｜ 操作ガイド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CCFBB42-7E9A-403E-C872-040EB2360A08}"/>
              </a:ext>
            </a:extLst>
          </p:cNvPr>
          <p:cNvSpPr txBox="1"/>
          <p:nvPr/>
        </p:nvSpPr>
        <p:spPr>
          <a:xfrm>
            <a:off x="10109200" y="63754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kumimoji="1" lang="en-US" altLang="ja-JP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10</a:t>
            </a:r>
            <a:endParaRPr kumimoji="1" lang="ja-JP" altLang="en-US" sz="900">
              <a:solidFill>
                <a:srgbClr val="8794A8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95D953AC-1659-3818-2D40-3D48E83C3454}"/>
              </a:ext>
            </a:extLst>
          </p:cNvPr>
          <p:cNvSpPr/>
          <p:nvPr/>
        </p:nvSpPr>
        <p:spPr>
          <a:xfrm>
            <a:off x="812800" y="1905000"/>
            <a:ext cx="5130800" cy="2692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E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9D1557AE-21E3-032F-B0FE-CEC6B12E4BD0}"/>
              </a:ext>
            </a:extLst>
          </p:cNvPr>
          <p:cNvSpPr/>
          <p:nvPr/>
        </p:nvSpPr>
        <p:spPr>
          <a:xfrm>
            <a:off x="1143000" y="2209800"/>
            <a:ext cx="685800" cy="279400"/>
          </a:xfrm>
          <a:prstGeom prst="roundRect">
            <a:avLst>
              <a:gd name="adj" fmla="val 50000"/>
            </a:avLst>
          </a:prstGeom>
          <a:solidFill>
            <a:srgbClr val="E9F0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831E41A-D112-2CC0-512E-6A2B03ADC08C}"/>
              </a:ext>
            </a:extLst>
          </p:cNvPr>
          <p:cNvSpPr txBox="1"/>
          <p:nvPr/>
        </p:nvSpPr>
        <p:spPr>
          <a:xfrm>
            <a:off x="1143000" y="2209800"/>
            <a:ext cx="685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000" b="1">
                <a:solidFill>
                  <a:srgbClr val="2563E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START</a:t>
            </a:r>
            <a:endParaRPr kumimoji="1" lang="ja-JP" altLang="en-US" sz="1000" b="1">
              <a:solidFill>
                <a:srgbClr val="2563EB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9FB30F1-703A-B0D4-4678-F1E668E7B7AD}"/>
              </a:ext>
            </a:extLst>
          </p:cNvPr>
          <p:cNvSpPr txBox="1"/>
          <p:nvPr/>
        </p:nvSpPr>
        <p:spPr>
          <a:xfrm>
            <a:off x="1143000" y="2641600"/>
            <a:ext cx="4470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9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アプリを起動する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556FF09-E2D0-2B71-519D-BB6E658749CB}"/>
              </a:ext>
            </a:extLst>
          </p:cNvPr>
          <p:cNvSpPr txBox="1"/>
          <p:nvPr/>
        </p:nvSpPr>
        <p:spPr>
          <a:xfrm>
            <a:off x="1143000" y="3175000"/>
            <a:ext cx="44704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1.  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配布フォルダの </a:t>
            </a: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PdfSignage.exe 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をダブルクリック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2.  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全画面でサイネージ表示が始まる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3.  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初回起動時は設定ファイルが自動作成される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83268515-EB6E-65B0-5C66-7B8A8D78B482}"/>
              </a:ext>
            </a:extLst>
          </p:cNvPr>
          <p:cNvSpPr/>
          <p:nvPr/>
        </p:nvSpPr>
        <p:spPr>
          <a:xfrm>
            <a:off x="6248400" y="1905000"/>
            <a:ext cx="5130800" cy="2692400"/>
          </a:xfrm>
          <a:prstGeom prst="roundRect">
            <a:avLst>
              <a:gd name="adj" fmla="val 7000"/>
            </a:avLst>
          </a:prstGeom>
          <a:solidFill>
            <a:srgbClr val="102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0654DD93-A2CF-F522-E206-A329BB2E2EB6}"/>
              </a:ext>
            </a:extLst>
          </p:cNvPr>
          <p:cNvSpPr/>
          <p:nvPr/>
        </p:nvSpPr>
        <p:spPr>
          <a:xfrm>
            <a:off x="6578600" y="2209800"/>
            <a:ext cx="899160" cy="279400"/>
          </a:xfrm>
          <a:prstGeom prst="roundRect">
            <a:avLst>
              <a:gd name="adj" fmla="val 50000"/>
            </a:avLst>
          </a:prstGeom>
          <a:solidFill>
            <a:srgbClr val="1E3A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76C2056-4807-CD92-6CAE-28BD8C279254}"/>
              </a:ext>
            </a:extLst>
          </p:cNvPr>
          <p:cNvSpPr txBox="1"/>
          <p:nvPr/>
        </p:nvSpPr>
        <p:spPr>
          <a:xfrm>
            <a:off x="6578600" y="2209800"/>
            <a:ext cx="89916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000" b="1">
                <a:solidFill>
                  <a:srgbClr val="BBD1FA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SHORTCUT</a:t>
            </a:r>
            <a:endParaRPr kumimoji="1" lang="ja-JP" altLang="en-US" sz="1000" b="1">
              <a:solidFill>
                <a:srgbClr val="BBD1FA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7331AD8-D5EC-C773-876F-ACBE5A4FC451}"/>
              </a:ext>
            </a:extLst>
          </p:cNvPr>
          <p:cNvSpPr txBox="1"/>
          <p:nvPr/>
        </p:nvSpPr>
        <p:spPr>
          <a:xfrm>
            <a:off x="6578600" y="2641600"/>
            <a:ext cx="4470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9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管理画面を開く </a:t>
            </a:r>
            <a:r>
              <a:rPr kumimoji="1" lang="en-US" altLang="ja-JP" sz="19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/ </a:t>
            </a:r>
            <a:r>
              <a:rPr kumimoji="1" lang="ja-JP" altLang="en-US" sz="19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閉じる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4638ED83-2179-FEA4-49B8-0FA481367367}"/>
              </a:ext>
            </a:extLst>
          </p:cNvPr>
          <p:cNvSpPr/>
          <p:nvPr/>
        </p:nvSpPr>
        <p:spPr>
          <a:xfrm>
            <a:off x="6578600" y="3175000"/>
            <a:ext cx="858520" cy="558800"/>
          </a:xfrm>
          <a:prstGeom prst="roundRect">
            <a:avLst>
              <a:gd name="adj" fmla="val 18000"/>
            </a:avLst>
          </a:prstGeom>
          <a:solidFill>
            <a:srgbClr val="25406E"/>
          </a:solidFill>
          <a:ln w="9525">
            <a:solidFill>
              <a:srgbClr val="3E5C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0490D68-2CD0-76A6-7C33-AAA6B78CE618}"/>
              </a:ext>
            </a:extLst>
          </p:cNvPr>
          <p:cNvSpPr txBox="1"/>
          <p:nvPr/>
        </p:nvSpPr>
        <p:spPr>
          <a:xfrm>
            <a:off x="6578600" y="3175000"/>
            <a:ext cx="85852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5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Ctrl</a:t>
            </a:r>
            <a:endParaRPr kumimoji="1" lang="ja-JP" altLang="en-US" sz="1500" b="1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8DF73A0-C6FC-986F-107A-2F5158E62705}"/>
              </a:ext>
            </a:extLst>
          </p:cNvPr>
          <p:cNvSpPr txBox="1"/>
          <p:nvPr/>
        </p:nvSpPr>
        <p:spPr>
          <a:xfrm>
            <a:off x="7437120" y="3175000"/>
            <a:ext cx="330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500" b="1">
                <a:solidFill>
                  <a:srgbClr val="7FA6F5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+</a:t>
            </a:r>
            <a:endParaRPr kumimoji="1" lang="ja-JP" altLang="en-US" sz="1500" b="1">
              <a:solidFill>
                <a:srgbClr val="7FA6F5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0F6921E7-324F-F8F2-DB83-A3D4354CDE98}"/>
              </a:ext>
            </a:extLst>
          </p:cNvPr>
          <p:cNvSpPr/>
          <p:nvPr/>
        </p:nvSpPr>
        <p:spPr>
          <a:xfrm>
            <a:off x="7767320" y="3175000"/>
            <a:ext cx="965200" cy="558800"/>
          </a:xfrm>
          <a:prstGeom prst="roundRect">
            <a:avLst>
              <a:gd name="adj" fmla="val 18000"/>
            </a:avLst>
          </a:prstGeom>
          <a:solidFill>
            <a:srgbClr val="25406E"/>
          </a:solidFill>
          <a:ln w="9525">
            <a:solidFill>
              <a:srgbClr val="3E5C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6239B56-AC38-F50A-C4EA-DC0CFD7B15A5}"/>
              </a:ext>
            </a:extLst>
          </p:cNvPr>
          <p:cNvSpPr txBox="1"/>
          <p:nvPr/>
        </p:nvSpPr>
        <p:spPr>
          <a:xfrm>
            <a:off x="7767320" y="3175000"/>
            <a:ext cx="965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5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Shift</a:t>
            </a:r>
            <a:endParaRPr kumimoji="1" lang="ja-JP" altLang="en-US" sz="1500" b="1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C6D0FC9-4A7A-AF8B-9446-DE31A1610A8E}"/>
              </a:ext>
            </a:extLst>
          </p:cNvPr>
          <p:cNvSpPr txBox="1"/>
          <p:nvPr/>
        </p:nvSpPr>
        <p:spPr>
          <a:xfrm>
            <a:off x="8732520" y="3175000"/>
            <a:ext cx="330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500" b="1">
                <a:solidFill>
                  <a:srgbClr val="7FA6F5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+</a:t>
            </a:r>
            <a:endParaRPr kumimoji="1" lang="ja-JP" altLang="en-US" sz="1500" b="1">
              <a:solidFill>
                <a:srgbClr val="7FA6F5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96585725-1128-9441-51F1-171E43F18105}"/>
              </a:ext>
            </a:extLst>
          </p:cNvPr>
          <p:cNvSpPr/>
          <p:nvPr/>
        </p:nvSpPr>
        <p:spPr>
          <a:xfrm>
            <a:off x="9062720" y="3175000"/>
            <a:ext cx="538480" cy="558800"/>
          </a:xfrm>
          <a:prstGeom prst="roundRect">
            <a:avLst>
              <a:gd name="adj" fmla="val 18000"/>
            </a:avLst>
          </a:prstGeom>
          <a:solidFill>
            <a:srgbClr val="25406E"/>
          </a:solidFill>
          <a:ln w="9525">
            <a:solidFill>
              <a:srgbClr val="3E5C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2F4FC355-69BA-9F6A-FA04-4A14A6A792FC}"/>
              </a:ext>
            </a:extLst>
          </p:cNvPr>
          <p:cNvSpPr txBox="1"/>
          <p:nvPr/>
        </p:nvSpPr>
        <p:spPr>
          <a:xfrm>
            <a:off x="9062720" y="3175000"/>
            <a:ext cx="53848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5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</a:t>
            </a:r>
            <a:endParaRPr kumimoji="1" lang="ja-JP" altLang="en-US" sz="1500" b="1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4217F6CA-4C0E-D3FB-1CDA-8C12D677CB46}"/>
              </a:ext>
            </a:extLst>
          </p:cNvPr>
          <p:cNvSpPr txBox="1"/>
          <p:nvPr/>
        </p:nvSpPr>
        <p:spPr>
          <a:xfrm>
            <a:off x="6578600" y="3886200"/>
            <a:ext cx="4470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150">
                <a:solidFill>
                  <a:srgbClr val="9FB4D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同時に押すと管理画面が開きます。ファイル名の秒数・期限の誤りは「表示期限の指定」、壊れたファイルは「壊れたファイル」ダイアログで、開くたびに対象ファイルを知らせます。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6A0F061A-F02E-82B0-3A99-E36836B69E26}"/>
              </a:ext>
            </a:extLst>
          </p:cNvPr>
          <p:cNvSpPr/>
          <p:nvPr/>
        </p:nvSpPr>
        <p:spPr>
          <a:xfrm>
            <a:off x="812800" y="5029200"/>
            <a:ext cx="10566400" cy="838200"/>
          </a:xfrm>
          <a:prstGeom prst="roundRect">
            <a:avLst>
              <a:gd name="adj" fmla="val 12000"/>
            </a:avLst>
          </a:prstGeom>
          <a:solidFill>
            <a:srgbClr val="E9F0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FFCDD6F8-D1AA-B2A8-66A6-1DFD5AFF4DE7}"/>
              </a:ext>
            </a:extLst>
          </p:cNvPr>
          <p:cNvSpPr/>
          <p:nvPr/>
        </p:nvSpPr>
        <p:spPr>
          <a:xfrm>
            <a:off x="812800" y="5029200"/>
            <a:ext cx="50800" cy="838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CD3F464-DFA3-DC68-6E07-4A18A1F75D86}"/>
              </a:ext>
            </a:extLst>
          </p:cNvPr>
          <p:cNvSpPr txBox="1"/>
          <p:nvPr/>
        </p:nvSpPr>
        <p:spPr>
          <a:xfrm>
            <a:off x="1092200" y="5029200"/>
            <a:ext cx="1342136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200" b="1">
                <a:solidFill>
                  <a:srgbClr val="2563E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保存を忘れずに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276B81DF-9EAA-D064-D6B3-47CB6D8D9B93}"/>
              </a:ext>
            </a:extLst>
          </p:cNvPr>
          <p:cNvSpPr txBox="1"/>
          <p:nvPr/>
        </p:nvSpPr>
        <p:spPr>
          <a:xfrm>
            <a:off x="2434336" y="5029200"/>
            <a:ext cx="8665464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値を変更したら「保存して設定する」をクリック。再起動なしで即時反映されます。画面下部が緑なら成功、赤なら入力内容を確認してください。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3984882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44E75F2-76E9-7BE8-DC39-259258799B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16DBBA1-9E59-2823-8842-E87115A2665B}"/>
              </a:ext>
            </a:extLst>
          </p:cNvPr>
          <p:cNvSpPr/>
          <p:nvPr/>
        </p:nvSpPr>
        <p:spPr>
          <a:xfrm>
            <a:off x="812800" y="5842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DA2A6CE-E7E6-24F1-6471-39D73211E9BA}"/>
              </a:ext>
            </a:extLst>
          </p:cNvPr>
          <p:cNvSpPr txBox="1"/>
          <p:nvPr/>
        </p:nvSpPr>
        <p:spPr>
          <a:xfrm>
            <a:off x="1028700" y="5715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1050" b="1">
                <a:solidFill>
                  <a:srgbClr val="2563E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FOR ADMINISTRATOR</a:t>
            </a:r>
            <a:endParaRPr kumimoji="1" lang="ja-JP" altLang="en-US" sz="1050" b="1">
              <a:solidFill>
                <a:srgbClr val="2563EB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274BFA6-4F40-D432-66A4-68FE3D3F468F}"/>
              </a:ext>
            </a:extLst>
          </p:cNvPr>
          <p:cNvSpPr txBox="1"/>
          <p:nvPr/>
        </p:nvSpPr>
        <p:spPr>
          <a:xfrm>
            <a:off x="1028700" y="774700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27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管理画面の設定項目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2C475E2-62C6-26C1-FD1F-BA9491A0BAAB}"/>
              </a:ext>
            </a:extLst>
          </p:cNvPr>
          <p:cNvSpPr/>
          <p:nvPr/>
        </p:nvSpPr>
        <p:spPr>
          <a:xfrm>
            <a:off x="812800" y="1498600"/>
            <a:ext cx="10566400" cy="12700"/>
          </a:xfrm>
          <a:prstGeom prst="rect">
            <a:avLst/>
          </a:prstGeom>
          <a:solidFill>
            <a:srgbClr val="DEE5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0E113DA-E63C-F371-14A2-F688FC715D50}"/>
              </a:ext>
            </a:extLst>
          </p:cNvPr>
          <p:cNvSpPr/>
          <p:nvPr/>
        </p:nvSpPr>
        <p:spPr>
          <a:xfrm>
            <a:off x="10006203" y="736600"/>
            <a:ext cx="1372997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9B954F5-586B-C788-3F7D-2D42176296A6}"/>
              </a:ext>
            </a:extLst>
          </p:cNvPr>
          <p:cNvSpPr txBox="1"/>
          <p:nvPr/>
        </p:nvSpPr>
        <p:spPr>
          <a:xfrm>
            <a:off x="10006203" y="736600"/>
            <a:ext cx="1372997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ja-JP" altLang="en-US" sz="115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システム管理者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366A6A0-A7F9-4AD1-9FA9-44DDD2D37A77}"/>
              </a:ext>
            </a:extLst>
          </p:cNvPr>
          <p:cNvSpPr txBox="1"/>
          <p:nvPr/>
        </p:nvSpPr>
        <p:spPr>
          <a:xfrm>
            <a:off x="812800" y="63754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簡易デジタルサイネージ ｜ 操作ガイド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34649A4-F89A-F08E-9989-5F0AD42D9E64}"/>
              </a:ext>
            </a:extLst>
          </p:cNvPr>
          <p:cNvSpPr txBox="1"/>
          <p:nvPr/>
        </p:nvSpPr>
        <p:spPr>
          <a:xfrm>
            <a:off x="10109200" y="63754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kumimoji="1" lang="en-US" altLang="ja-JP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11</a:t>
            </a:r>
            <a:endParaRPr kumimoji="1" lang="ja-JP" altLang="en-US" sz="900">
              <a:solidFill>
                <a:srgbClr val="8794A8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E1B8B51E-52D9-80C6-F841-82E622C6FA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516513"/>
              </p:ext>
            </p:extLst>
          </p:nvPr>
        </p:nvGraphicFramePr>
        <p:xfrm>
          <a:off x="812800" y="1854200"/>
          <a:ext cx="10566400" cy="3632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1687808791"/>
                    </a:ext>
                  </a:extLst>
                </a:gridCol>
                <a:gridCol w="7366000">
                  <a:extLst>
                    <a:ext uri="{9D8B030D-6E8A-4147-A177-3AD203B41FA5}">
                      <a16:colId xmlns:a16="http://schemas.microsoft.com/office/drawing/2014/main" val="2957435060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250" b="1">
                          <a:solidFill>
                            <a:srgbClr val="FFFFFF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設定項目</a:t>
                      </a:r>
                    </a:p>
                  </a:txBody>
                  <a:tcPr marL="152400" marR="152400" marT="63500" marB="63500" anchor="ctr">
                    <a:lnB w="19050">
                      <a:solidFill>
                        <a:srgbClr val="2563EB"/>
                      </a:solidFill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250" b="1">
                          <a:solidFill>
                            <a:srgbClr val="FFFFFF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説明</a:t>
                      </a:r>
                    </a:p>
                  </a:txBody>
                  <a:tcPr marL="152400" marR="152400" marT="63500" marB="63500" anchor="ctr">
                    <a:lnB w="19050">
                      <a:solidFill>
                        <a:srgbClr val="2563EB"/>
                      </a:solidFill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14069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200" b="1">
                          <a:solidFill>
                            <a:srgbClr val="1B2430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監視フォルダ</a:t>
                      </a:r>
                    </a:p>
                  </a:txBody>
                  <a:tcPr marL="152400" marR="152400" marT="63500" marB="63500" anchor="ctr">
                    <a:lnT w="19050">
                      <a:solidFill>
                        <a:srgbClr val="2563EB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2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コンテンツを置くフォルダのパス。「参照</a:t>
                      </a:r>
                      <a:r>
                        <a:rPr kumimoji="1" lang="en-US" altLang="ja-JP" sz="12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…</a:t>
                      </a:r>
                      <a:r>
                        <a:rPr kumimoji="1" lang="ja-JP" altLang="en-US" sz="12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」から選択も可能</a:t>
                      </a:r>
                    </a:p>
                  </a:txBody>
                  <a:tcPr marL="152400" marR="152400" marT="63500" marB="63500" anchor="ctr">
                    <a:lnT w="19050">
                      <a:solidFill>
                        <a:srgbClr val="2563EB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44614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200" b="1">
                          <a:solidFill>
                            <a:srgbClr val="1B2430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デフォルト表示秒数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2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画像・</a:t>
                      </a:r>
                      <a:r>
                        <a:rPr kumimoji="1" lang="en-US" altLang="ja-JP" sz="12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PDF </a:t>
                      </a:r>
                      <a:r>
                        <a:rPr kumimoji="1" lang="ja-JP" altLang="en-US" sz="12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の標準表示時間（</a:t>
                      </a:r>
                      <a:r>
                        <a:rPr kumimoji="1" lang="en-US" altLang="ja-JP" sz="12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5〜300 </a:t>
                      </a:r>
                      <a:r>
                        <a:rPr kumimoji="1" lang="ja-JP" altLang="en-US" sz="12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秒）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29314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en-US" altLang="ja-JP" sz="1200" b="1">
                          <a:solidFill>
                            <a:srgbClr val="1B2430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Windows </a:t>
                      </a:r>
                      <a:r>
                        <a:rPr kumimoji="1" lang="ja-JP" altLang="en-US" sz="1200" b="1">
                          <a:solidFill>
                            <a:srgbClr val="1B2430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起動時に自動起動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en-US" altLang="ja-JP" sz="12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ON </a:t>
                      </a:r>
                      <a:r>
                        <a:rPr kumimoji="1" lang="ja-JP" altLang="en-US" sz="12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にすると </a:t>
                      </a:r>
                      <a:r>
                        <a:rPr kumimoji="1" lang="en-US" altLang="ja-JP" sz="12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PC </a:t>
                      </a:r>
                      <a:r>
                        <a:rPr kumimoji="1" lang="ja-JP" altLang="en-US" sz="12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起動・ログオン後にアプリが自動で立ち上がる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95129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200" b="1">
                          <a:solidFill>
                            <a:srgbClr val="1B2430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アプリ終了時刻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2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毎日、指定時刻にアプリを終了する（例：</a:t>
                      </a:r>
                      <a:r>
                        <a:rPr kumimoji="1" lang="en-US" altLang="ja-JP" sz="12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18:00</a:t>
                      </a:r>
                      <a:r>
                        <a:rPr kumimoji="1" lang="ja-JP" altLang="en-US" sz="12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）。無効にすれば終了しない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7235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en-US" altLang="ja-JP" sz="1200" b="1">
                          <a:solidFill>
                            <a:srgbClr val="1B2430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PC </a:t>
                      </a:r>
                      <a:r>
                        <a:rPr kumimoji="1" lang="ja-JP" altLang="en-US" sz="1200" b="1">
                          <a:solidFill>
                            <a:srgbClr val="1B2430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電源オフ時刻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2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毎日、指定時刻に </a:t>
                      </a:r>
                      <a:r>
                        <a:rPr kumimoji="1" lang="en-US" altLang="ja-JP" sz="12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PC </a:t>
                      </a:r>
                      <a:r>
                        <a:rPr kumimoji="1" lang="ja-JP" altLang="en-US" sz="12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の電源を切る（例：</a:t>
                      </a:r>
                      <a:r>
                        <a:rPr kumimoji="1" lang="en-US" altLang="ja-JP" sz="12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18:03</a:t>
                      </a:r>
                      <a:r>
                        <a:rPr kumimoji="1" lang="ja-JP" altLang="en-US" sz="12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）。無効にすれば電源オフしない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86520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200" b="1">
                          <a:solidFill>
                            <a:srgbClr val="1B2430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復帰不能時メッセージ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2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すべてのファイルが表示できないときに全画面へ出す文言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467869"/>
                  </a:ext>
                </a:extLst>
              </a:tr>
            </a:tbl>
          </a:graphicData>
        </a:graphic>
      </p:graphicFrame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F340E7A-320A-7DB4-D6DC-07CA41247011}"/>
              </a:ext>
            </a:extLst>
          </p:cNvPr>
          <p:cNvSpPr/>
          <p:nvPr/>
        </p:nvSpPr>
        <p:spPr>
          <a:xfrm>
            <a:off x="812800" y="5638800"/>
            <a:ext cx="10566400" cy="635000"/>
          </a:xfrm>
          <a:prstGeom prst="roundRect">
            <a:avLst>
              <a:gd name="adj" fmla="val 12000"/>
            </a:avLst>
          </a:prstGeom>
          <a:solidFill>
            <a:srgbClr val="E9F0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5608598-9FDA-9A19-44F7-F49FC8009CAF}"/>
              </a:ext>
            </a:extLst>
          </p:cNvPr>
          <p:cNvSpPr/>
          <p:nvPr/>
        </p:nvSpPr>
        <p:spPr>
          <a:xfrm>
            <a:off x="812800" y="5638800"/>
            <a:ext cx="50800" cy="6350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C7DB01A-5444-758E-606D-DC2E4EA11EE3}"/>
              </a:ext>
            </a:extLst>
          </p:cNvPr>
          <p:cNvSpPr txBox="1"/>
          <p:nvPr/>
        </p:nvSpPr>
        <p:spPr>
          <a:xfrm>
            <a:off x="1092200" y="5638800"/>
            <a:ext cx="1342136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200" b="1">
                <a:solidFill>
                  <a:srgbClr val="2563E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時刻の入力形式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943BB48-80B0-2CA0-DF78-79E987E541A8}"/>
              </a:ext>
            </a:extLst>
          </p:cNvPr>
          <p:cNvSpPr txBox="1"/>
          <p:nvPr/>
        </p:nvSpPr>
        <p:spPr>
          <a:xfrm>
            <a:off x="2434336" y="5638800"/>
            <a:ext cx="8665464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HH:mm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（</a:t>
            </a: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24 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時間制）で入力します。午後 </a:t>
            </a: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6 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時は </a:t>
            </a: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18:00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、午前 </a:t>
            </a: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9 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時 </a:t>
            </a: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30 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分は </a:t>
            </a: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09:30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。ライセンス・アクセスキー・ログフォルダは次のスライド。</a:t>
            </a:r>
          </a:p>
        </p:txBody>
      </p:sp>
    </p:spTree>
    <p:extLst>
      <p:ext uri="{BB962C8B-B14F-4D97-AF65-F5344CB8AC3E}">
        <p14:creationId xmlns:p14="http://schemas.microsoft.com/office/powerpoint/2010/main" val="4014140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2E98CF9-16EA-0BC8-42F0-F0EA65702B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ADF0D66-FD47-C4F4-95B0-D34444B01D71}"/>
              </a:ext>
            </a:extLst>
          </p:cNvPr>
          <p:cNvSpPr/>
          <p:nvPr/>
        </p:nvSpPr>
        <p:spPr>
          <a:xfrm>
            <a:off x="812800" y="5842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1F3FB7F-4718-81D7-BA4D-2EB05B6644D6}"/>
              </a:ext>
            </a:extLst>
          </p:cNvPr>
          <p:cNvSpPr txBox="1"/>
          <p:nvPr/>
        </p:nvSpPr>
        <p:spPr>
          <a:xfrm>
            <a:off x="1028700" y="5715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1050" b="1">
                <a:solidFill>
                  <a:srgbClr val="2563E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FOR ADMINISTRATOR</a:t>
            </a:r>
            <a:endParaRPr kumimoji="1" lang="ja-JP" altLang="en-US" sz="1050" b="1">
              <a:solidFill>
                <a:srgbClr val="2563EB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4496143-695E-AFA9-AAD6-A3BC009597AC}"/>
              </a:ext>
            </a:extLst>
          </p:cNvPr>
          <p:cNvSpPr txBox="1"/>
          <p:nvPr/>
        </p:nvSpPr>
        <p:spPr>
          <a:xfrm>
            <a:off x="1028700" y="774700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27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ライセンスとアクセスキー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5F698C0-85CF-8816-A02A-96A46C2CA314}"/>
              </a:ext>
            </a:extLst>
          </p:cNvPr>
          <p:cNvSpPr/>
          <p:nvPr/>
        </p:nvSpPr>
        <p:spPr>
          <a:xfrm>
            <a:off x="812800" y="1498600"/>
            <a:ext cx="10566400" cy="12700"/>
          </a:xfrm>
          <a:prstGeom prst="rect">
            <a:avLst/>
          </a:prstGeom>
          <a:solidFill>
            <a:srgbClr val="DEE5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AFC7D16-B7B3-8600-8597-614F5F38EB3D}"/>
              </a:ext>
            </a:extLst>
          </p:cNvPr>
          <p:cNvSpPr/>
          <p:nvPr/>
        </p:nvSpPr>
        <p:spPr>
          <a:xfrm>
            <a:off x="10006203" y="736600"/>
            <a:ext cx="1372997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F7F33B7-424E-CE7B-B505-E468B313A30E}"/>
              </a:ext>
            </a:extLst>
          </p:cNvPr>
          <p:cNvSpPr txBox="1"/>
          <p:nvPr/>
        </p:nvSpPr>
        <p:spPr>
          <a:xfrm>
            <a:off x="10006203" y="736600"/>
            <a:ext cx="1372997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ja-JP" altLang="en-US" sz="115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システム管理者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9E19EAF-B500-EB85-349A-C37B9E5B8D95}"/>
              </a:ext>
            </a:extLst>
          </p:cNvPr>
          <p:cNvSpPr txBox="1"/>
          <p:nvPr/>
        </p:nvSpPr>
        <p:spPr>
          <a:xfrm>
            <a:off x="812800" y="63754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簡易デジタルサイネージ ｜ 操作ガイド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B77E85F-9773-6E34-28DD-D012E51D2608}"/>
              </a:ext>
            </a:extLst>
          </p:cNvPr>
          <p:cNvSpPr txBox="1"/>
          <p:nvPr/>
        </p:nvSpPr>
        <p:spPr>
          <a:xfrm>
            <a:off x="10109200" y="63754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kumimoji="1" lang="en-US" altLang="ja-JP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12</a:t>
            </a:r>
            <a:endParaRPr kumimoji="1" lang="ja-JP" altLang="en-US" sz="900">
              <a:solidFill>
                <a:srgbClr val="8794A8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F986AB4-381A-7A4D-F16D-AF2712E8D668}"/>
              </a:ext>
            </a:extLst>
          </p:cNvPr>
          <p:cNvSpPr/>
          <p:nvPr/>
        </p:nvSpPr>
        <p:spPr>
          <a:xfrm>
            <a:off x="812800" y="1905000"/>
            <a:ext cx="5130800" cy="2946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E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A5ADDD14-F1AC-3329-CE84-7E0C75123D0D}"/>
              </a:ext>
            </a:extLst>
          </p:cNvPr>
          <p:cNvSpPr/>
          <p:nvPr/>
        </p:nvSpPr>
        <p:spPr>
          <a:xfrm>
            <a:off x="1143000" y="2209800"/>
            <a:ext cx="685800" cy="279400"/>
          </a:xfrm>
          <a:prstGeom prst="roundRect">
            <a:avLst>
              <a:gd name="adj" fmla="val 50000"/>
            </a:avLst>
          </a:prstGeom>
          <a:solidFill>
            <a:srgbClr val="E3F4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E7606C6-D228-BA17-6DBA-0617DCE0F63F}"/>
              </a:ext>
            </a:extLst>
          </p:cNvPr>
          <p:cNvSpPr txBox="1"/>
          <p:nvPr/>
        </p:nvSpPr>
        <p:spPr>
          <a:xfrm>
            <a:off x="1143000" y="2209800"/>
            <a:ext cx="685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000" b="1">
                <a:solidFill>
                  <a:srgbClr val="0F8E9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TRIAL</a:t>
            </a:r>
            <a:endParaRPr kumimoji="1" lang="ja-JP" altLang="en-US" sz="1000" b="1">
              <a:solidFill>
                <a:srgbClr val="0F8E9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25ADFFE-2594-48E7-9995-3A550065343B}"/>
              </a:ext>
            </a:extLst>
          </p:cNvPr>
          <p:cNvSpPr txBox="1"/>
          <p:nvPr/>
        </p:nvSpPr>
        <p:spPr>
          <a:xfrm>
            <a:off x="1143000" y="2641600"/>
            <a:ext cx="4470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9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初回起動から </a:t>
            </a:r>
            <a:r>
              <a:rPr kumimoji="1" lang="en-US" altLang="ja-JP" sz="19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60 </a:t>
            </a:r>
            <a:r>
              <a:rPr kumimoji="1" lang="ja-JP" altLang="en-US" sz="19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日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4F28801-2195-B741-0411-9803658542EC}"/>
              </a:ext>
            </a:extLst>
          </p:cNvPr>
          <p:cNvSpPr txBox="1"/>
          <p:nvPr/>
        </p:nvSpPr>
        <p:spPr>
          <a:xfrm>
            <a:off x="1143000" y="3175000"/>
            <a:ext cx="44704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この </a:t>
            </a: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Windows 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ユーザーで初めて起動した日から、暦日 </a:t>
            </a: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60 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日は無料です（当日を含む）。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フォルダや </a:t>
            </a: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settings.json 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を消しても、同じユーザーでは試用は延びません。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94D347C7-C23D-0277-0FDA-E5A99AB9BEC1}"/>
              </a:ext>
            </a:extLst>
          </p:cNvPr>
          <p:cNvSpPr/>
          <p:nvPr/>
        </p:nvSpPr>
        <p:spPr>
          <a:xfrm>
            <a:off x="6248400" y="1905000"/>
            <a:ext cx="5130800" cy="2946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E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68BB3660-9790-1FEB-AB95-57B03158D5D7}"/>
              </a:ext>
            </a:extLst>
          </p:cNvPr>
          <p:cNvSpPr/>
          <p:nvPr/>
        </p:nvSpPr>
        <p:spPr>
          <a:xfrm>
            <a:off x="6578600" y="2209800"/>
            <a:ext cx="1041400" cy="279400"/>
          </a:xfrm>
          <a:prstGeom prst="roundRect">
            <a:avLst>
              <a:gd name="adj" fmla="val 50000"/>
            </a:avLst>
          </a:prstGeom>
          <a:solidFill>
            <a:srgbClr val="E9F0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13C6308-7832-679E-3B8D-BB6784164317}"/>
              </a:ext>
            </a:extLst>
          </p:cNvPr>
          <p:cNvSpPr txBox="1"/>
          <p:nvPr/>
        </p:nvSpPr>
        <p:spPr>
          <a:xfrm>
            <a:off x="6578600" y="2209800"/>
            <a:ext cx="1041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000" b="1">
                <a:solidFill>
                  <a:srgbClr val="2563E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ACCESS KEY</a:t>
            </a:r>
            <a:endParaRPr kumimoji="1" lang="ja-JP" altLang="en-US" sz="1000" b="1">
              <a:solidFill>
                <a:srgbClr val="2563EB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8D09689-D032-3365-9274-0886DF847C78}"/>
              </a:ext>
            </a:extLst>
          </p:cNvPr>
          <p:cNvSpPr txBox="1"/>
          <p:nvPr/>
        </p:nvSpPr>
        <p:spPr>
          <a:xfrm>
            <a:off x="6578600" y="2641600"/>
            <a:ext cx="4470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9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届いた文字列を貼る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0DAFEF3-E223-2D62-FA48-464D7119C1A4}"/>
              </a:ext>
            </a:extLst>
          </p:cNvPr>
          <p:cNvSpPr txBox="1"/>
          <p:nvPr/>
        </p:nvSpPr>
        <p:spPr>
          <a:xfrm>
            <a:off x="6578600" y="3175000"/>
            <a:ext cx="44704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1.  Ctrl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＋</a:t>
            </a: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Shift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＋</a:t>
            </a: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 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で管理画面を開く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2.  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メールのアクセスキーをそのまま貼る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3.  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「アクセスキーを適用」を押す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BEAD0D28-1ED1-AE00-5B47-AEDE5E526788}"/>
              </a:ext>
            </a:extLst>
          </p:cNvPr>
          <p:cNvSpPr/>
          <p:nvPr/>
        </p:nvSpPr>
        <p:spPr>
          <a:xfrm>
            <a:off x="812800" y="5029200"/>
            <a:ext cx="10566400" cy="990600"/>
          </a:xfrm>
          <a:prstGeom prst="roundRect">
            <a:avLst>
              <a:gd name="adj" fmla="val 12000"/>
            </a:avLst>
          </a:prstGeom>
          <a:solidFill>
            <a:srgbClr val="FDF3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911DE79-B47C-C33B-E223-D21B7F62490F}"/>
              </a:ext>
            </a:extLst>
          </p:cNvPr>
          <p:cNvSpPr/>
          <p:nvPr/>
        </p:nvSpPr>
        <p:spPr>
          <a:xfrm>
            <a:off x="812800" y="5029200"/>
            <a:ext cx="50800" cy="990600"/>
          </a:xfrm>
          <a:prstGeom prst="rect">
            <a:avLst/>
          </a:prstGeom>
          <a:solidFill>
            <a:srgbClr val="B469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3804103-D263-F385-58BB-65D3BE704B46}"/>
              </a:ext>
            </a:extLst>
          </p:cNvPr>
          <p:cNvSpPr txBox="1"/>
          <p:nvPr/>
        </p:nvSpPr>
        <p:spPr>
          <a:xfrm>
            <a:off x="1092200" y="5029200"/>
            <a:ext cx="1497584" cy="990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200" b="1">
                <a:solidFill>
                  <a:srgbClr val="B4690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期限が切れたとき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D31D798-9383-35A0-B8FE-8179E9446049}"/>
              </a:ext>
            </a:extLst>
          </p:cNvPr>
          <p:cNvSpPr txBox="1"/>
          <p:nvPr/>
        </p:nvSpPr>
        <p:spPr>
          <a:xfrm>
            <a:off x="2589784" y="5029200"/>
            <a:ext cx="8510016" cy="990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映像は止まりません。画面の下端に「契約期限が切れています</a:t>
            </a:r>
            <a:r>
              <a:rPr kumimoji="1" lang="en-US" altLang="ja-JP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…</a:t>
            </a:r>
            <a:r>
              <a:rPr kumimoji="1" lang="ja-JP" altLang="en-US" sz="130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」と出ます。正しいキーを適用すると案内は消えます。誤ったキーでは以前の状態のままです。ログの場所も管理画面に出ます。</a:t>
            </a:r>
          </a:p>
        </p:txBody>
      </p:sp>
    </p:spTree>
    <p:extLst>
      <p:ext uri="{BB962C8B-B14F-4D97-AF65-F5344CB8AC3E}">
        <p14:creationId xmlns:p14="http://schemas.microsoft.com/office/powerpoint/2010/main" val="2397993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F59CB17-F46A-6621-3FFF-266DCBAD6E9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17F7D0D-9989-FD37-9D90-730533E119BF}"/>
              </a:ext>
            </a:extLst>
          </p:cNvPr>
          <p:cNvSpPr/>
          <p:nvPr/>
        </p:nvSpPr>
        <p:spPr>
          <a:xfrm>
            <a:off x="812800" y="5842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6198D34-6CBE-71A4-EC83-729DAB2617C4}"/>
              </a:ext>
            </a:extLst>
          </p:cNvPr>
          <p:cNvSpPr txBox="1"/>
          <p:nvPr/>
        </p:nvSpPr>
        <p:spPr>
          <a:xfrm>
            <a:off x="1028700" y="5715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1050" b="1">
                <a:solidFill>
                  <a:srgbClr val="2563E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FOR ADMINISTRATOR</a:t>
            </a:r>
            <a:endParaRPr kumimoji="1" lang="ja-JP" altLang="en-US" sz="1050" b="1">
              <a:solidFill>
                <a:srgbClr val="2563EB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833AACB-E496-1574-B4F5-85DE2B653EC3}"/>
              </a:ext>
            </a:extLst>
          </p:cNvPr>
          <p:cNvSpPr txBox="1"/>
          <p:nvPr/>
        </p:nvSpPr>
        <p:spPr>
          <a:xfrm>
            <a:off x="1028700" y="774700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27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夜に止めて、朝は自動で始める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C673787-F872-C7C4-90AF-FC6BD4CB9D03}"/>
              </a:ext>
            </a:extLst>
          </p:cNvPr>
          <p:cNvSpPr/>
          <p:nvPr/>
        </p:nvSpPr>
        <p:spPr>
          <a:xfrm>
            <a:off x="812800" y="1498600"/>
            <a:ext cx="10566400" cy="12700"/>
          </a:xfrm>
          <a:prstGeom prst="rect">
            <a:avLst/>
          </a:prstGeom>
          <a:solidFill>
            <a:srgbClr val="DEE5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94EFC4B3-881A-5769-0B0A-B704B6578082}"/>
              </a:ext>
            </a:extLst>
          </p:cNvPr>
          <p:cNvSpPr/>
          <p:nvPr/>
        </p:nvSpPr>
        <p:spPr>
          <a:xfrm>
            <a:off x="10006203" y="736600"/>
            <a:ext cx="1372997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78C46D5-224A-528C-6DBE-B50E1401AB71}"/>
              </a:ext>
            </a:extLst>
          </p:cNvPr>
          <p:cNvSpPr txBox="1"/>
          <p:nvPr/>
        </p:nvSpPr>
        <p:spPr>
          <a:xfrm>
            <a:off x="10006203" y="736600"/>
            <a:ext cx="1372997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ja-JP" altLang="en-US" sz="115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システム管理者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EDDEFF5-F42A-8909-E023-2E54074C65D6}"/>
              </a:ext>
            </a:extLst>
          </p:cNvPr>
          <p:cNvSpPr txBox="1"/>
          <p:nvPr/>
        </p:nvSpPr>
        <p:spPr>
          <a:xfrm>
            <a:off x="812800" y="63754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簡易デジタルサイネージ ｜ 操作ガイド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E5A039D-CF06-7624-E65D-3CE28E62D108}"/>
              </a:ext>
            </a:extLst>
          </p:cNvPr>
          <p:cNvSpPr txBox="1"/>
          <p:nvPr/>
        </p:nvSpPr>
        <p:spPr>
          <a:xfrm>
            <a:off x="10109200" y="63754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kumimoji="1" lang="en-US" altLang="ja-JP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</a:t>
            </a:r>
            <a:endParaRPr kumimoji="1" lang="ja-JP" altLang="en-US" sz="900">
              <a:solidFill>
                <a:srgbClr val="8794A8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6E7E0EA-DEA0-2AC9-D4BE-34BF051A1686}"/>
              </a:ext>
            </a:extLst>
          </p:cNvPr>
          <p:cNvSpPr txBox="1"/>
          <p:nvPr/>
        </p:nvSpPr>
        <p:spPr>
          <a:xfrm>
            <a:off x="812800" y="1905000"/>
            <a:ext cx="10566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スケジュール設定と </a:t>
            </a:r>
            <a:r>
              <a:rPr kumimoji="1" lang="en-US" altLang="ja-JP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Windows </a:t>
            </a:r>
            <a:r>
              <a:rPr kumimoji="1" lang="ja-JP" altLang="en-US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自動起動を組み合わせると、毎日の入切が不要になります。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76BD27B-741F-054D-A603-BC06A05630C9}"/>
              </a:ext>
            </a:extLst>
          </p:cNvPr>
          <p:cNvSpPr/>
          <p:nvPr/>
        </p:nvSpPr>
        <p:spPr>
          <a:xfrm>
            <a:off x="1320800" y="3556000"/>
            <a:ext cx="9550400" cy="25400"/>
          </a:xfrm>
          <a:prstGeom prst="rect">
            <a:avLst/>
          </a:prstGeom>
          <a:solidFill>
            <a:srgbClr val="DEE5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1B6C2B8-3F6D-FAD9-18F5-4442FAE3FD30}"/>
              </a:ext>
            </a:extLst>
          </p:cNvPr>
          <p:cNvSpPr txBox="1"/>
          <p:nvPr/>
        </p:nvSpPr>
        <p:spPr>
          <a:xfrm>
            <a:off x="812800" y="2743200"/>
            <a:ext cx="248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700" b="1">
                <a:solidFill>
                  <a:srgbClr val="2563E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18:00</a:t>
            </a:r>
            <a:endParaRPr kumimoji="1" lang="ja-JP" altLang="en-US" sz="1700" b="1">
              <a:solidFill>
                <a:srgbClr val="2563EB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263F1067-2CEF-1711-42E1-342BA90B80EF}"/>
              </a:ext>
            </a:extLst>
          </p:cNvPr>
          <p:cNvSpPr/>
          <p:nvPr/>
        </p:nvSpPr>
        <p:spPr>
          <a:xfrm>
            <a:off x="1943100" y="3454400"/>
            <a:ext cx="228600" cy="228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28D2C2E2-048A-3FD8-0C08-7EBDCB644F46}"/>
              </a:ext>
            </a:extLst>
          </p:cNvPr>
          <p:cNvSpPr/>
          <p:nvPr/>
        </p:nvSpPr>
        <p:spPr>
          <a:xfrm>
            <a:off x="812800" y="3937000"/>
            <a:ext cx="2489200" cy="1219200"/>
          </a:xfrm>
          <a:prstGeom prst="roundRect">
            <a:avLst>
              <a:gd name="adj" fmla="val 10000"/>
            </a:avLst>
          </a:prstGeom>
          <a:solidFill>
            <a:srgbClr val="E9F0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48127F7-00A6-EC8C-A90E-BF2D7AF72DC5}"/>
              </a:ext>
            </a:extLst>
          </p:cNvPr>
          <p:cNvSpPr txBox="1"/>
          <p:nvPr/>
        </p:nvSpPr>
        <p:spPr>
          <a:xfrm>
            <a:off x="1016000" y="4165600"/>
            <a:ext cx="2082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ja-JP" altLang="en-US" sz="145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アプリ終了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7DA4FFC-F439-CF14-2811-916EC3EE8B5B}"/>
              </a:ext>
            </a:extLst>
          </p:cNvPr>
          <p:cNvSpPr txBox="1"/>
          <p:nvPr/>
        </p:nvSpPr>
        <p:spPr>
          <a:xfrm>
            <a:off x="1016000" y="4521200"/>
            <a:ext cx="2082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kumimoji="1" lang="ja-JP" altLang="en-US" sz="11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サイネージ表示を終了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08DF60F-B3C8-DA4F-21D8-06D542C75EAC}"/>
              </a:ext>
            </a:extLst>
          </p:cNvPr>
          <p:cNvSpPr txBox="1"/>
          <p:nvPr/>
        </p:nvSpPr>
        <p:spPr>
          <a:xfrm>
            <a:off x="3505200" y="2743200"/>
            <a:ext cx="248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700" b="1">
                <a:solidFill>
                  <a:srgbClr val="2563E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18:03</a:t>
            </a:r>
            <a:endParaRPr kumimoji="1" lang="ja-JP" altLang="en-US" sz="1700" b="1">
              <a:solidFill>
                <a:srgbClr val="2563EB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BEDA5F76-28F8-F857-6840-C936C4BF5FCF}"/>
              </a:ext>
            </a:extLst>
          </p:cNvPr>
          <p:cNvSpPr/>
          <p:nvPr/>
        </p:nvSpPr>
        <p:spPr>
          <a:xfrm>
            <a:off x="4635500" y="3454400"/>
            <a:ext cx="228600" cy="228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6BA62396-FBA4-D992-F8AE-43062644F83B}"/>
              </a:ext>
            </a:extLst>
          </p:cNvPr>
          <p:cNvSpPr/>
          <p:nvPr/>
        </p:nvSpPr>
        <p:spPr>
          <a:xfrm>
            <a:off x="3505200" y="3937000"/>
            <a:ext cx="2489200" cy="1219200"/>
          </a:xfrm>
          <a:prstGeom prst="roundRect">
            <a:avLst>
              <a:gd name="adj" fmla="val 10000"/>
            </a:avLst>
          </a:prstGeom>
          <a:solidFill>
            <a:srgbClr val="E9F0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3A2F3CB-E5A4-6908-9B19-55BED0AB35E5}"/>
              </a:ext>
            </a:extLst>
          </p:cNvPr>
          <p:cNvSpPr txBox="1"/>
          <p:nvPr/>
        </p:nvSpPr>
        <p:spPr>
          <a:xfrm>
            <a:off x="3708400" y="4165600"/>
            <a:ext cx="2082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45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PC </a:t>
            </a:r>
            <a:r>
              <a:rPr kumimoji="1" lang="ja-JP" altLang="en-US" sz="145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電源オフ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8A4E375-807D-4C38-5E47-3B8294A8C0AD}"/>
              </a:ext>
            </a:extLst>
          </p:cNvPr>
          <p:cNvSpPr txBox="1"/>
          <p:nvPr/>
        </p:nvSpPr>
        <p:spPr>
          <a:xfrm>
            <a:off x="3708400" y="4521200"/>
            <a:ext cx="2082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kumimoji="1" lang="ja-JP" altLang="en-US" sz="11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任意。無効にもできる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CC14799-185A-70EB-A4DB-A7FFB20FCA2E}"/>
              </a:ext>
            </a:extLst>
          </p:cNvPr>
          <p:cNvSpPr txBox="1"/>
          <p:nvPr/>
        </p:nvSpPr>
        <p:spPr>
          <a:xfrm>
            <a:off x="6197600" y="2743200"/>
            <a:ext cx="248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ja-JP" altLang="en-US" sz="1700" b="1">
                <a:solidFill>
                  <a:srgbClr val="0F8E9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翌朝</a:t>
            </a: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383F67-56B0-85F7-D5CC-6677BC7D6694}"/>
              </a:ext>
            </a:extLst>
          </p:cNvPr>
          <p:cNvSpPr/>
          <p:nvPr/>
        </p:nvSpPr>
        <p:spPr>
          <a:xfrm>
            <a:off x="7327900" y="3454400"/>
            <a:ext cx="228600" cy="228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8E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3A2D0BE5-7373-CE4F-1B4D-5441C3D6EF51}"/>
              </a:ext>
            </a:extLst>
          </p:cNvPr>
          <p:cNvSpPr/>
          <p:nvPr/>
        </p:nvSpPr>
        <p:spPr>
          <a:xfrm>
            <a:off x="6197600" y="3937000"/>
            <a:ext cx="2489200" cy="1219200"/>
          </a:xfrm>
          <a:prstGeom prst="roundRect">
            <a:avLst>
              <a:gd name="adj" fmla="val 10000"/>
            </a:avLst>
          </a:prstGeom>
          <a:solidFill>
            <a:srgbClr val="E3F4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ABB7310-6EBD-C9A5-2D0B-FC40AC3B9B48}"/>
              </a:ext>
            </a:extLst>
          </p:cNvPr>
          <p:cNvSpPr txBox="1"/>
          <p:nvPr/>
        </p:nvSpPr>
        <p:spPr>
          <a:xfrm>
            <a:off x="6400800" y="4165600"/>
            <a:ext cx="2082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45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PC </a:t>
            </a:r>
            <a:r>
              <a:rPr kumimoji="1" lang="ja-JP" altLang="en-US" sz="145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起動・ログオン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108DFBC-84DA-CD24-FC8D-1D25DA27335B}"/>
              </a:ext>
            </a:extLst>
          </p:cNvPr>
          <p:cNvSpPr txBox="1"/>
          <p:nvPr/>
        </p:nvSpPr>
        <p:spPr>
          <a:xfrm>
            <a:off x="6400800" y="4521200"/>
            <a:ext cx="2082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kumimoji="1" lang="ja-JP" altLang="en-US" sz="11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出勤時や電源スケジュールで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85F6CD9-A5E3-9AAA-D521-3DB63DAA0079}"/>
              </a:ext>
            </a:extLst>
          </p:cNvPr>
          <p:cNvSpPr txBox="1"/>
          <p:nvPr/>
        </p:nvSpPr>
        <p:spPr>
          <a:xfrm>
            <a:off x="8890000" y="2743200"/>
            <a:ext cx="248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ja-JP" altLang="en-US" sz="1700" b="1">
                <a:solidFill>
                  <a:srgbClr val="0F8E9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自動</a:t>
            </a: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F926F4AA-DE0F-A3A6-0619-B105990E1E2D}"/>
              </a:ext>
            </a:extLst>
          </p:cNvPr>
          <p:cNvSpPr/>
          <p:nvPr/>
        </p:nvSpPr>
        <p:spPr>
          <a:xfrm>
            <a:off x="10020300" y="3454400"/>
            <a:ext cx="228600" cy="228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8E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C0A5FC56-B507-6383-0EE3-1BF0C29F1922}"/>
              </a:ext>
            </a:extLst>
          </p:cNvPr>
          <p:cNvSpPr/>
          <p:nvPr/>
        </p:nvSpPr>
        <p:spPr>
          <a:xfrm>
            <a:off x="8890000" y="3937000"/>
            <a:ext cx="2489200" cy="1219200"/>
          </a:xfrm>
          <a:prstGeom prst="roundRect">
            <a:avLst>
              <a:gd name="adj" fmla="val 10000"/>
            </a:avLst>
          </a:prstGeom>
          <a:solidFill>
            <a:srgbClr val="E3F4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FED3D6D-8B96-A215-762B-741D12940CA7}"/>
              </a:ext>
            </a:extLst>
          </p:cNvPr>
          <p:cNvSpPr txBox="1"/>
          <p:nvPr/>
        </p:nvSpPr>
        <p:spPr>
          <a:xfrm>
            <a:off x="9093200" y="4165600"/>
            <a:ext cx="2082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ja-JP" altLang="en-US" sz="145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サイネージ開始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2A18AC2-F012-D116-9410-29D5D7FB1582}"/>
              </a:ext>
            </a:extLst>
          </p:cNvPr>
          <p:cNvSpPr txBox="1"/>
          <p:nvPr/>
        </p:nvSpPr>
        <p:spPr>
          <a:xfrm>
            <a:off x="9093200" y="4521200"/>
            <a:ext cx="2082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kumimoji="1" lang="en-US" altLang="ja-JP" sz="11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Windows </a:t>
            </a:r>
            <a:r>
              <a:rPr kumimoji="1" lang="ja-JP" altLang="en-US" sz="11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自動起動が </a:t>
            </a:r>
            <a:r>
              <a:rPr kumimoji="1" lang="en-US" altLang="ja-JP" sz="11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ON </a:t>
            </a:r>
            <a:r>
              <a:rPr kumimoji="1" lang="ja-JP" altLang="en-US" sz="11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なら</a:t>
            </a: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F0A4B9ED-E130-9D21-22ED-E9048CD7D6C8}"/>
              </a:ext>
            </a:extLst>
          </p:cNvPr>
          <p:cNvSpPr/>
          <p:nvPr/>
        </p:nvSpPr>
        <p:spPr>
          <a:xfrm>
            <a:off x="812800" y="5435600"/>
            <a:ext cx="10566400" cy="7620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B00C4BF4-F50F-9F47-15C7-048706A8171D}"/>
              </a:ext>
            </a:extLst>
          </p:cNvPr>
          <p:cNvSpPr/>
          <p:nvPr/>
        </p:nvSpPr>
        <p:spPr>
          <a:xfrm>
            <a:off x="812800" y="5435600"/>
            <a:ext cx="50800" cy="762000"/>
          </a:xfrm>
          <a:prstGeom prst="rect">
            <a:avLst/>
          </a:prstGeom>
          <a:solidFill>
            <a:srgbClr val="8794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0C8A2953-82DF-0117-F329-3CFDCB4AE8FE}"/>
              </a:ext>
            </a:extLst>
          </p:cNvPr>
          <p:cNvSpPr txBox="1"/>
          <p:nvPr/>
        </p:nvSpPr>
        <p:spPr>
          <a:xfrm>
            <a:off x="1092200" y="5435600"/>
            <a:ext cx="551942" cy="762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150" b="1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補足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F922E86-5CF8-CC83-3758-CFFC1DF9685A}"/>
              </a:ext>
            </a:extLst>
          </p:cNvPr>
          <p:cNvSpPr txBox="1"/>
          <p:nvPr/>
        </p:nvSpPr>
        <p:spPr>
          <a:xfrm>
            <a:off x="1644142" y="5435600"/>
            <a:ext cx="9455658" cy="762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アプリ終了時刻を有効にすると、</a:t>
            </a:r>
            <a:r>
              <a:rPr kumimoji="1" lang="en-US" altLang="ja-JP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PC </a:t>
            </a: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電源オフの初期値はその </a:t>
            </a:r>
            <a:r>
              <a:rPr kumimoji="1" lang="en-US" altLang="ja-JP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 </a:t>
            </a: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分後になります（変更可）。電源オフに失敗した場合はログに記録されるため、社内の </a:t>
            </a:r>
            <a:r>
              <a:rPr kumimoji="1" lang="en-US" altLang="ja-JP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PC </a:t>
            </a: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管理ポリシーを確認してください。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852758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E35B67F-B9C7-D0F1-FBAD-8F64D0E402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D1803D0-4D00-74ED-3153-A8B577354E01}"/>
              </a:ext>
            </a:extLst>
          </p:cNvPr>
          <p:cNvSpPr/>
          <p:nvPr/>
        </p:nvSpPr>
        <p:spPr>
          <a:xfrm>
            <a:off x="812800" y="5842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BDE5BAD-E82D-86B4-8F68-7250F802A7FD}"/>
              </a:ext>
            </a:extLst>
          </p:cNvPr>
          <p:cNvSpPr txBox="1"/>
          <p:nvPr/>
        </p:nvSpPr>
        <p:spPr>
          <a:xfrm>
            <a:off x="1028700" y="5715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1050" b="1">
                <a:solidFill>
                  <a:srgbClr val="2563E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FOR ADMINISTRATOR</a:t>
            </a:r>
            <a:endParaRPr kumimoji="1" lang="ja-JP" altLang="en-US" sz="1050" b="1">
              <a:solidFill>
                <a:srgbClr val="2563EB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7FBA7CB-57CB-1C0A-6F46-379248661F73}"/>
              </a:ext>
            </a:extLst>
          </p:cNvPr>
          <p:cNvSpPr txBox="1"/>
          <p:nvPr/>
        </p:nvSpPr>
        <p:spPr>
          <a:xfrm>
            <a:off x="1028700" y="774700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27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アプリの終了とログの場所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2808615-4B89-59A3-B5A2-B21855264279}"/>
              </a:ext>
            </a:extLst>
          </p:cNvPr>
          <p:cNvSpPr/>
          <p:nvPr/>
        </p:nvSpPr>
        <p:spPr>
          <a:xfrm>
            <a:off x="812800" y="1498600"/>
            <a:ext cx="10566400" cy="12700"/>
          </a:xfrm>
          <a:prstGeom prst="rect">
            <a:avLst/>
          </a:prstGeom>
          <a:solidFill>
            <a:srgbClr val="DEE5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60EAB3F2-1234-03D8-675F-395C57E6D316}"/>
              </a:ext>
            </a:extLst>
          </p:cNvPr>
          <p:cNvSpPr/>
          <p:nvPr/>
        </p:nvSpPr>
        <p:spPr>
          <a:xfrm>
            <a:off x="10006203" y="736600"/>
            <a:ext cx="1372997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0A4E454-3915-FA80-3E41-5D6C3FA9B653}"/>
              </a:ext>
            </a:extLst>
          </p:cNvPr>
          <p:cNvSpPr txBox="1"/>
          <p:nvPr/>
        </p:nvSpPr>
        <p:spPr>
          <a:xfrm>
            <a:off x="10006203" y="736600"/>
            <a:ext cx="1372997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ja-JP" altLang="en-US" sz="115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システム管理者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56ED9D6-C574-CBC3-D0E3-7016D66D0443}"/>
              </a:ext>
            </a:extLst>
          </p:cNvPr>
          <p:cNvSpPr txBox="1"/>
          <p:nvPr/>
        </p:nvSpPr>
        <p:spPr>
          <a:xfrm>
            <a:off x="812800" y="63754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簡易デジタルサイネージ ｜ 操作ガイド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E9BCB8B-3F82-C843-6ED0-000D76E12B55}"/>
              </a:ext>
            </a:extLst>
          </p:cNvPr>
          <p:cNvSpPr txBox="1"/>
          <p:nvPr/>
        </p:nvSpPr>
        <p:spPr>
          <a:xfrm>
            <a:off x="10109200" y="63754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kumimoji="1" lang="en-US" altLang="ja-JP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14</a:t>
            </a:r>
            <a:endParaRPr kumimoji="1" lang="ja-JP" altLang="en-US" sz="900">
              <a:solidFill>
                <a:srgbClr val="8794A8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2489C0E1-41E1-E680-952D-17C18DFF793C}"/>
              </a:ext>
            </a:extLst>
          </p:cNvPr>
          <p:cNvSpPr/>
          <p:nvPr/>
        </p:nvSpPr>
        <p:spPr>
          <a:xfrm>
            <a:off x="812800" y="1905000"/>
            <a:ext cx="5130800" cy="370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1E56CF2-E05E-C3E4-E5CE-C237238998E3}"/>
              </a:ext>
            </a:extLst>
          </p:cNvPr>
          <p:cNvSpPr/>
          <p:nvPr/>
        </p:nvSpPr>
        <p:spPr>
          <a:xfrm>
            <a:off x="812800" y="1905000"/>
            <a:ext cx="5130800" cy="63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FAC5B06-1EF4-6ABE-20F9-B90EDB8FC9A3}"/>
              </a:ext>
            </a:extLst>
          </p:cNvPr>
          <p:cNvSpPr txBox="1"/>
          <p:nvPr/>
        </p:nvSpPr>
        <p:spPr>
          <a:xfrm>
            <a:off x="1143000" y="2286000"/>
            <a:ext cx="4470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9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アプリを終了する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330BE10-2796-1663-A559-F3163576AE30}"/>
              </a:ext>
            </a:extLst>
          </p:cNvPr>
          <p:cNvSpPr txBox="1"/>
          <p:nvPr/>
        </p:nvSpPr>
        <p:spPr>
          <a:xfrm>
            <a:off x="1143000" y="2870200"/>
            <a:ext cx="4470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300" b="1">
                <a:solidFill>
                  <a:srgbClr val="2563E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管理画面から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4D3994C-8BA8-0282-97A1-4666B8F86EBA}"/>
              </a:ext>
            </a:extLst>
          </p:cNvPr>
          <p:cNvSpPr txBox="1"/>
          <p:nvPr/>
        </p:nvSpPr>
        <p:spPr>
          <a:xfrm>
            <a:off x="1143000" y="3149600"/>
            <a:ext cx="4470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Ctrl </a:t>
            </a: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＋ </a:t>
            </a:r>
            <a:r>
              <a:rPr kumimoji="1" lang="en-US" altLang="ja-JP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Shift </a:t>
            </a: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＋ </a:t>
            </a:r>
            <a:r>
              <a:rPr kumimoji="1" lang="en-US" altLang="ja-JP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 →</a:t>
            </a: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「アプリを終了」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DE24B44-4356-D6E2-0CA7-60476EA04B56}"/>
              </a:ext>
            </a:extLst>
          </p:cNvPr>
          <p:cNvSpPr txBox="1"/>
          <p:nvPr/>
        </p:nvSpPr>
        <p:spPr>
          <a:xfrm>
            <a:off x="1143000" y="3683000"/>
            <a:ext cx="4470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300" b="1">
                <a:solidFill>
                  <a:srgbClr val="2563E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管理画面を閉じる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929A195-02B0-C16C-1FD4-439E77E7E829}"/>
              </a:ext>
            </a:extLst>
          </p:cNvPr>
          <p:cNvSpPr txBox="1"/>
          <p:nvPr/>
        </p:nvSpPr>
        <p:spPr>
          <a:xfrm>
            <a:off x="1143000" y="3962400"/>
            <a:ext cx="4470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管理画面の </a:t>
            </a:r>
            <a:r>
              <a:rPr kumimoji="1" lang="en-US" altLang="ja-JP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× </a:t>
            </a: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ボタンで閉じるとアプリも終了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FB801E4-D3CA-4E0D-FD73-D7BB41D9FE30}"/>
              </a:ext>
            </a:extLst>
          </p:cNvPr>
          <p:cNvSpPr txBox="1"/>
          <p:nvPr/>
        </p:nvSpPr>
        <p:spPr>
          <a:xfrm>
            <a:off x="1143000" y="4495800"/>
            <a:ext cx="4470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300" b="1">
                <a:solidFill>
                  <a:srgbClr val="2563E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スケジュール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570ECB2-17C0-2287-49A0-98FFDAC5523C}"/>
              </a:ext>
            </a:extLst>
          </p:cNvPr>
          <p:cNvSpPr txBox="1"/>
          <p:nvPr/>
        </p:nvSpPr>
        <p:spPr>
          <a:xfrm>
            <a:off x="1143000" y="4775200"/>
            <a:ext cx="4470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設定した終了時刻に到達すると自動で終了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F7230CC3-5C47-AAF4-A596-23FECD48DB22}"/>
              </a:ext>
            </a:extLst>
          </p:cNvPr>
          <p:cNvSpPr/>
          <p:nvPr/>
        </p:nvSpPr>
        <p:spPr>
          <a:xfrm>
            <a:off x="6248400" y="1905000"/>
            <a:ext cx="5130800" cy="370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4F64DC6-F255-E80B-29AC-548A2D8435DF}"/>
              </a:ext>
            </a:extLst>
          </p:cNvPr>
          <p:cNvSpPr/>
          <p:nvPr/>
        </p:nvSpPr>
        <p:spPr>
          <a:xfrm>
            <a:off x="6248400" y="1905000"/>
            <a:ext cx="5130800" cy="63500"/>
          </a:xfrm>
          <a:prstGeom prst="rect">
            <a:avLst/>
          </a:prstGeom>
          <a:solidFill>
            <a:srgbClr val="B469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0C2B60C-EF20-C8F4-F921-7565728E66B2}"/>
              </a:ext>
            </a:extLst>
          </p:cNvPr>
          <p:cNvSpPr txBox="1"/>
          <p:nvPr/>
        </p:nvSpPr>
        <p:spPr>
          <a:xfrm>
            <a:off x="6578600" y="2286000"/>
            <a:ext cx="4470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9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ログを確認する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309CDA8-FD42-75BD-3085-D8EB72612A50}"/>
              </a:ext>
            </a:extLst>
          </p:cNvPr>
          <p:cNvSpPr txBox="1"/>
          <p:nvPr/>
        </p:nvSpPr>
        <p:spPr>
          <a:xfrm>
            <a:off x="6578600" y="2743200"/>
            <a:ext cx="4470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2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表示に問題があるときは、管理者がログを確認できます。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A638C7A-3143-4734-7D44-F4B3AA6FA082}"/>
              </a:ext>
            </a:extLst>
          </p:cNvPr>
          <p:cNvSpPr/>
          <p:nvPr/>
        </p:nvSpPr>
        <p:spPr>
          <a:xfrm>
            <a:off x="6578600" y="3175000"/>
            <a:ext cx="38100" cy="508000"/>
          </a:xfrm>
          <a:prstGeom prst="rect">
            <a:avLst/>
          </a:prstGeom>
          <a:solidFill>
            <a:srgbClr val="FDF3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157EE14-1EF4-2556-7A65-53D12F16E12E}"/>
              </a:ext>
            </a:extLst>
          </p:cNvPr>
          <p:cNvSpPr txBox="1"/>
          <p:nvPr/>
        </p:nvSpPr>
        <p:spPr>
          <a:xfrm>
            <a:off x="6781800" y="3124200"/>
            <a:ext cx="4470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150" b="1">
                <a:solidFill>
                  <a:srgbClr val="B4690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場所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50D6A31-63E0-4D81-27DF-80D8CF887BEE}"/>
              </a:ext>
            </a:extLst>
          </p:cNvPr>
          <p:cNvSpPr txBox="1"/>
          <p:nvPr/>
        </p:nvSpPr>
        <p:spPr>
          <a:xfrm>
            <a:off x="6781800" y="3378200"/>
            <a:ext cx="4267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監視フォルダと同じ階層の </a:t>
            </a:r>
            <a:r>
              <a:rPr kumimoji="1" lang="en-US" altLang="ja-JP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logs </a:t>
            </a: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フォルダ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E98C637-13AC-D819-C188-A3DE794618AF}"/>
              </a:ext>
            </a:extLst>
          </p:cNvPr>
          <p:cNvSpPr/>
          <p:nvPr/>
        </p:nvSpPr>
        <p:spPr>
          <a:xfrm>
            <a:off x="6578600" y="3886200"/>
            <a:ext cx="38100" cy="508000"/>
          </a:xfrm>
          <a:prstGeom prst="rect">
            <a:avLst/>
          </a:prstGeom>
          <a:solidFill>
            <a:srgbClr val="FDF3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56BF1A62-1127-202E-3177-2B4AFE4E4511}"/>
              </a:ext>
            </a:extLst>
          </p:cNvPr>
          <p:cNvSpPr txBox="1"/>
          <p:nvPr/>
        </p:nvSpPr>
        <p:spPr>
          <a:xfrm>
            <a:off x="6781800" y="3835400"/>
            <a:ext cx="4470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150" b="1">
                <a:solidFill>
                  <a:srgbClr val="B4690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例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BF8A218-F199-FE46-8031-0FCBA20533C4}"/>
              </a:ext>
            </a:extLst>
          </p:cNvPr>
          <p:cNvSpPr txBox="1"/>
          <p:nvPr/>
        </p:nvSpPr>
        <p:spPr>
          <a:xfrm>
            <a:off x="6781800" y="4089400"/>
            <a:ext cx="4267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監視フォルダが </a:t>
            </a:r>
            <a:r>
              <a:rPr kumimoji="1" lang="en-US" altLang="ja-JP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D:\Signage → </a:t>
            </a: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ログは </a:t>
            </a:r>
            <a:r>
              <a:rPr kumimoji="1" lang="en-US" altLang="ja-JP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D:\logs</a:t>
            </a:r>
            <a:endParaRPr kumimoji="1" lang="ja-JP" altLang="en-US" sz="1250">
              <a:solidFill>
                <a:srgbClr val="465263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C787C439-5CBD-D619-07F6-731653E61BF4}"/>
              </a:ext>
            </a:extLst>
          </p:cNvPr>
          <p:cNvSpPr/>
          <p:nvPr/>
        </p:nvSpPr>
        <p:spPr>
          <a:xfrm>
            <a:off x="6578600" y="4597400"/>
            <a:ext cx="38100" cy="508000"/>
          </a:xfrm>
          <a:prstGeom prst="rect">
            <a:avLst/>
          </a:prstGeom>
          <a:solidFill>
            <a:srgbClr val="FDF3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73E5A99-DA50-22B6-032E-FF257DC04628}"/>
              </a:ext>
            </a:extLst>
          </p:cNvPr>
          <p:cNvSpPr txBox="1"/>
          <p:nvPr/>
        </p:nvSpPr>
        <p:spPr>
          <a:xfrm>
            <a:off x="6781800" y="4546600"/>
            <a:ext cx="4470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150" b="1">
                <a:solidFill>
                  <a:srgbClr val="B4690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保存期間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1098AC0A-B148-A5A3-520C-4AF1D190723B}"/>
              </a:ext>
            </a:extLst>
          </p:cNvPr>
          <p:cNvSpPr txBox="1"/>
          <p:nvPr/>
        </p:nvSpPr>
        <p:spPr>
          <a:xfrm>
            <a:off x="6781800" y="4800600"/>
            <a:ext cx="4267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7 </a:t>
            </a: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日間（古いログは自動削除）</a:t>
            </a:r>
          </a:p>
        </p:txBody>
      </p:sp>
    </p:spTree>
    <p:extLst>
      <p:ext uri="{BB962C8B-B14F-4D97-AF65-F5344CB8AC3E}">
        <p14:creationId xmlns:p14="http://schemas.microsoft.com/office/powerpoint/2010/main" val="3223267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64B94BE-F395-FDC8-8DCE-83212D4A1D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BC4DA53-5319-345F-B4B2-DF03DCE22394}"/>
              </a:ext>
            </a:extLst>
          </p:cNvPr>
          <p:cNvSpPr/>
          <p:nvPr/>
        </p:nvSpPr>
        <p:spPr>
          <a:xfrm>
            <a:off x="812800" y="5842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9153FA0-1DD9-9BE0-D4B1-CA444AB92526}"/>
              </a:ext>
            </a:extLst>
          </p:cNvPr>
          <p:cNvSpPr txBox="1"/>
          <p:nvPr/>
        </p:nvSpPr>
        <p:spPr>
          <a:xfrm>
            <a:off x="1028700" y="5715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1050" b="1">
                <a:solidFill>
                  <a:srgbClr val="2563E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FAQ</a:t>
            </a:r>
            <a:endParaRPr kumimoji="1" lang="ja-JP" altLang="en-US" sz="1050" b="1">
              <a:solidFill>
                <a:srgbClr val="2563EB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81480BF-1DD4-7466-2A00-E6498DCF1801}"/>
              </a:ext>
            </a:extLst>
          </p:cNvPr>
          <p:cNvSpPr txBox="1"/>
          <p:nvPr/>
        </p:nvSpPr>
        <p:spPr>
          <a:xfrm>
            <a:off x="1028700" y="774700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27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よくある質問（</a:t>
            </a:r>
            <a:r>
              <a:rPr kumimoji="1" lang="en-US" altLang="ja-JP" sz="27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1/3</a:t>
            </a:r>
            <a:r>
              <a:rPr kumimoji="1" lang="ja-JP" altLang="en-US" sz="27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C72488A-CA74-39E3-B37A-03C4A09A2764}"/>
              </a:ext>
            </a:extLst>
          </p:cNvPr>
          <p:cNvSpPr/>
          <p:nvPr/>
        </p:nvSpPr>
        <p:spPr>
          <a:xfrm>
            <a:off x="812800" y="1498600"/>
            <a:ext cx="10566400" cy="12700"/>
          </a:xfrm>
          <a:prstGeom prst="rect">
            <a:avLst/>
          </a:prstGeom>
          <a:solidFill>
            <a:srgbClr val="DEE5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88085D-FD51-4C48-A044-E77A717B198C}"/>
              </a:ext>
            </a:extLst>
          </p:cNvPr>
          <p:cNvSpPr txBox="1"/>
          <p:nvPr/>
        </p:nvSpPr>
        <p:spPr>
          <a:xfrm>
            <a:off x="812800" y="63754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簡易デジタルサイネージ ｜ 操作ガイド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2023451-91FE-8E13-D3C1-006DC13C42EF}"/>
              </a:ext>
            </a:extLst>
          </p:cNvPr>
          <p:cNvSpPr txBox="1"/>
          <p:nvPr/>
        </p:nvSpPr>
        <p:spPr>
          <a:xfrm>
            <a:off x="10109200" y="63754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kumimoji="1" lang="en-US" altLang="ja-JP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15</a:t>
            </a:r>
            <a:endParaRPr kumimoji="1" lang="ja-JP" altLang="en-US" sz="900">
              <a:solidFill>
                <a:srgbClr val="8794A8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A0A156F0-1FA3-33B2-B30D-58908B0A54D1}"/>
              </a:ext>
            </a:extLst>
          </p:cNvPr>
          <p:cNvSpPr/>
          <p:nvPr/>
        </p:nvSpPr>
        <p:spPr>
          <a:xfrm>
            <a:off x="812800" y="1930400"/>
            <a:ext cx="10566400" cy="1168400"/>
          </a:xfrm>
          <a:prstGeom prst="roundRect">
            <a:avLst>
              <a:gd name="adj" fmla="val 16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984F2A18-6FC5-E87E-21FF-96750984BAA3}"/>
              </a:ext>
            </a:extLst>
          </p:cNvPr>
          <p:cNvSpPr/>
          <p:nvPr/>
        </p:nvSpPr>
        <p:spPr>
          <a:xfrm>
            <a:off x="1092200" y="2184400"/>
            <a:ext cx="381000" cy="3810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553EEB6-0996-4009-1078-6D1F199D1B12}"/>
              </a:ext>
            </a:extLst>
          </p:cNvPr>
          <p:cNvSpPr txBox="1"/>
          <p:nvPr/>
        </p:nvSpPr>
        <p:spPr>
          <a:xfrm>
            <a:off x="1092200" y="2184400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4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Q</a:t>
            </a:r>
            <a:endParaRPr kumimoji="1" lang="ja-JP" altLang="en-US" sz="1400" b="1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C2FE65A-7554-FE93-75A7-6951382C9749}"/>
              </a:ext>
            </a:extLst>
          </p:cNvPr>
          <p:cNvSpPr txBox="1"/>
          <p:nvPr/>
        </p:nvSpPr>
        <p:spPr>
          <a:xfrm>
            <a:off x="1651000" y="2159000"/>
            <a:ext cx="9347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45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ファイルを入れたのに、すぐ変わりません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DE22594-0A58-76D1-A4B1-77E1AB64EEE6}"/>
              </a:ext>
            </a:extLst>
          </p:cNvPr>
          <p:cNvSpPr txBox="1"/>
          <p:nvPr/>
        </p:nvSpPr>
        <p:spPr>
          <a:xfrm>
            <a:off x="1651000" y="2501900"/>
            <a:ext cx="9347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いま表示中のスライドが終わるまで待ちます。動画の場合は再生が完了するまで切り替わりません。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509E949C-7BC7-9A62-3137-178B1698DEAA}"/>
              </a:ext>
            </a:extLst>
          </p:cNvPr>
          <p:cNvSpPr/>
          <p:nvPr/>
        </p:nvSpPr>
        <p:spPr>
          <a:xfrm>
            <a:off x="812800" y="3251200"/>
            <a:ext cx="10566400" cy="1168400"/>
          </a:xfrm>
          <a:prstGeom prst="roundRect">
            <a:avLst>
              <a:gd name="adj" fmla="val 16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FAB38D22-2B7C-9707-B113-6465D4D883D5}"/>
              </a:ext>
            </a:extLst>
          </p:cNvPr>
          <p:cNvSpPr/>
          <p:nvPr/>
        </p:nvSpPr>
        <p:spPr>
          <a:xfrm>
            <a:off x="1092200" y="3505200"/>
            <a:ext cx="381000" cy="3810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E79CBC7-3B6F-5DA5-5AF4-258FFBFD1491}"/>
              </a:ext>
            </a:extLst>
          </p:cNvPr>
          <p:cNvSpPr txBox="1"/>
          <p:nvPr/>
        </p:nvSpPr>
        <p:spPr>
          <a:xfrm>
            <a:off x="1092200" y="3505200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4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Q</a:t>
            </a:r>
            <a:endParaRPr kumimoji="1" lang="ja-JP" altLang="en-US" sz="1400" b="1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C3E27D3-989F-A42F-8879-0ED33CA1BA27}"/>
              </a:ext>
            </a:extLst>
          </p:cNvPr>
          <p:cNvSpPr txBox="1"/>
          <p:nvPr/>
        </p:nvSpPr>
        <p:spPr>
          <a:xfrm>
            <a:off x="1651000" y="3479800"/>
            <a:ext cx="9347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45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サブフォルダに入れたファイルが表示されません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1E940BE-70EA-0D89-56C5-F1FE0A0F9193}"/>
              </a:ext>
            </a:extLst>
          </p:cNvPr>
          <p:cNvSpPr txBox="1"/>
          <p:nvPr/>
        </p:nvSpPr>
        <p:spPr>
          <a:xfrm>
            <a:off x="1651000" y="3822700"/>
            <a:ext cx="9347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監視フォルダの直下だけが対象です。ファイルを一つ上のフォルダへ移動してください。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ACD69C43-C304-82BD-2DD5-85AB569950E1}"/>
              </a:ext>
            </a:extLst>
          </p:cNvPr>
          <p:cNvSpPr/>
          <p:nvPr/>
        </p:nvSpPr>
        <p:spPr>
          <a:xfrm>
            <a:off x="812800" y="4572000"/>
            <a:ext cx="10566400" cy="1168400"/>
          </a:xfrm>
          <a:prstGeom prst="roundRect">
            <a:avLst>
              <a:gd name="adj" fmla="val 16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8AA582AA-37C6-6A5A-B0E6-BBB3401459FE}"/>
              </a:ext>
            </a:extLst>
          </p:cNvPr>
          <p:cNvSpPr/>
          <p:nvPr/>
        </p:nvSpPr>
        <p:spPr>
          <a:xfrm>
            <a:off x="1092200" y="4826000"/>
            <a:ext cx="381000" cy="3810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1995A72-DD33-3D87-33B6-6CC2B5DEC3D8}"/>
              </a:ext>
            </a:extLst>
          </p:cNvPr>
          <p:cNvSpPr txBox="1"/>
          <p:nvPr/>
        </p:nvSpPr>
        <p:spPr>
          <a:xfrm>
            <a:off x="1092200" y="4826000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4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Q</a:t>
            </a:r>
            <a:endParaRPr kumimoji="1" lang="ja-JP" altLang="en-US" sz="1400" b="1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A96FD06-AC13-2A0A-1780-E6CF00CB9E7F}"/>
              </a:ext>
            </a:extLst>
          </p:cNvPr>
          <p:cNvSpPr txBox="1"/>
          <p:nvPr/>
        </p:nvSpPr>
        <p:spPr>
          <a:xfrm>
            <a:off x="1651000" y="4800600"/>
            <a:ext cx="9347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45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管理画面が開けません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F8836A3-6ECB-5099-6BAD-2D7D6AE5F312}"/>
              </a:ext>
            </a:extLst>
          </p:cNvPr>
          <p:cNvSpPr txBox="1"/>
          <p:nvPr/>
        </p:nvSpPr>
        <p:spPr>
          <a:xfrm>
            <a:off x="1651000" y="5143500"/>
            <a:ext cx="9347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kumimoji="1" lang="en-US" altLang="ja-JP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Ctrl</a:t>
            </a: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</a:t>
            </a:r>
            <a:r>
              <a:rPr kumimoji="1" lang="en-US" altLang="ja-JP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Shift</a:t>
            </a: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</a:t>
            </a:r>
            <a:r>
              <a:rPr kumimoji="1" lang="en-US" altLang="ja-JP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 </a:t>
            </a: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を同時に押してください。キオスク表示の画面がアクティブな状態で試すのがポイントです。</a:t>
            </a:r>
          </a:p>
        </p:txBody>
      </p:sp>
    </p:spTree>
    <p:extLst>
      <p:ext uri="{BB962C8B-B14F-4D97-AF65-F5344CB8AC3E}">
        <p14:creationId xmlns:p14="http://schemas.microsoft.com/office/powerpoint/2010/main" val="467407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59E54DC-4F57-B091-EBF3-C3AFE56086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270C320-C9FD-65DF-99CC-4EBFBD255C0A}"/>
              </a:ext>
            </a:extLst>
          </p:cNvPr>
          <p:cNvSpPr/>
          <p:nvPr/>
        </p:nvSpPr>
        <p:spPr>
          <a:xfrm>
            <a:off x="812800" y="5842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9455229-ACB5-8789-6BDE-90CCE9133381}"/>
              </a:ext>
            </a:extLst>
          </p:cNvPr>
          <p:cNvSpPr txBox="1"/>
          <p:nvPr/>
        </p:nvSpPr>
        <p:spPr>
          <a:xfrm>
            <a:off x="1028700" y="5715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1050" b="1">
                <a:solidFill>
                  <a:srgbClr val="2563E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FAQ</a:t>
            </a:r>
            <a:endParaRPr kumimoji="1" lang="ja-JP" altLang="en-US" sz="1050" b="1">
              <a:solidFill>
                <a:srgbClr val="2563EB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04D57C-8270-D4C8-E66A-4E7AD1C6A4A4}"/>
              </a:ext>
            </a:extLst>
          </p:cNvPr>
          <p:cNvSpPr txBox="1"/>
          <p:nvPr/>
        </p:nvSpPr>
        <p:spPr>
          <a:xfrm>
            <a:off x="1028700" y="774700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27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よくある質問（</a:t>
            </a:r>
            <a:r>
              <a:rPr kumimoji="1" lang="en-US" altLang="ja-JP" sz="27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2/3</a:t>
            </a:r>
            <a:r>
              <a:rPr kumimoji="1" lang="ja-JP" altLang="en-US" sz="27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01E4F2A-C827-E97E-6E8F-A0FE3C662F17}"/>
              </a:ext>
            </a:extLst>
          </p:cNvPr>
          <p:cNvSpPr/>
          <p:nvPr/>
        </p:nvSpPr>
        <p:spPr>
          <a:xfrm>
            <a:off x="812800" y="1498600"/>
            <a:ext cx="10566400" cy="12700"/>
          </a:xfrm>
          <a:prstGeom prst="rect">
            <a:avLst/>
          </a:prstGeom>
          <a:solidFill>
            <a:srgbClr val="DEE5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D824D1B-5CF7-2254-64EA-0B05DD0491F1}"/>
              </a:ext>
            </a:extLst>
          </p:cNvPr>
          <p:cNvSpPr txBox="1"/>
          <p:nvPr/>
        </p:nvSpPr>
        <p:spPr>
          <a:xfrm>
            <a:off x="812800" y="63754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簡易デジタルサイネージ ｜ 操作ガイド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1ECA7FD-EB3E-4DF3-9F92-86377439748B}"/>
              </a:ext>
            </a:extLst>
          </p:cNvPr>
          <p:cNvSpPr txBox="1"/>
          <p:nvPr/>
        </p:nvSpPr>
        <p:spPr>
          <a:xfrm>
            <a:off x="10109200" y="63754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kumimoji="1" lang="en-US" altLang="ja-JP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16</a:t>
            </a:r>
            <a:endParaRPr kumimoji="1" lang="ja-JP" altLang="en-US" sz="900">
              <a:solidFill>
                <a:srgbClr val="8794A8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670D7DFB-8585-365B-E730-6087042660E7}"/>
              </a:ext>
            </a:extLst>
          </p:cNvPr>
          <p:cNvSpPr/>
          <p:nvPr/>
        </p:nvSpPr>
        <p:spPr>
          <a:xfrm>
            <a:off x="812800" y="1930400"/>
            <a:ext cx="10566400" cy="1270000"/>
          </a:xfrm>
          <a:prstGeom prst="roundRect">
            <a:avLst>
              <a:gd name="adj" fmla="val 16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F9FB3F69-FB76-51B4-7231-113CF2139746}"/>
              </a:ext>
            </a:extLst>
          </p:cNvPr>
          <p:cNvSpPr/>
          <p:nvPr/>
        </p:nvSpPr>
        <p:spPr>
          <a:xfrm>
            <a:off x="1092200" y="2184400"/>
            <a:ext cx="381000" cy="3810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41C0CA1-F6B2-6486-5BDA-4165183108A3}"/>
              </a:ext>
            </a:extLst>
          </p:cNvPr>
          <p:cNvSpPr txBox="1"/>
          <p:nvPr/>
        </p:nvSpPr>
        <p:spPr>
          <a:xfrm>
            <a:off x="1092200" y="2184400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4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Q</a:t>
            </a:r>
            <a:endParaRPr kumimoji="1" lang="ja-JP" altLang="en-US" sz="1400" b="1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3FA1AD3-75D0-B247-AF32-3BAD2FF90948}"/>
              </a:ext>
            </a:extLst>
          </p:cNvPr>
          <p:cNvSpPr txBox="1"/>
          <p:nvPr/>
        </p:nvSpPr>
        <p:spPr>
          <a:xfrm>
            <a:off x="1651000" y="2159000"/>
            <a:ext cx="9347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45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画面に「表示を復旧しています」と出ます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B014598-FEE5-9B69-8713-B190E2868870}"/>
              </a:ext>
            </a:extLst>
          </p:cNvPr>
          <p:cNvSpPr txBox="1"/>
          <p:nvPr/>
        </p:nvSpPr>
        <p:spPr>
          <a:xfrm>
            <a:off x="1651000" y="2501900"/>
            <a:ext cx="93472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フォルダ内のファイルがすべて読み込めない状態です。管理画面を開くと「壊れたファイル」ダイアログで対象ファイル名が出ます。文言は「復帰不能時メッセージ」で変更できます。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25527E7C-23AF-79DA-9B17-6B29F0E5955D}"/>
              </a:ext>
            </a:extLst>
          </p:cNvPr>
          <p:cNvSpPr/>
          <p:nvPr/>
        </p:nvSpPr>
        <p:spPr>
          <a:xfrm>
            <a:off x="812800" y="3352800"/>
            <a:ext cx="10566400" cy="1168400"/>
          </a:xfrm>
          <a:prstGeom prst="roundRect">
            <a:avLst>
              <a:gd name="adj" fmla="val 16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BD5B7428-12D5-DA3B-AC8F-3BE8B3C05832}"/>
              </a:ext>
            </a:extLst>
          </p:cNvPr>
          <p:cNvSpPr/>
          <p:nvPr/>
        </p:nvSpPr>
        <p:spPr>
          <a:xfrm>
            <a:off x="1092200" y="3606800"/>
            <a:ext cx="381000" cy="3810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C6A4DB0-C862-9220-F60E-4BB7BD324980}"/>
              </a:ext>
            </a:extLst>
          </p:cNvPr>
          <p:cNvSpPr txBox="1"/>
          <p:nvPr/>
        </p:nvSpPr>
        <p:spPr>
          <a:xfrm>
            <a:off x="1092200" y="3606800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4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Q</a:t>
            </a:r>
            <a:endParaRPr kumimoji="1" lang="ja-JP" altLang="en-US" sz="1400" b="1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183BB42-9474-2389-5EF3-D3E698822B51}"/>
              </a:ext>
            </a:extLst>
          </p:cNvPr>
          <p:cNvSpPr txBox="1"/>
          <p:nvPr/>
        </p:nvSpPr>
        <p:spPr>
          <a:xfrm>
            <a:off x="1651000" y="3581400"/>
            <a:ext cx="9347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45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壊れたファイルがあるか知りたい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37194E2-5814-DDEA-2328-9D6AD0D64BF7}"/>
              </a:ext>
            </a:extLst>
          </p:cNvPr>
          <p:cNvSpPr txBox="1"/>
          <p:nvPr/>
        </p:nvSpPr>
        <p:spPr>
          <a:xfrm>
            <a:off x="1651000" y="3924300"/>
            <a:ext cx="9347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管理画面（</a:t>
            </a:r>
            <a:r>
              <a:rPr kumimoji="1" lang="en-US" altLang="ja-JP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Ctrl</a:t>
            </a: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＋</a:t>
            </a:r>
            <a:r>
              <a:rPr kumimoji="1" lang="en-US" altLang="ja-JP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Shift</a:t>
            </a: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＋</a:t>
            </a:r>
            <a:r>
              <a:rPr kumimoji="1" lang="en-US" altLang="ja-JP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</a:t>
            </a: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）を開くたびに、「壊れたファイル」ダイアログで対象ファイル名が出ます。再生は続き、壊れたファイルだけ飛ばします。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A842A48F-87CE-71EB-B562-EB1628649F89}"/>
              </a:ext>
            </a:extLst>
          </p:cNvPr>
          <p:cNvSpPr/>
          <p:nvPr/>
        </p:nvSpPr>
        <p:spPr>
          <a:xfrm>
            <a:off x="812800" y="4673600"/>
            <a:ext cx="10566400" cy="1270000"/>
          </a:xfrm>
          <a:prstGeom prst="roundRect">
            <a:avLst>
              <a:gd name="adj" fmla="val 16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8839D8EA-638B-D4B8-506F-7A19E3D86B3D}"/>
              </a:ext>
            </a:extLst>
          </p:cNvPr>
          <p:cNvSpPr/>
          <p:nvPr/>
        </p:nvSpPr>
        <p:spPr>
          <a:xfrm>
            <a:off x="1092200" y="4927600"/>
            <a:ext cx="381000" cy="3810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7CC7E73-E990-CF3B-C950-5899347D69CD}"/>
              </a:ext>
            </a:extLst>
          </p:cNvPr>
          <p:cNvSpPr txBox="1"/>
          <p:nvPr/>
        </p:nvSpPr>
        <p:spPr>
          <a:xfrm>
            <a:off x="1092200" y="4927600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4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Q</a:t>
            </a:r>
            <a:endParaRPr kumimoji="1" lang="ja-JP" altLang="en-US" sz="1400" b="1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C59B201-FD02-B016-6A81-BC15A6DCD8DD}"/>
              </a:ext>
            </a:extLst>
          </p:cNvPr>
          <p:cNvSpPr txBox="1"/>
          <p:nvPr/>
        </p:nvSpPr>
        <p:spPr>
          <a:xfrm>
            <a:off x="1651000" y="4902200"/>
            <a:ext cx="9347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45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複数の </a:t>
            </a:r>
            <a:r>
              <a:rPr kumimoji="1" lang="en-US" altLang="ja-JP" sz="145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PC </a:t>
            </a:r>
            <a:r>
              <a:rPr kumimoji="1" lang="ja-JP" altLang="en-US" sz="145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で同じフォルダを見せたい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04617E2-9CD5-7FEA-1AE8-F5F8617CC30C}"/>
              </a:ext>
            </a:extLst>
          </p:cNvPr>
          <p:cNvSpPr txBox="1"/>
          <p:nvPr/>
        </p:nvSpPr>
        <p:spPr>
          <a:xfrm>
            <a:off x="1651000" y="5245100"/>
            <a:ext cx="93472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各 </a:t>
            </a:r>
            <a:r>
              <a:rPr kumimoji="1" lang="en-US" altLang="ja-JP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PC </a:t>
            </a: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にアプリを入れて同じ共有フォルダを指定する運用は可能ですが、ネットワーク共有パスの正式サポートは将来拡張です。まずはローカルフォルダを推奨します。アクセス制限は導入先の共有設定に任せ、アプリでは権限管理しません。</a:t>
            </a:r>
          </a:p>
        </p:txBody>
      </p:sp>
    </p:spTree>
    <p:extLst>
      <p:ext uri="{BB962C8B-B14F-4D97-AF65-F5344CB8AC3E}">
        <p14:creationId xmlns:p14="http://schemas.microsoft.com/office/powerpoint/2010/main" val="3640073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40A33F9-1291-4D3C-4F7B-B7A84E55A3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88B5EDC-074F-0ABA-31CF-A337262E039F}"/>
              </a:ext>
            </a:extLst>
          </p:cNvPr>
          <p:cNvSpPr/>
          <p:nvPr/>
        </p:nvSpPr>
        <p:spPr>
          <a:xfrm>
            <a:off x="812800" y="5842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AAA2EB3-8FFE-ACAB-515B-E884CEA05BC8}"/>
              </a:ext>
            </a:extLst>
          </p:cNvPr>
          <p:cNvSpPr txBox="1"/>
          <p:nvPr/>
        </p:nvSpPr>
        <p:spPr>
          <a:xfrm>
            <a:off x="1028700" y="5715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1050" b="1">
                <a:solidFill>
                  <a:srgbClr val="2563E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FAQ</a:t>
            </a:r>
            <a:endParaRPr kumimoji="1" lang="ja-JP" altLang="en-US" sz="1050" b="1">
              <a:solidFill>
                <a:srgbClr val="2563EB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8E8359E-E8DB-8965-2966-B869ED858087}"/>
              </a:ext>
            </a:extLst>
          </p:cNvPr>
          <p:cNvSpPr txBox="1"/>
          <p:nvPr/>
        </p:nvSpPr>
        <p:spPr>
          <a:xfrm>
            <a:off x="1028700" y="774700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27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よくある質問（</a:t>
            </a:r>
            <a:r>
              <a:rPr kumimoji="1" lang="en-US" altLang="ja-JP" sz="27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3/3</a:t>
            </a:r>
            <a:r>
              <a:rPr kumimoji="1" lang="ja-JP" altLang="en-US" sz="27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29460E7-CB54-9CDA-3C52-BC676C5FE020}"/>
              </a:ext>
            </a:extLst>
          </p:cNvPr>
          <p:cNvSpPr/>
          <p:nvPr/>
        </p:nvSpPr>
        <p:spPr>
          <a:xfrm>
            <a:off x="812800" y="1498600"/>
            <a:ext cx="10566400" cy="12700"/>
          </a:xfrm>
          <a:prstGeom prst="rect">
            <a:avLst/>
          </a:prstGeom>
          <a:solidFill>
            <a:srgbClr val="DEE5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03A447E-A383-A6D8-7286-EF154E886D7F}"/>
              </a:ext>
            </a:extLst>
          </p:cNvPr>
          <p:cNvSpPr txBox="1"/>
          <p:nvPr/>
        </p:nvSpPr>
        <p:spPr>
          <a:xfrm>
            <a:off x="812800" y="63754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簡易デジタルサイネージ ｜ 操作ガイド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73ECC0F-4DA0-440B-09B4-15E3028FD21E}"/>
              </a:ext>
            </a:extLst>
          </p:cNvPr>
          <p:cNvSpPr txBox="1"/>
          <p:nvPr/>
        </p:nvSpPr>
        <p:spPr>
          <a:xfrm>
            <a:off x="10109200" y="63754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kumimoji="1" lang="en-US" altLang="ja-JP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17</a:t>
            </a:r>
            <a:endParaRPr kumimoji="1" lang="ja-JP" altLang="en-US" sz="900">
              <a:solidFill>
                <a:srgbClr val="8794A8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E267E79C-4155-D1B4-622A-971BB84D0F4A}"/>
              </a:ext>
            </a:extLst>
          </p:cNvPr>
          <p:cNvSpPr/>
          <p:nvPr/>
        </p:nvSpPr>
        <p:spPr>
          <a:xfrm>
            <a:off x="812800" y="1930400"/>
            <a:ext cx="10566400" cy="1168400"/>
          </a:xfrm>
          <a:prstGeom prst="roundRect">
            <a:avLst>
              <a:gd name="adj" fmla="val 16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2E3CAE49-2EBA-CE95-A32A-239B2CCA759E}"/>
              </a:ext>
            </a:extLst>
          </p:cNvPr>
          <p:cNvSpPr/>
          <p:nvPr/>
        </p:nvSpPr>
        <p:spPr>
          <a:xfrm>
            <a:off x="1092200" y="2184400"/>
            <a:ext cx="381000" cy="3810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5476035-4466-BA60-ACEF-85B37A2E6780}"/>
              </a:ext>
            </a:extLst>
          </p:cNvPr>
          <p:cNvSpPr txBox="1"/>
          <p:nvPr/>
        </p:nvSpPr>
        <p:spPr>
          <a:xfrm>
            <a:off x="1092200" y="2184400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14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Q</a:t>
            </a:r>
            <a:endParaRPr kumimoji="1" lang="ja-JP" altLang="en-US" sz="1400" b="1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1902835-840A-FD06-E3F1-732A8C0A97C8}"/>
              </a:ext>
            </a:extLst>
          </p:cNvPr>
          <p:cNvSpPr txBox="1"/>
          <p:nvPr/>
        </p:nvSpPr>
        <p:spPr>
          <a:xfrm>
            <a:off x="1651000" y="2159000"/>
            <a:ext cx="9347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45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画面の下に「契約期限が切れています」と出る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FFF4282-5BE3-6D8A-5BB9-B2A43C79006A}"/>
              </a:ext>
            </a:extLst>
          </p:cNvPr>
          <p:cNvSpPr txBox="1"/>
          <p:nvPr/>
        </p:nvSpPr>
        <p:spPr>
          <a:xfrm>
            <a:off x="1651000" y="2501900"/>
            <a:ext cx="9347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試用または契約の期限が切れています。表示はそのまま続きます。届いたアクセスキーを、管理画面（</a:t>
            </a:r>
            <a:r>
              <a:rPr kumimoji="1" lang="en-US" altLang="ja-JP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Ctrl</a:t>
            </a: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＋</a:t>
            </a:r>
            <a:r>
              <a:rPr kumimoji="1" lang="en-US" altLang="ja-JP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Shift</a:t>
            </a: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＋</a:t>
            </a:r>
            <a:r>
              <a:rPr kumimoji="1" lang="en-US" altLang="ja-JP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</a:t>
            </a:r>
            <a:r>
              <a:rPr kumimoji="1" lang="ja-JP" altLang="en-US" sz="1250">
                <a:solidFill>
                  <a:srgbClr val="465263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）に貼り付けて「アクセスキーを適用」してください。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2148527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22A2B23-FC23-2E63-253E-C722715B10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291A95D-BEEB-DD2F-3CE7-074A8BD736AB}"/>
              </a:ext>
            </a:extLst>
          </p:cNvPr>
          <p:cNvSpPr/>
          <p:nvPr/>
        </p:nvSpPr>
        <p:spPr>
          <a:xfrm>
            <a:off x="812800" y="5842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C1FE6E5-F717-E1EC-15BF-14576FF229A5}"/>
              </a:ext>
            </a:extLst>
          </p:cNvPr>
          <p:cNvSpPr txBox="1"/>
          <p:nvPr/>
        </p:nvSpPr>
        <p:spPr>
          <a:xfrm>
            <a:off x="1028700" y="5715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1050" b="1">
                <a:solidFill>
                  <a:srgbClr val="2563E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CHEAT SHEET</a:t>
            </a:r>
            <a:endParaRPr kumimoji="1" lang="ja-JP" altLang="en-US" sz="1050" b="1">
              <a:solidFill>
                <a:srgbClr val="2563EB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28FA8E9-D5AA-6776-3D34-C3AB62CC135D}"/>
              </a:ext>
            </a:extLst>
          </p:cNvPr>
          <p:cNvSpPr txBox="1"/>
          <p:nvPr/>
        </p:nvSpPr>
        <p:spPr>
          <a:xfrm>
            <a:off x="1028700" y="774700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2700" b="1">
                <a:solidFill>
                  <a:srgbClr val="1B243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操作の早見表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94BC001-0644-61F0-47AE-30B7DCBC7950}"/>
              </a:ext>
            </a:extLst>
          </p:cNvPr>
          <p:cNvSpPr/>
          <p:nvPr/>
        </p:nvSpPr>
        <p:spPr>
          <a:xfrm>
            <a:off x="812800" y="1498600"/>
            <a:ext cx="10566400" cy="12700"/>
          </a:xfrm>
          <a:prstGeom prst="rect">
            <a:avLst/>
          </a:prstGeom>
          <a:solidFill>
            <a:srgbClr val="DEE5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55E1A04-4D3F-5E93-C57A-FFEAB10ABFAB}"/>
              </a:ext>
            </a:extLst>
          </p:cNvPr>
          <p:cNvSpPr txBox="1"/>
          <p:nvPr/>
        </p:nvSpPr>
        <p:spPr>
          <a:xfrm>
            <a:off x="812800" y="63754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簡易デジタルサイネージ ｜ 操作ガイド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DADE250-B0CF-F411-6A3A-061EAACD2BF0}"/>
              </a:ext>
            </a:extLst>
          </p:cNvPr>
          <p:cNvSpPr txBox="1"/>
          <p:nvPr/>
        </p:nvSpPr>
        <p:spPr>
          <a:xfrm>
            <a:off x="10109200" y="63754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kumimoji="1" lang="en-US" altLang="ja-JP" sz="900">
                <a:solidFill>
                  <a:srgbClr val="8794A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18</a:t>
            </a:r>
            <a:endParaRPr kumimoji="1" lang="ja-JP" altLang="en-US" sz="900">
              <a:solidFill>
                <a:srgbClr val="8794A8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5C11D16-9DED-14DB-CD0B-5BEB5C12AE36}"/>
              </a:ext>
            </a:extLst>
          </p:cNvPr>
          <p:cNvSpPr txBox="1"/>
          <p:nvPr/>
        </p:nvSpPr>
        <p:spPr>
          <a:xfrm>
            <a:off x="812800" y="1930400"/>
            <a:ext cx="5130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500" b="1">
                <a:solidFill>
                  <a:srgbClr val="0F8E9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コンテンツ担当者</a:t>
            </a: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439C6BFA-54DB-5752-5D80-EB75C2F0F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921182"/>
              </p:ext>
            </p:extLst>
          </p:nvPr>
        </p:nvGraphicFramePr>
        <p:xfrm>
          <a:off x="812800" y="2336800"/>
          <a:ext cx="5130800" cy="3200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956997031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1246730259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200" b="1">
                          <a:solidFill>
                            <a:srgbClr val="FFFFFF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やりたいこと</a:t>
                      </a:r>
                    </a:p>
                  </a:txBody>
                  <a:tcPr marL="152400" marR="152400" marT="63500" marB="63500" anchor="ctr">
                    <a:lnB w="19050">
                      <a:solidFill>
                        <a:srgbClr val="0F8E92"/>
                      </a:solidFill>
                    </a:lnB>
                    <a:solidFill>
                      <a:srgbClr val="0F8E9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200" b="1">
                          <a:solidFill>
                            <a:srgbClr val="FFFFFF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操作</a:t>
                      </a:r>
                    </a:p>
                  </a:txBody>
                  <a:tcPr marL="152400" marR="152400" marT="63500" marB="63500" anchor="ctr">
                    <a:lnB w="19050">
                      <a:solidFill>
                        <a:srgbClr val="0F8E92"/>
                      </a:solidFill>
                    </a:lnB>
                    <a:solidFill>
                      <a:srgbClr val="0F8E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16102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150" b="1">
                          <a:solidFill>
                            <a:srgbClr val="1B2430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表示を追加</a:t>
                      </a:r>
                    </a:p>
                  </a:txBody>
                  <a:tcPr marL="152400" marR="152400" marT="63500" marB="63500" anchor="ctr">
                    <a:lnT w="19050">
                      <a:solidFill>
                        <a:srgbClr val="0F8E92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1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監視フォルダ直下にファイルを保存</a:t>
                      </a:r>
                    </a:p>
                  </a:txBody>
                  <a:tcPr marL="152400" marR="152400" marT="63500" marB="63500" anchor="ctr">
                    <a:lnT w="19050">
                      <a:solidFill>
                        <a:srgbClr val="0F8E92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0172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150" b="1">
                          <a:solidFill>
                            <a:srgbClr val="1B2430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表示を削除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1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監視フォルダからファイルを削除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60817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150" b="1">
                          <a:solidFill>
                            <a:srgbClr val="1B2430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表示順を変える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1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ファイル名を変更（</a:t>
                      </a:r>
                      <a:r>
                        <a:rPr kumimoji="1" lang="en-US" altLang="ja-JP" sz="11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001, 002 …</a:t>
                      </a:r>
                      <a:r>
                        <a:rPr kumimoji="1" lang="ja-JP" altLang="en-US" sz="11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）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37113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150" b="1">
                          <a:solidFill>
                            <a:srgbClr val="1B2430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表示時間を変える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1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末尾に </a:t>
                      </a:r>
                      <a:r>
                        <a:rPr kumimoji="1" lang="en-US" altLang="ja-JP" sz="11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_</a:t>
                      </a:r>
                      <a:r>
                        <a:rPr kumimoji="1" lang="ja-JP" altLang="en-US" sz="11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秒数（動画を除く）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86453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150" b="1">
                          <a:solidFill>
                            <a:srgbClr val="1B2430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再生期限を付ける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1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末尾に </a:t>
                      </a:r>
                      <a:r>
                        <a:rPr kumimoji="1" lang="en-US" altLang="ja-JP" sz="11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_20260904 </a:t>
                      </a:r>
                      <a:r>
                        <a:rPr kumimoji="1" lang="ja-JP" altLang="en-US" sz="115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のような日付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080315"/>
                  </a:ext>
                </a:extLst>
              </a:tr>
            </a:tbl>
          </a:graphicData>
        </a:graphic>
      </p:graphicFrame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5AA7BEB-7B93-92BC-B282-B944F2CBEE34}"/>
              </a:ext>
            </a:extLst>
          </p:cNvPr>
          <p:cNvSpPr txBox="1"/>
          <p:nvPr/>
        </p:nvSpPr>
        <p:spPr>
          <a:xfrm>
            <a:off x="6248400" y="1930400"/>
            <a:ext cx="5130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500" b="1">
                <a:solidFill>
                  <a:srgbClr val="2563E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システム管理者</a:t>
            </a:r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3CC24CE4-7AA7-FF5E-76BC-751BAFEFA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93270"/>
              </p:ext>
            </p:extLst>
          </p:nvPr>
        </p:nvGraphicFramePr>
        <p:xfrm>
          <a:off x="6248400" y="2336800"/>
          <a:ext cx="5130800" cy="3149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244244419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3551645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200" b="1">
                          <a:solidFill>
                            <a:srgbClr val="FFFFFF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やりたいこと</a:t>
                      </a:r>
                    </a:p>
                  </a:txBody>
                  <a:tcPr marL="152400" marR="152400" marT="63500" marB="63500" anchor="ctr">
                    <a:lnB w="19050">
                      <a:solidFill>
                        <a:srgbClr val="2563EB"/>
                      </a:solidFill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200" b="1">
                          <a:solidFill>
                            <a:srgbClr val="FFFFFF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操作</a:t>
                      </a:r>
                    </a:p>
                  </a:txBody>
                  <a:tcPr marL="152400" marR="152400" marT="63500" marB="63500" anchor="ctr">
                    <a:lnB w="19050">
                      <a:solidFill>
                        <a:srgbClr val="2563EB"/>
                      </a:solidFill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77058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100" b="1">
                          <a:solidFill>
                            <a:srgbClr val="1B2430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設定を変更</a:t>
                      </a:r>
                    </a:p>
                  </a:txBody>
                  <a:tcPr marL="152400" marR="152400" marT="63500" marB="63500" anchor="ctr">
                    <a:lnT w="19050">
                      <a:solidFill>
                        <a:srgbClr val="2563EB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en-US" altLang="ja-JP" sz="11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Ctrl</a:t>
                      </a:r>
                      <a:r>
                        <a:rPr kumimoji="1" lang="ja-JP" altLang="en-US" sz="11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＋</a:t>
                      </a:r>
                      <a:r>
                        <a:rPr kumimoji="1" lang="en-US" altLang="ja-JP" sz="11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Shift</a:t>
                      </a:r>
                      <a:r>
                        <a:rPr kumimoji="1" lang="ja-JP" altLang="en-US" sz="11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＋</a:t>
                      </a:r>
                      <a:r>
                        <a:rPr kumimoji="1" lang="en-US" altLang="ja-JP" sz="11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M →</a:t>
                      </a:r>
                      <a:r>
                        <a:rPr kumimoji="1" lang="ja-JP" altLang="en-US" sz="11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変更→「保存して設定する」</a:t>
                      </a:r>
                    </a:p>
                  </a:txBody>
                  <a:tcPr marL="152400" marR="152400" marT="63500" marB="63500" anchor="ctr">
                    <a:lnT w="19050">
                      <a:solidFill>
                        <a:srgbClr val="2563EB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1650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100" b="1">
                          <a:solidFill>
                            <a:srgbClr val="1B2430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キオスクに戻る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1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「通常モード（キオスク）に戻る」または </a:t>
                      </a:r>
                      <a:r>
                        <a:rPr kumimoji="1" lang="en-US" altLang="ja-JP" sz="11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Ctrl</a:t>
                      </a:r>
                      <a:r>
                        <a:rPr kumimoji="1" lang="ja-JP" altLang="en-US" sz="11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＋</a:t>
                      </a:r>
                      <a:r>
                        <a:rPr kumimoji="1" lang="en-US" altLang="ja-JP" sz="11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Shift</a:t>
                      </a:r>
                      <a:r>
                        <a:rPr kumimoji="1" lang="ja-JP" altLang="en-US" sz="11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＋</a:t>
                      </a:r>
                      <a:r>
                        <a:rPr kumimoji="1" lang="en-US" altLang="ja-JP" sz="11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M</a:t>
                      </a:r>
                      <a:endParaRPr kumimoji="1" lang="ja-JP" altLang="en-US" sz="1100" b="0">
                        <a:solidFill>
                          <a:srgbClr val="465263"/>
                        </a:solidFill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9885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100" b="1">
                          <a:solidFill>
                            <a:srgbClr val="1B2430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アプリを終了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1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管理画面の「アプリを終了」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44547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100" b="1">
                          <a:solidFill>
                            <a:srgbClr val="1B2430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夜に止めて朝始める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1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アプリ終了時刻・</a:t>
                      </a:r>
                      <a:r>
                        <a:rPr kumimoji="1" lang="en-US" altLang="ja-JP" sz="11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PC </a:t>
                      </a:r>
                      <a:r>
                        <a:rPr kumimoji="1" lang="ja-JP" altLang="en-US" sz="11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電源オフ時刻＋自動起動を </a:t>
                      </a:r>
                      <a:r>
                        <a:rPr kumimoji="1" lang="en-US" altLang="ja-JP" sz="11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ON</a:t>
                      </a:r>
                      <a:endParaRPr kumimoji="1" lang="ja-JP" altLang="en-US" sz="1100" b="0">
                        <a:solidFill>
                          <a:srgbClr val="465263"/>
                        </a:solidFill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02665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100" b="1">
                          <a:solidFill>
                            <a:srgbClr val="1B2430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アクセスキーを入れる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1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貼り付け →「アクセスキーを適用」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31322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100" b="1">
                          <a:solidFill>
                            <a:srgbClr val="1B2430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ログの場所を確認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kumimoji="1" lang="ja-JP" altLang="en-US" sz="1100" b="0">
                          <a:solidFill>
                            <a:srgbClr val="465263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管理画面の「ログフォルダ」</a:t>
                      </a:r>
                    </a:p>
                  </a:txBody>
                  <a:tcPr marL="152400" marR="152400" marT="63500" marB="63500" anchor="ctr">
                    <a:lnT w="9525">
                      <a:solidFill>
                        <a:srgbClr val="DEE5EF"/>
                      </a:solidFill>
                    </a:lnT>
                    <a:lnB w="9525">
                      <a:solidFill>
                        <a:srgbClr val="DEE5EF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223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4414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9E3B50F-7BC8-523A-82E6-263AF07497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6AE7483-7B45-A846-0CC3-5F08E83F6C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C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CD480EE-4577-714E-48BA-4065F9F9F9BD}"/>
              </a:ext>
            </a:extLst>
          </p:cNvPr>
          <p:cNvSpPr/>
          <p:nvPr/>
        </p:nvSpPr>
        <p:spPr>
          <a:xfrm>
            <a:off x="-2032000" y="3810000"/>
            <a:ext cx="5842000" cy="5842000"/>
          </a:xfrm>
          <a:prstGeom prst="ellipse">
            <a:avLst/>
          </a:prstGeom>
          <a:solidFill>
            <a:srgbClr val="2563EB">
              <a:alpha val="1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22F936E-DB17-67E8-A3B1-26C023C9D8DD}"/>
              </a:ext>
            </a:extLst>
          </p:cNvPr>
          <p:cNvSpPr/>
          <p:nvPr/>
        </p:nvSpPr>
        <p:spPr>
          <a:xfrm>
            <a:off x="812800" y="1219200"/>
            <a:ext cx="863600" cy="63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B45245-2545-81F5-2B56-5CE01BF70143}"/>
              </a:ext>
            </a:extLst>
          </p:cNvPr>
          <p:cNvSpPr txBox="1"/>
          <p:nvPr/>
        </p:nvSpPr>
        <p:spPr>
          <a:xfrm>
            <a:off x="812800" y="1574800"/>
            <a:ext cx="7620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38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困ったときは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7CEC412-0C1A-751C-884B-A06F71D89EC0}"/>
              </a:ext>
            </a:extLst>
          </p:cNvPr>
          <p:cNvSpPr txBox="1"/>
          <p:nvPr/>
        </p:nvSpPr>
        <p:spPr>
          <a:xfrm>
            <a:off x="812800" y="2463800"/>
            <a:ext cx="8890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400">
                <a:solidFill>
                  <a:srgbClr val="C6D2E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まずは「反映は次のスライドから」「フォルダ直下だけ」「</a:t>
            </a:r>
            <a:r>
              <a:rPr kumimoji="1" lang="en-US" altLang="ja-JP" sz="1400">
                <a:solidFill>
                  <a:srgbClr val="C6D2E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Ctrl</a:t>
            </a:r>
            <a:r>
              <a:rPr kumimoji="1" lang="ja-JP" altLang="en-US" sz="1400">
                <a:solidFill>
                  <a:srgbClr val="C6D2E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＋</a:t>
            </a:r>
            <a:r>
              <a:rPr kumimoji="1" lang="en-US" altLang="ja-JP" sz="1400">
                <a:solidFill>
                  <a:srgbClr val="C6D2E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Shift</a:t>
            </a:r>
            <a:r>
              <a:rPr kumimoji="1" lang="ja-JP" altLang="en-US" sz="1400">
                <a:solidFill>
                  <a:srgbClr val="C6D2E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＋</a:t>
            </a:r>
            <a:r>
              <a:rPr kumimoji="1" lang="en-US" altLang="ja-JP" sz="1400">
                <a:solidFill>
                  <a:srgbClr val="C6D2E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</a:t>
            </a:r>
            <a:r>
              <a:rPr kumimoji="1" lang="ja-JP" altLang="en-US" sz="1400">
                <a:solidFill>
                  <a:srgbClr val="C6D2E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」の </a:t>
            </a:r>
            <a:r>
              <a:rPr kumimoji="1" lang="en-US" altLang="ja-JP" sz="1400">
                <a:solidFill>
                  <a:srgbClr val="C6D2E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 </a:t>
            </a:r>
            <a:r>
              <a:rPr kumimoji="1" lang="ja-JP" altLang="en-US" sz="1400">
                <a:solidFill>
                  <a:srgbClr val="C6D2E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つを確認。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43F4349F-B0C3-A078-A281-CBD98E2DBC2B}"/>
              </a:ext>
            </a:extLst>
          </p:cNvPr>
          <p:cNvSpPr/>
          <p:nvPr/>
        </p:nvSpPr>
        <p:spPr>
          <a:xfrm>
            <a:off x="812800" y="3225800"/>
            <a:ext cx="3352800" cy="1473200"/>
          </a:xfrm>
          <a:prstGeom prst="roundRect">
            <a:avLst>
              <a:gd name="adj" fmla="val 9000"/>
            </a:avLst>
          </a:prstGeom>
          <a:solidFill>
            <a:srgbClr val="1B2C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D2A11D6-0779-F184-79D5-686B8C8D2118}"/>
              </a:ext>
            </a:extLst>
          </p:cNvPr>
          <p:cNvSpPr/>
          <p:nvPr/>
        </p:nvSpPr>
        <p:spPr>
          <a:xfrm>
            <a:off x="1117600" y="3530600"/>
            <a:ext cx="355600" cy="38100"/>
          </a:xfrm>
          <a:prstGeom prst="rect">
            <a:avLst/>
          </a:prstGeom>
          <a:solidFill>
            <a:srgbClr val="7FA6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0C7C6AD-6195-BEC6-E9D5-A612BA7F11E9}"/>
              </a:ext>
            </a:extLst>
          </p:cNvPr>
          <p:cNvSpPr txBox="1"/>
          <p:nvPr/>
        </p:nvSpPr>
        <p:spPr>
          <a:xfrm>
            <a:off x="1117600" y="3759200"/>
            <a:ext cx="27432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7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運用ガイド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81AC414-1A05-E2C9-DAB8-6E24368C965E}"/>
              </a:ext>
            </a:extLst>
          </p:cNvPr>
          <p:cNvSpPr txBox="1"/>
          <p:nvPr/>
        </p:nvSpPr>
        <p:spPr>
          <a:xfrm>
            <a:off x="1117600" y="4140200"/>
            <a:ext cx="2743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150">
                <a:solidFill>
                  <a:srgbClr val="9FB4D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ログ・権限・技術的な制限事項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03678B96-40F8-AD42-D937-DE4441D16E1B}"/>
              </a:ext>
            </a:extLst>
          </p:cNvPr>
          <p:cNvSpPr/>
          <p:nvPr/>
        </p:nvSpPr>
        <p:spPr>
          <a:xfrm>
            <a:off x="4419600" y="3225800"/>
            <a:ext cx="3352800" cy="1473200"/>
          </a:xfrm>
          <a:prstGeom prst="roundRect">
            <a:avLst>
              <a:gd name="adj" fmla="val 9000"/>
            </a:avLst>
          </a:prstGeom>
          <a:solidFill>
            <a:srgbClr val="1B2C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C0BD3CA-3CA7-428B-C457-9BAFAC1FB3D8}"/>
              </a:ext>
            </a:extLst>
          </p:cNvPr>
          <p:cNvSpPr/>
          <p:nvPr/>
        </p:nvSpPr>
        <p:spPr>
          <a:xfrm>
            <a:off x="4724400" y="3530600"/>
            <a:ext cx="355600" cy="38100"/>
          </a:xfrm>
          <a:prstGeom prst="rect">
            <a:avLst/>
          </a:prstGeom>
          <a:solidFill>
            <a:srgbClr val="7FA6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02DA008-CCE5-429F-34E6-7D611D50DC91}"/>
              </a:ext>
            </a:extLst>
          </p:cNvPr>
          <p:cNvSpPr txBox="1"/>
          <p:nvPr/>
        </p:nvSpPr>
        <p:spPr>
          <a:xfrm>
            <a:off x="4724400" y="3759200"/>
            <a:ext cx="27432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7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受け入れテスト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149FFE3-562B-3C80-27C5-3F6D8A2C512B}"/>
              </a:ext>
            </a:extLst>
          </p:cNvPr>
          <p:cNvSpPr txBox="1"/>
          <p:nvPr/>
        </p:nvSpPr>
        <p:spPr>
          <a:xfrm>
            <a:off x="4724400" y="4140200"/>
            <a:ext cx="2743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150">
                <a:solidFill>
                  <a:srgbClr val="9FB4D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導入時の確認チェックリスト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A6889B76-C63F-1683-6CD0-54EA26D7F761}"/>
              </a:ext>
            </a:extLst>
          </p:cNvPr>
          <p:cNvSpPr/>
          <p:nvPr/>
        </p:nvSpPr>
        <p:spPr>
          <a:xfrm>
            <a:off x="8026400" y="3225800"/>
            <a:ext cx="3352800" cy="1473200"/>
          </a:xfrm>
          <a:prstGeom prst="roundRect">
            <a:avLst>
              <a:gd name="adj" fmla="val 9000"/>
            </a:avLst>
          </a:prstGeom>
          <a:solidFill>
            <a:srgbClr val="1B2C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D24B6F4-5AEE-FD51-7B08-C1A69899DA17}"/>
              </a:ext>
            </a:extLst>
          </p:cNvPr>
          <p:cNvSpPr/>
          <p:nvPr/>
        </p:nvSpPr>
        <p:spPr>
          <a:xfrm>
            <a:off x="8331200" y="3530600"/>
            <a:ext cx="355600" cy="38100"/>
          </a:xfrm>
          <a:prstGeom prst="rect">
            <a:avLst/>
          </a:prstGeom>
          <a:solidFill>
            <a:srgbClr val="7FA6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3DE9D80-0533-FB11-225E-6D9AC610A903}"/>
              </a:ext>
            </a:extLst>
          </p:cNvPr>
          <p:cNvSpPr txBox="1"/>
          <p:nvPr/>
        </p:nvSpPr>
        <p:spPr>
          <a:xfrm>
            <a:off x="8331200" y="3759200"/>
            <a:ext cx="27432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7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アプリ要件定義書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C4D7028-C6CA-49DB-6702-C2EA25A05339}"/>
              </a:ext>
            </a:extLst>
          </p:cNvPr>
          <p:cNvSpPr txBox="1"/>
          <p:nvPr/>
        </p:nvSpPr>
        <p:spPr>
          <a:xfrm>
            <a:off x="8331200" y="4140200"/>
            <a:ext cx="2743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150">
                <a:solidFill>
                  <a:srgbClr val="9FB4D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機能仕様の詳細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4F80A49-1D02-1AFE-1C23-7468F6B0EC92}"/>
              </a:ext>
            </a:extLst>
          </p:cNvPr>
          <p:cNvSpPr/>
          <p:nvPr/>
        </p:nvSpPr>
        <p:spPr>
          <a:xfrm>
            <a:off x="812800" y="5308600"/>
            <a:ext cx="10566400" cy="12700"/>
          </a:xfrm>
          <a:prstGeom prst="rect">
            <a:avLst/>
          </a:prstGeom>
          <a:solidFill>
            <a:srgbClr val="2E405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71EEB53-9E5A-C2DA-2C79-BCDF7D387380}"/>
              </a:ext>
            </a:extLst>
          </p:cNvPr>
          <p:cNvSpPr txBox="1"/>
          <p:nvPr/>
        </p:nvSpPr>
        <p:spPr>
          <a:xfrm>
            <a:off x="812800" y="5537200"/>
            <a:ext cx="7620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ja-JP" altLang="en-US" sz="1150">
                <a:solidFill>
                  <a:srgbClr val="7C8CA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簡易デジタルサイネージ ｜ 操作ガイド　（出典：操作ガイド</a:t>
            </a:r>
            <a:r>
              <a:rPr kumimoji="1" lang="en-US" altLang="ja-JP" sz="1150">
                <a:solidFill>
                  <a:srgbClr val="7C8CA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.md</a:t>
            </a:r>
            <a:r>
              <a:rPr kumimoji="1" lang="ja-JP" altLang="en-US" sz="1150">
                <a:solidFill>
                  <a:srgbClr val="7C8CA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083873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2328</Words>
  <Application>Microsoft Office PowerPoint</Application>
  <PresentationFormat>ユーザー設定</PresentationFormat>
  <Paragraphs>317</Paragraphs>
  <Slides>19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5" baseType="lpstr">
      <vt:lpstr>Yu Gothic UI</vt:lpstr>
      <vt:lpstr>游ゴシック</vt:lpstr>
      <vt:lpstr>游ゴシック Light</vt:lpstr>
      <vt:lpstr>Arial</vt:lpstr>
      <vt:lpstr>Consolas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Noriyuki Kamata</dc:creator>
  <cp:lastModifiedBy>Noriyuki Kamata</cp:lastModifiedBy>
  <cp:revision>1</cp:revision>
  <dcterms:created xsi:type="dcterms:W3CDTF">2026-09-12T08:14:37Z</dcterms:created>
  <dcterms:modified xsi:type="dcterms:W3CDTF">2026-09-12T08:14:37Z</dcterms:modified>
</cp:coreProperties>
</file>