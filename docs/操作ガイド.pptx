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ja-JP"/>
    </a:defPPr>
    <a:lvl1pPr marL="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312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2A66C3-296A-6173-6D74-AD14AC23F6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E09EDA7-2724-18B5-45F5-B4DB2DD760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CCBDF6A-C18F-D7A9-EFD8-3DD7D44D6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021C6-75A6-451B-B277-8AEC9CE23197}" type="datetimeFigureOut">
              <a:rPr kumimoji="1" lang="ja-JP" altLang="en-US" smtClean="0"/>
              <a:t>2026/8/28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6A26750-2DCE-630B-2743-DFD1FB961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A519662-ABAD-E765-330A-B1739F60D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CD43DB-A420-4458-8812-EB72162C19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88082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E2A80C-6086-92FC-1401-B6E90B297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FBA3888-65F2-2758-41A0-9A151203B7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8BB236-8178-8931-5B63-77DF36A5A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021C6-75A6-451B-B277-8AEC9CE23197}" type="datetimeFigureOut">
              <a:rPr kumimoji="1" lang="ja-JP" altLang="en-US" smtClean="0"/>
              <a:t>2026/8/28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6AFD32-BA40-EB21-5CB6-A88B0DBF5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E233D0-DC41-D1BD-D9EB-D39BAB8F5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CD43DB-A420-4458-8812-EB72162C19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9692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F234B9-DF50-D2D6-0B77-61503B990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3C499D-EF5E-ECBB-3ED8-F2FA188CC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1428FA-332C-57D9-6DCB-731B57D55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021C6-75A6-451B-B277-8AEC9CE23197}" type="datetimeFigureOut">
              <a:rPr kumimoji="1" lang="ja-JP" altLang="en-US" smtClean="0"/>
              <a:t>2026/8/28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24323F-59A3-120A-F80D-F4503F889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EDFED2-D6A5-F7A4-9EFA-116AD635B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CD43DB-A420-4458-8812-EB72162C19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09165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C4324F-04C0-4480-2B0C-CD63225A0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6BF2654-390F-3271-AB23-13058D3F46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A2A3E9A-B027-07C8-7E44-53ABB01D02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0D29550-3531-2500-6E34-99EF6EA3C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021C6-75A6-451B-B277-8AEC9CE23197}" type="datetimeFigureOut">
              <a:rPr kumimoji="1" lang="ja-JP" altLang="en-US" smtClean="0"/>
              <a:t>2026/8/28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8C6E19D-F0A2-1C44-2590-240ADA993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1DCA457-C51F-918E-F9E1-D3BD126F8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CD43DB-A420-4458-8812-EB72162C19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0060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2E22726-D39D-61C2-6EEE-A4E360BAB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7CF51A7-4624-6D1D-5C77-B6F2BFEC34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40636C5-8F56-307E-BA59-C6372E21AA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7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9C28149-FD86-5ACA-CC8A-362FA28306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63845B4-A117-657E-EDA2-9096CA59B5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7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F43C340-D7CF-F1F9-9B6B-3CD3E0C15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021C6-75A6-451B-B277-8AEC9CE23197}" type="datetimeFigureOut">
              <a:rPr kumimoji="1" lang="ja-JP" altLang="en-US" smtClean="0"/>
              <a:t>2026/8/28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201E7CD-F1EB-A334-23E0-19FB12933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54E98CA-3B5E-95BB-CE30-261FA1951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CD43DB-A420-4458-8812-EB72162C19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30801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B83A1E-2162-E40D-0D3F-B27715F57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DC1DB0F-4EE4-CCC2-18DB-EEC689AA9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021C6-75A6-451B-B277-8AEC9CE23197}" type="datetimeFigureOut">
              <a:rPr kumimoji="1" lang="ja-JP" altLang="en-US" smtClean="0"/>
              <a:t>2026/8/28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25448FC-21CD-30B9-1DA0-5E02D2F2D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BBE875D-C2AF-AC83-D63E-4EBCD9964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CD43DB-A420-4458-8812-EB72162C19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994259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4C75611-A824-4F3F-9C62-9AB1CC4B9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021C6-75A6-451B-B277-8AEC9CE23197}" type="datetimeFigureOut">
              <a:rPr kumimoji="1" lang="ja-JP" altLang="en-US" smtClean="0"/>
              <a:t>2026/8/28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A3C948A-0AE8-BDC7-B7D7-7EAB0E9FA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626BF51-3DDC-3310-E4BF-96F6C7647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CD43DB-A420-4458-8812-EB72162C19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3689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1CBD79-D65D-8ABB-1E64-2FC8D7A4E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ECC2A2D-9C35-1F42-A65C-7809CAF078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667C94E-3434-A903-96AF-6D29E14E32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A205672-95AB-8BB9-4F83-5E33789070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021C6-75A6-451B-B277-8AEC9CE23197}" type="datetimeFigureOut">
              <a:rPr kumimoji="1" lang="ja-JP" altLang="en-US" smtClean="0"/>
              <a:t>2026/8/28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8C36029-EB7F-6322-3388-85598DC5B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A1E06CF-F543-9071-CC49-DDC4B2BA0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CD43DB-A420-4458-8812-EB72162C19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5692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5E1BB2-A2F1-B115-8C0C-A40009058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D89AC11-D683-D241-79A7-22EE188F03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D0E905C-AF1D-E65F-8C3D-59686F1EE9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EF80C0D-286C-A88F-D7F3-FDAB7328B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021C6-75A6-451B-B277-8AEC9CE23197}" type="datetimeFigureOut">
              <a:rPr kumimoji="1" lang="ja-JP" altLang="en-US" smtClean="0"/>
              <a:t>2026/8/28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DD9D1B4-8F5C-9723-2986-A2BBEFA42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7DAAD9A-E514-4C51-9054-E425DD4DE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CD43DB-A420-4458-8812-EB72162C19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9127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6A88D1-4830-26CD-1AD3-86B9DAF0D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68D9007-686E-5087-43C5-51C5F77560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EDB0D9F-742D-E4C2-0F9B-300183801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021C6-75A6-451B-B277-8AEC9CE23197}" type="datetimeFigureOut">
              <a:rPr kumimoji="1" lang="ja-JP" altLang="en-US" smtClean="0"/>
              <a:t>2026/8/28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D77C1C4-0E33-333D-0B5F-A8B27236C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86B2CFF-40C1-81B6-DCC5-BDE0ABD66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CD43DB-A420-4458-8812-EB72162C19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5000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91EEB29-B122-ED5F-FACF-1BC91EE195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7"/>
            <a:ext cx="2628900" cy="5811839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2982035-885F-12CD-4588-47AF7A0FE7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7"/>
            <a:ext cx="7734300" cy="5811839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171ED57-BBF2-0A1A-3019-5555840E9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021C6-75A6-451B-B277-8AEC9CE23197}" type="datetimeFigureOut">
              <a:rPr kumimoji="1" lang="ja-JP" altLang="en-US" smtClean="0"/>
              <a:t>2026/8/28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82615A7-B0FD-E97F-04FA-2A3442A54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B03B0BE-7F33-FA15-C5B5-7BFB4B0A1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CD43DB-A420-4458-8812-EB72162C19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78036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7D4B0938-06C6-9AD1-E2C4-B720744A1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0932FDA-CEEC-A79E-A0DB-93269453C3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B669ABE-9D12-7CE3-291E-E07B7BC938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E021C6-75A6-451B-B277-8AEC9CE23197}" type="datetimeFigureOut">
              <a:rPr kumimoji="1" lang="ja-JP" altLang="en-US" smtClean="0"/>
              <a:t>2026/8/28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F58CE62-7BA8-1770-5E1C-71B63F115E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59AF3ED-FA11-CC41-F937-47D34AF931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CD43DB-A420-4458-8812-EB72162C199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321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28F5D89-A142-12B8-961C-6CAC391D8DF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E3E0557-60E2-B986-1C39-5B72E420225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C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D09B66E6-1655-2A7D-EC7F-2842B16FAC10}"/>
              </a:ext>
            </a:extLst>
          </p:cNvPr>
          <p:cNvSpPr/>
          <p:nvPr/>
        </p:nvSpPr>
        <p:spPr>
          <a:xfrm>
            <a:off x="7747000" y="-1778000"/>
            <a:ext cx="6604000" cy="6604000"/>
          </a:xfrm>
          <a:prstGeom prst="ellipse">
            <a:avLst/>
          </a:prstGeom>
          <a:solidFill>
            <a:srgbClr val="2563EB">
              <a:alpha val="18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CF48CA8E-25A2-31BE-2987-53EEFBC75CA6}"/>
              </a:ext>
            </a:extLst>
          </p:cNvPr>
          <p:cNvSpPr/>
          <p:nvPr/>
        </p:nvSpPr>
        <p:spPr>
          <a:xfrm>
            <a:off x="9271000" y="3175000"/>
            <a:ext cx="4826000" cy="4826000"/>
          </a:xfrm>
          <a:prstGeom prst="ellipse">
            <a:avLst/>
          </a:prstGeom>
          <a:solidFill>
            <a:srgbClr val="0F8E92">
              <a:alpha val="14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BB67674-B955-F6DA-B8B7-921EADA6BC41}"/>
              </a:ext>
            </a:extLst>
          </p:cNvPr>
          <p:cNvSpPr/>
          <p:nvPr/>
        </p:nvSpPr>
        <p:spPr>
          <a:xfrm>
            <a:off x="812800" y="1905000"/>
            <a:ext cx="863600" cy="635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BBA3BD6-63D2-E6B7-1D56-71D1887B0318}"/>
              </a:ext>
            </a:extLst>
          </p:cNvPr>
          <p:cNvSpPr txBox="1"/>
          <p:nvPr/>
        </p:nvSpPr>
        <p:spPr>
          <a:xfrm>
            <a:off x="812800" y="1498600"/>
            <a:ext cx="6350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250" b="1">
                <a:solidFill>
                  <a:srgbClr val="7FA6F5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SIMPLE DIGITAL SIGNAGE</a:t>
            </a:r>
            <a:endParaRPr kumimoji="1" lang="ja-JP" altLang="en-US" sz="1250" b="1">
              <a:solidFill>
                <a:srgbClr val="7FA6F5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C39612D-99F8-B1CA-E0C8-135727666A9C}"/>
              </a:ext>
            </a:extLst>
          </p:cNvPr>
          <p:cNvSpPr txBox="1"/>
          <p:nvPr/>
        </p:nvSpPr>
        <p:spPr>
          <a:xfrm>
            <a:off x="812800" y="2286000"/>
            <a:ext cx="7874000" cy="914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52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操作ガイド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18582BA-7774-AEB0-62E0-2F1239F6CE2D}"/>
              </a:ext>
            </a:extLst>
          </p:cNvPr>
          <p:cNvSpPr txBox="1"/>
          <p:nvPr/>
        </p:nvSpPr>
        <p:spPr>
          <a:xfrm>
            <a:off x="812800" y="3378200"/>
            <a:ext cx="71120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kumimoji="1" lang="ja-JP" altLang="en-US" sz="15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フォルダに入れるだけ。あとは全画面で自動ループ。</a:t>
            </a:r>
          </a:p>
          <a:p>
            <a:pPr>
              <a:lnSpc>
                <a:spcPct val="150000"/>
              </a:lnSpc>
            </a:pPr>
            <a:r>
              <a:rPr kumimoji="1" lang="en-US" altLang="ja-JP" sz="15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</a:t>
            </a:r>
            <a:r>
              <a:rPr kumimoji="1" lang="ja-JP" altLang="en-US" sz="15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・画像・動画をそのまま掲示できるサイネージアプリの使いかた。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4740653B-6434-93AC-4EC1-DCC175729F9C}"/>
              </a:ext>
            </a:extLst>
          </p:cNvPr>
          <p:cNvSpPr/>
          <p:nvPr/>
        </p:nvSpPr>
        <p:spPr>
          <a:xfrm>
            <a:off x="812800" y="4546600"/>
            <a:ext cx="1884680" cy="381000"/>
          </a:xfrm>
          <a:prstGeom prst="roundRect">
            <a:avLst>
              <a:gd name="adj" fmla="val 50000"/>
            </a:avLst>
          </a:prstGeom>
          <a:solidFill>
            <a:srgbClr val="1E3A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7DFE74E-9485-BEED-3E3F-A4997E5A6ECE}"/>
              </a:ext>
            </a:extLst>
          </p:cNvPr>
          <p:cNvSpPr txBox="1"/>
          <p:nvPr/>
        </p:nvSpPr>
        <p:spPr>
          <a:xfrm>
            <a:off x="812800" y="4546600"/>
            <a:ext cx="188468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200" b="1">
                <a:solidFill>
                  <a:srgbClr val="BBD1FA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コンテンツ担当者向け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69D94C6B-088A-6CFA-DAFA-2C364A03AD4D}"/>
              </a:ext>
            </a:extLst>
          </p:cNvPr>
          <p:cNvSpPr/>
          <p:nvPr/>
        </p:nvSpPr>
        <p:spPr>
          <a:xfrm>
            <a:off x="2946400" y="4546600"/>
            <a:ext cx="1729232" cy="381000"/>
          </a:xfrm>
          <a:prstGeom prst="roundRect">
            <a:avLst>
              <a:gd name="adj" fmla="val 50000"/>
            </a:avLst>
          </a:prstGeom>
          <a:solidFill>
            <a:srgbClr val="1741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39339CE-913D-E64F-089F-B1F1724C247A}"/>
              </a:ext>
            </a:extLst>
          </p:cNvPr>
          <p:cNvSpPr txBox="1"/>
          <p:nvPr/>
        </p:nvSpPr>
        <p:spPr>
          <a:xfrm>
            <a:off x="2946400" y="4546600"/>
            <a:ext cx="1729232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200" b="1">
                <a:solidFill>
                  <a:srgbClr val="A9DDD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システム管理者向け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98E5C49-641B-86A8-D771-2A59A48C02C8}"/>
              </a:ext>
            </a:extLst>
          </p:cNvPr>
          <p:cNvSpPr/>
          <p:nvPr/>
        </p:nvSpPr>
        <p:spPr>
          <a:xfrm>
            <a:off x="812800" y="5486400"/>
            <a:ext cx="3810000" cy="12700"/>
          </a:xfrm>
          <a:prstGeom prst="rect">
            <a:avLst/>
          </a:prstGeom>
          <a:solidFill>
            <a:srgbClr val="2E405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BB90615-4C80-1DE5-377B-1F5A28D4907E}"/>
              </a:ext>
            </a:extLst>
          </p:cNvPr>
          <p:cNvSpPr txBox="1"/>
          <p:nvPr/>
        </p:nvSpPr>
        <p:spPr>
          <a:xfrm>
            <a:off x="812800" y="5689600"/>
            <a:ext cx="6096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2026</a:t>
            </a:r>
            <a:r>
              <a:rPr kumimoji="1" lang="ja-JP" altLang="en-US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年</a:t>
            </a:r>
            <a:r>
              <a:rPr kumimoji="1" lang="en-US" altLang="ja-JP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8</a:t>
            </a:r>
            <a:r>
              <a:rPr kumimoji="1" lang="ja-JP" altLang="en-US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月版　｜　操作ガイド</a:t>
            </a:r>
            <a:r>
              <a:rPr kumimoji="1" lang="en-US" altLang="ja-JP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.md </a:t>
            </a:r>
            <a:r>
              <a:rPr kumimoji="1" lang="ja-JP" altLang="en-US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より作成</a:t>
            </a:r>
          </a:p>
        </p:txBody>
      </p:sp>
    </p:spTree>
    <p:extLst>
      <p:ext uri="{BB962C8B-B14F-4D97-AF65-F5344CB8AC3E}">
        <p14:creationId xmlns:p14="http://schemas.microsoft.com/office/powerpoint/2010/main" val="8959851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FA0B872-7660-E271-1FA7-4E9BEB3D45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67BC38C-FAD0-DF17-304A-0A7758D87563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91A3754-2244-B0DF-B4EB-B2E295A6DD53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OVERVIEW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93CF1DE-367E-F0F0-0E44-FF6BB57C09A5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このガイドの対象と役割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1F75E54-567B-EEBB-0CB8-4CDC9582CE61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B0E6B6B-1AC1-4CE4-0AE2-A250D6C618C6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8EDA6DF-9704-E98C-9DC9-2BB0161A139B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94DF829-3098-00D0-7060-4A23BEED9DA2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日常の運用は 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つの役割に分かれます。自分の役割のページだけ読めば運用できます。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9E2B87FF-14C8-64E5-C85A-7DD0184D636E}"/>
              </a:ext>
            </a:extLst>
          </p:cNvPr>
          <p:cNvSpPr/>
          <p:nvPr/>
        </p:nvSpPr>
        <p:spPr>
          <a:xfrm>
            <a:off x="812800" y="2362200"/>
            <a:ext cx="5130800" cy="299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462ECA-56FF-6F0E-46F1-1E06AB21C0DB}"/>
              </a:ext>
            </a:extLst>
          </p:cNvPr>
          <p:cNvSpPr/>
          <p:nvPr/>
        </p:nvSpPr>
        <p:spPr>
          <a:xfrm>
            <a:off x="812800" y="2362200"/>
            <a:ext cx="5130800" cy="635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98DC91A3-238D-0765-5E1A-9773F750B6BA}"/>
              </a:ext>
            </a:extLst>
          </p:cNvPr>
          <p:cNvSpPr/>
          <p:nvPr/>
        </p:nvSpPr>
        <p:spPr>
          <a:xfrm>
            <a:off x="1143000" y="2692400"/>
            <a:ext cx="828040" cy="279400"/>
          </a:xfrm>
          <a:prstGeom prst="roundRect">
            <a:avLst>
              <a:gd name="adj" fmla="val 50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D8DB5E4-ED35-C036-FF3E-4FED9BE738BD}"/>
              </a:ext>
            </a:extLst>
          </p:cNvPr>
          <p:cNvSpPr txBox="1"/>
          <p:nvPr/>
        </p:nvSpPr>
        <p:spPr>
          <a:xfrm>
            <a:off x="1143000" y="2692400"/>
            <a:ext cx="82804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ROLE 01</a:t>
            </a:r>
            <a:endParaRPr kumimoji="1" lang="ja-JP" altLang="en-US" sz="10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716A882-C992-4C4D-F266-1AE53ACB1747}"/>
              </a:ext>
            </a:extLst>
          </p:cNvPr>
          <p:cNvSpPr txBox="1"/>
          <p:nvPr/>
        </p:nvSpPr>
        <p:spPr>
          <a:xfrm>
            <a:off x="1143000" y="3098800"/>
            <a:ext cx="44704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1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4C8EBC4-B7AF-F178-EED2-846F3385328B}"/>
              </a:ext>
            </a:extLst>
          </p:cNvPr>
          <p:cNvSpPr txBox="1"/>
          <p:nvPr/>
        </p:nvSpPr>
        <p:spPr>
          <a:xfrm>
            <a:off x="1143000" y="35052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表示するファイルを扱う人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8D182BE-6A5C-6D26-4B7E-0800C48BD632}"/>
              </a:ext>
            </a:extLst>
          </p:cNvPr>
          <p:cNvSpPr txBox="1"/>
          <p:nvPr/>
        </p:nvSpPr>
        <p:spPr>
          <a:xfrm>
            <a:off x="1143000" y="3937000"/>
            <a:ext cx="4470400" cy="1143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・表示したいファイルをフォルダに入れる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・不要になったファイルを削除する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・ファイル名で表示順と表示時間を調整する</a:t>
            </a: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DC70527D-6220-1C7A-1F6E-07CB4F10C9D4}"/>
              </a:ext>
            </a:extLst>
          </p:cNvPr>
          <p:cNvSpPr/>
          <p:nvPr/>
        </p:nvSpPr>
        <p:spPr>
          <a:xfrm>
            <a:off x="6248400" y="2362200"/>
            <a:ext cx="5130800" cy="299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BBC379F0-D635-7AC0-ADEB-D777D16D2C97}"/>
              </a:ext>
            </a:extLst>
          </p:cNvPr>
          <p:cNvSpPr/>
          <p:nvPr/>
        </p:nvSpPr>
        <p:spPr>
          <a:xfrm>
            <a:off x="6248400" y="2362200"/>
            <a:ext cx="5130800" cy="635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38EDA165-9460-C70A-EE64-66EBC27567A8}"/>
              </a:ext>
            </a:extLst>
          </p:cNvPr>
          <p:cNvSpPr/>
          <p:nvPr/>
        </p:nvSpPr>
        <p:spPr>
          <a:xfrm>
            <a:off x="6578600" y="2692400"/>
            <a:ext cx="828040" cy="279400"/>
          </a:xfrm>
          <a:prstGeom prst="roundRect">
            <a:avLst>
              <a:gd name="adj" fmla="val 5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DFF1997A-5E83-C6C6-A52D-006B4791597E}"/>
              </a:ext>
            </a:extLst>
          </p:cNvPr>
          <p:cNvSpPr txBox="1"/>
          <p:nvPr/>
        </p:nvSpPr>
        <p:spPr>
          <a:xfrm>
            <a:off x="6578600" y="2692400"/>
            <a:ext cx="82804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ROLE 02</a:t>
            </a:r>
            <a:endParaRPr kumimoji="1" lang="ja-JP" altLang="en-US" sz="10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E2A782E-62DF-FF04-3AAF-B3EAF9674ECA}"/>
              </a:ext>
            </a:extLst>
          </p:cNvPr>
          <p:cNvSpPr txBox="1"/>
          <p:nvPr/>
        </p:nvSpPr>
        <p:spPr>
          <a:xfrm>
            <a:off x="6578600" y="3098800"/>
            <a:ext cx="44704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1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0D473D2-CE16-456B-7B3C-50B5EDCEE4CB}"/>
              </a:ext>
            </a:extLst>
          </p:cNvPr>
          <p:cNvSpPr txBox="1"/>
          <p:nvPr/>
        </p:nvSpPr>
        <p:spPr>
          <a:xfrm>
            <a:off x="6578600" y="35052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アプリと設定を扱う人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E70D43A-AAFC-EA19-EFFF-E1B3825E8477}"/>
              </a:ext>
            </a:extLst>
          </p:cNvPr>
          <p:cNvSpPr txBox="1"/>
          <p:nvPr/>
        </p:nvSpPr>
        <p:spPr>
          <a:xfrm>
            <a:off x="6578600" y="3937000"/>
            <a:ext cx="4470400" cy="1143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・アプリの起動と管理画面の操作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・監視フォルダ・表示秒数などの設定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・夜間停止と朝の自動起動、ログの確認</a:t>
            </a:r>
          </a:p>
        </p:txBody>
      </p:sp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70917622-46D9-1A4D-6269-CF6CF259B733}"/>
              </a:ext>
            </a:extLst>
          </p:cNvPr>
          <p:cNvSpPr/>
          <p:nvPr/>
        </p:nvSpPr>
        <p:spPr>
          <a:xfrm>
            <a:off x="812800" y="5638800"/>
            <a:ext cx="10566400" cy="584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8F27201A-80E0-5AB7-4348-D6754DBD6030}"/>
              </a:ext>
            </a:extLst>
          </p:cNvPr>
          <p:cNvSpPr/>
          <p:nvPr/>
        </p:nvSpPr>
        <p:spPr>
          <a:xfrm>
            <a:off x="812800" y="5638800"/>
            <a:ext cx="50800" cy="584200"/>
          </a:xfrm>
          <a:prstGeom prst="rect">
            <a:avLst/>
          </a:prstGeom>
          <a:solidFill>
            <a:srgbClr val="8794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AFC5419-133F-FA87-0FB0-7C10C87CD45F}"/>
              </a:ext>
            </a:extLst>
          </p:cNvPr>
          <p:cNvSpPr txBox="1"/>
          <p:nvPr/>
        </p:nvSpPr>
        <p:spPr>
          <a:xfrm>
            <a:off x="1092200" y="5638800"/>
            <a:ext cx="581152" cy="584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150" b="1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MEMO</a:t>
            </a:r>
            <a:endParaRPr kumimoji="1" lang="ja-JP" altLang="en-US" sz="1150" b="1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991D2C5-CAE6-7146-5612-81FF3659BC38}"/>
              </a:ext>
            </a:extLst>
          </p:cNvPr>
          <p:cNvSpPr txBox="1"/>
          <p:nvPr/>
        </p:nvSpPr>
        <p:spPr>
          <a:xfrm>
            <a:off x="1673352" y="5638800"/>
            <a:ext cx="9426448" cy="584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ログ・権限・技術的な制限事項などの詳細は「運用ガイド」を参照してください。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3776253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681FDAD-9072-6D72-FDDE-15E596AE96F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3F204FA-9962-52CF-7C88-FFEA20721E2F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0B7EE15-E2DE-F7CA-20F6-1FE3C540E35C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HOW IT WORKS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FC8B5AE-2E0A-FBA7-C234-7D802B4354D4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表示のしくみ（全体像）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9E27D1A-DA76-1C12-7B51-64C98B3656B9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04E15F3-6495-2E1A-98D0-F6E70935936F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E061014-44B3-3DB2-6183-56C4A32D9A76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7093F35-17CA-3CC6-A371-9D12CC55B9D5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操作はフォルダにファイルを置くだけ。検知も表示もアプリが自動で行います。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F838F9F6-84C7-6CBD-4368-98CA5C3AECAE}"/>
              </a:ext>
            </a:extLst>
          </p:cNvPr>
          <p:cNvSpPr/>
          <p:nvPr/>
        </p:nvSpPr>
        <p:spPr>
          <a:xfrm>
            <a:off x="812800" y="2413000"/>
            <a:ext cx="31750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C616FA2E-0CD0-D97A-4918-2DD6724E1FD7}"/>
              </a:ext>
            </a:extLst>
          </p:cNvPr>
          <p:cNvSpPr/>
          <p:nvPr/>
        </p:nvSpPr>
        <p:spPr>
          <a:xfrm>
            <a:off x="1117600" y="2717800"/>
            <a:ext cx="457200" cy="457200"/>
          </a:xfrm>
          <a:prstGeom prst="ellipse">
            <a:avLst/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375C0C8E-2B0B-8919-158D-8D42C06AF5F2}"/>
              </a:ext>
            </a:extLst>
          </p:cNvPr>
          <p:cNvSpPr txBox="1"/>
          <p:nvPr/>
        </p:nvSpPr>
        <p:spPr>
          <a:xfrm>
            <a:off x="1117600" y="2717800"/>
            <a:ext cx="457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</a:t>
            </a:r>
            <a:endParaRPr kumimoji="1" lang="ja-JP" altLang="en-US" sz="15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C345E0C-0AA7-759E-ED8D-E0CDF0E1B043}"/>
              </a:ext>
            </a:extLst>
          </p:cNvPr>
          <p:cNvSpPr txBox="1"/>
          <p:nvPr/>
        </p:nvSpPr>
        <p:spPr>
          <a:xfrm>
            <a:off x="1117600" y="3352800"/>
            <a:ext cx="25654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ファイルを置く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6E4CBF5-FC68-881B-444A-C3E943C02F3F}"/>
              </a:ext>
            </a:extLst>
          </p:cNvPr>
          <p:cNvSpPr txBox="1"/>
          <p:nvPr/>
        </p:nvSpPr>
        <p:spPr>
          <a:xfrm>
            <a:off x="1117600" y="3733800"/>
            <a:ext cx="2565400" cy="838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指定した監視フォルダの直下に</a:t>
            </a:r>
          </a:p>
          <a:p>
            <a:pPr>
              <a:lnSpc>
                <a:spcPct val="140000"/>
              </a:lnSpc>
            </a:pP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・画像・動画を保存します。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EAE3E110-FC34-AE5F-A48E-C7C25B5D7A6E}"/>
              </a:ext>
            </a:extLst>
          </p:cNvPr>
          <p:cNvSpPr/>
          <p:nvPr/>
        </p:nvSpPr>
        <p:spPr>
          <a:xfrm>
            <a:off x="4508500" y="2413000"/>
            <a:ext cx="31750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楕円 15">
            <a:extLst>
              <a:ext uri="{FF2B5EF4-FFF2-40B4-BE49-F238E27FC236}">
                <a16:creationId xmlns:a16="http://schemas.microsoft.com/office/drawing/2014/main" id="{A28D2FFA-1477-F8C9-4C57-50234DC337DF}"/>
              </a:ext>
            </a:extLst>
          </p:cNvPr>
          <p:cNvSpPr/>
          <p:nvPr/>
        </p:nvSpPr>
        <p:spPr>
          <a:xfrm>
            <a:off x="4813300" y="2717800"/>
            <a:ext cx="457200" cy="457200"/>
          </a:xfrm>
          <a:prstGeom prst="ellipse">
            <a:avLst/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6A4002B-233E-9DEB-EFAD-8DE618518E10}"/>
              </a:ext>
            </a:extLst>
          </p:cNvPr>
          <p:cNvSpPr txBox="1"/>
          <p:nvPr/>
        </p:nvSpPr>
        <p:spPr>
          <a:xfrm>
            <a:off x="4813300" y="2717800"/>
            <a:ext cx="457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</a:t>
            </a:r>
            <a:endParaRPr kumimoji="1" lang="ja-JP" altLang="en-US" sz="15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EF8133C-846B-D7ED-E5C1-8392E43ABC09}"/>
              </a:ext>
            </a:extLst>
          </p:cNvPr>
          <p:cNvSpPr txBox="1"/>
          <p:nvPr/>
        </p:nvSpPr>
        <p:spPr>
          <a:xfrm>
            <a:off x="4813300" y="3352800"/>
            <a:ext cx="25654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アプリが検知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C23EEF8-31C3-C5B2-DD24-295ADB1F05EA}"/>
              </a:ext>
            </a:extLst>
          </p:cNvPr>
          <p:cNvSpPr txBox="1"/>
          <p:nvPr/>
        </p:nvSpPr>
        <p:spPr>
          <a:xfrm>
            <a:off x="4813300" y="3733800"/>
            <a:ext cx="2565400" cy="838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追加・削除を自動で見つけて</a:t>
            </a:r>
          </a:p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再生リストを作り直します。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36CD97C1-1D92-09D7-DB3C-2102B910459F}"/>
              </a:ext>
            </a:extLst>
          </p:cNvPr>
          <p:cNvSpPr/>
          <p:nvPr/>
        </p:nvSpPr>
        <p:spPr>
          <a:xfrm>
            <a:off x="8204200" y="2413000"/>
            <a:ext cx="31750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楕円 20">
            <a:extLst>
              <a:ext uri="{FF2B5EF4-FFF2-40B4-BE49-F238E27FC236}">
                <a16:creationId xmlns:a16="http://schemas.microsoft.com/office/drawing/2014/main" id="{40817DF6-0311-4280-987B-1C994CF2A355}"/>
              </a:ext>
            </a:extLst>
          </p:cNvPr>
          <p:cNvSpPr/>
          <p:nvPr/>
        </p:nvSpPr>
        <p:spPr>
          <a:xfrm>
            <a:off x="8509000" y="2717800"/>
            <a:ext cx="457200" cy="457200"/>
          </a:xfrm>
          <a:prstGeom prst="ellipse">
            <a:avLst/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C459C7BD-755A-D747-8BEE-848EDBCD8F40}"/>
              </a:ext>
            </a:extLst>
          </p:cNvPr>
          <p:cNvSpPr txBox="1"/>
          <p:nvPr/>
        </p:nvSpPr>
        <p:spPr>
          <a:xfrm>
            <a:off x="8509000" y="2717800"/>
            <a:ext cx="457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</a:t>
            </a:r>
            <a:endParaRPr kumimoji="1" lang="ja-JP" altLang="en-US" sz="15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6362A009-AE68-886B-1E9D-7EE1B83BFF91}"/>
              </a:ext>
            </a:extLst>
          </p:cNvPr>
          <p:cNvSpPr txBox="1"/>
          <p:nvPr/>
        </p:nvSpPr>
        <p:spPr>
          <a:xfrm>
            <a:off x="8509000" y="3352800"/>
            <a:ext cx="25654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全画面でループ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37841B7D-A0A1-934E-F965-C01B787EF65D}"/>
              </a:ext>
            </a:extLst>
          </p:cNvPr>
          <p:cNvSpPr txBox="1"/>
          <p:nvPr/>
        </p:nvSpPr>
        <p:spPr>
          <a:xfrm>
            <a:off x="8509000" y="3733800"/>
            <a:ext cx="2565400" cy="838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順番に全画面表示し、</a:t>
            </a:r>
          </a:p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最後まで行くと先頭へ戻ります。</a:t>
            </a:r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C37F07A1-DDAA-3350-FF08-570846ECC9B9}"/>
              </a:ext>
            </a:extLst>
          </p:cNvPr>
          <p:cNvSpPr/>
          <p:nvPr/>
        </p:nvSpPr>
        <p:spPr>
          <a:xfrm>
            <a:off x="4089400" y="3327400"/>
            <a:ext cx="317500" cy="254000"/>
          </a:xfrm>
          <a:prstGeom prst="rightArrow">
            <a:avLst/>
          </a:prstGeom>
          <a:solidFill>
            <a:srgbClr val="BFD0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矢印: 右 25">
            <a:extLst>
              <a:ext uri="{FF2B5EF4-FFF2-40B4-BE49-F238E27FC236}">
                <a16:creationId xmlns:a16="http://schemas.microsoft.com/office/drawing/2014/main" id="{AC144CB7-EE63-AC0A-616E-62FD0EF61F9A}"/>
              </a:ext>
            </a:extLst>
          </p:cNvPr>
          <p:cNvSpPr/>
          <p:nvPr/>
        </p:nvSpPr>
        <p:spPr>
          <a:xfrm>
            <a:off x="7785100" y="3327400"/>
            <a:ext cx="317500" cy="254000"/>
          </a:xfrm>
          <a:prstGeom prst="rightArrow">
            <a:avLst/>
          </a:prstGeom>
          <a:solidFill>
            <a:srgbClr val="BFD0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F11D5E6-05A9-ADF6-DA27-387326FE3941}"/>
              </a:ext>
            </a:extLst>
          </p:cNvPr>
          <p:cNvSpPr/>
          <p:nvPr/>
        </p:nvSpPr>
        <p:spPr>
          <a:xfrm>
            <a:off x="812800" y="5130800"/>
            <a:ext cx="10566400" cy="787400"/>
          </a:xfrm>
          <a:prstGeom prst="roundRect">
            <a:avLst>
              <a:gd name="adj" fmla="val 12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EBE50EC5-5549-CD43-4559-0B174CBB3837}"/>
              </a:ext>
            </a:extLst>
          </p:cNvPr>
          <p:cNvSpPr/>
          <p:nvPr/>
        </p:nvSpPr>
        <p:spPr>
          <a:xfrm>
            <a:off x="812800" y="5130800"/>
            <a:ext cx="50800" cy="7874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B0BDFB49-7A81-471D-327F-50752D089540}"/>
              </a:ext>
            </a:extLst>
          </p:cNvPr>
          <p:cNvSpPr txBox="1"/>
          <p:nvPr/>
        </p:nvSpPr>
        <p:spPr>
          <a:xfrm>
            <a:off x="1092200" y="5130800"/>
            <a:ext cx="1497584" cy="787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反映のタイミング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BF0D03F-3371-65F1-D0B7-3102B79247D8}"/>
              </a:ext>
            </a:extLst>
          </p:cNvPr>
          <p:cNvSpPr txBox="1"/>
          <p:nvPr/>
        </p:nvSpPr>
        <p:spPr>
          <a:xfrm>
            <a:off x="2589784" y="5130800"/>
            <a:ext cx="8510016" cy="787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ファイルを追加・削除しても、いま表示しているスライドが終わったあとに切り替わります。普段は全画面（キオスクモード）のまま運用します。</a:t>
            </a:r>
          </a:p>
        </p:txBody>
      </p:sp>
    </p:spTree>
    <p:extLst>
      <p:ext uri="{BB962C8B-B14F-4D97-AF65-F5344CB8AC3E}">
        <p14:creationId xmlns:p14="http://schemas.microsoft.com/office/powerpoint/2010/main" val="344737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3C49631-B9BF-F372-F3D9-8874F0BFEF2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4BF3ADB-31EF-E9B5-C1F6-8C9364DF714F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1F072D5-774D-87D8-E9C2-DA3ED383C224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A5F11B3-A328-74CE-789C-F468DAEA5B08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ファイルを追加する・止める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7482EF7-BDC0-EBE0-B082-A46891D00B1A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06DD3742-F4A2-1063-2821-D11D5F18440F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13B7E9C-A4E1-BADF-AF63-61729C391178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AFADB8C-78FD-67B0-094E-0627FFA6FE17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81F99DF-890D-A9CD-17EF-ED8C94158D6A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4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BC33C772-DF6A-6527-F9F7-483E025621F7}"/>
              </a:ext>
            </a:extLst>
          </p:cNvPr>
          <p:cNvSpPr/>
          <p:nvPr/>
        </p:nvSpPr>
        <p:spPr>
          <a:xfrm>
            <a:off x="812800" y="1930400"/>
            <a:ext cx="10566400" cy="762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DE5A6F69-469A-5B18-3D7E-7F43053F25CA}"/>
              </a:ext>
            </a:extLst>
          </p:cNvPr>
          <p:cNvSpPr/>
          <p:nvPr/>
        </p:nvSpPr>
        <p:spPr>
          <a:xfrm>
            <a:off x="1066800" y="2133600"/>
            <a:ext cx="381000" cy="381000"/>
          </a:xfrm>
          <a:prstGeom prst="ellipse">
            <a:avLst/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6854369-1CE3-2853-D309-7201F7727664}"/>
              </a:ext>
            </a:extLst>
          </p:cNvPr>
          <p:cNvSpPr txBox="1"/>
          <p:nvPr/>
        </p:nvSpPr>
        <p:spPr>
          <a:xfrm>
            <a:off x="1066800" y="21336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</a:t>
            </a:r>
            <a:endParaRPr kumimoji="1" lang="ja-JP" altLang="en-US" sz="14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81E9A7E-076E-10FA-70B3-9F1F284935DE}"/>
              </a:ext>
            </a:extLst>
          </p:cNvPr>
          <p:cNvSpPr txBox="1"/>
          <p:nvPr/>
        </p:nvSpPr>
        <p:spPr>
          <a:xfrm>
            <a:off x="1625600" y="2082800"/>
            <a:ext cx="508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監視フォルダを開く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36679642-638E-E0F4-7714-633F84A8B0B3}"/>
              </a:ext>
            </a:extLst>
          </p:cNvPr>
          <p:cNvSpPr txBox="1"/>
          <p:nvPr/>
        </p:nvSpPr>
        <p:spPr>
          <a:xfrm>
            <a:off x="1625600" y="2362200"/>
            <a:ext cx="9347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本番の例：</a:t>
            </a:r>
            <a:r>
              <a:rPr kumimoji="1" lang="en-US" altLang="ja-JP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D:\Signage</a:t>
            </a: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（場所は管理者に確認）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54C8B71C-91A5-55AB-82F6-50229F7487BC}"/>
              </a:ext>
            </a:extLst>
          </p:cNvPr>
          <p:cNvSpPr/>
          <p:nvPr/>
        </p:nvSpPr>
        <p:spPr>
          <a:xfrm>
            <a:off x="812800" y="2844800"/>
            <a:ext cx="10566400" cy="762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楕円 16">
            <a:extLst>
              <a:ext uri="{FF2B5EF4-FFF2-40B4-BE49-F238E27FC236}">
                <a16:creationId xmlns:a16="http://schemas.microsoft.com/office/drawing/2014/main" id="{43DAC763-ACF0-335A-3AEC-DE14081B7EE7}"/>
              </a:ext>
            </a:extLst>
          </p:cNvPr>
          <p:cNvSpPr/>
          <p:nvPr/>
        </p:nvSpPr>
        <p:spPr>
          <a:xfrm>
            <a:off x="1066800" y="3048000"/>
            <a:ext cx="381000" cy="381000"/>
          </a:xfrm>
          <a:prstGeom prst="ellipse">
            <a:avLst/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76677DC-5D28-EEB2-38EB-877FAA688A02}"/>
              </a:ext>
            </a:extLst>
          </p:cNvPr>
          <p:cNvSpPr txBox="1"/>
          <p:nvPr/>
        </p:nvSpPr>
        <p:spPr>
          <a:xfrm>
            <a:off x="1066800" y="30480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</a:t>
            </a:r>
            <a:endParaRPr kumimoji="1" lang="ja-JP" altLang="en-US" sz="14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27CFC61-FEA7-6893-A0B5-05150DE57656}"/>
              </a:ext>
            </a:extLst>
          </p:cNvPr>
          <p:cNvSpPr txBox="1"/>
          <p:nvPr/>
        </p:nvSpPr>
        <p:spPr>
          <a:xfrm>
            <a:off x="1625600" y="2997200"/>
            <a:ext cx="508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ファイルをフォルダ直下にコピーする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CD613FE-7F54-13BF-2CCB-4295E3C2951B}"/>
              </a:ext>
            </a:extLst>
          </p:cNvPr>
          <p:cNvSpPr txBox="1"/>
          <p:nvPr/>
        </p:nvSpPr>
        <p:spPr>
          <a:xfrm>
            <a:off x="1625600" y="3276600"/>
            <a:ext cx="9347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対応形式は </a:t>
            </a:r>
            <a:r>
              <a:rPr kumimoji="1" lang="en-US" altLang="ja-JP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JPG / JPEG</a:t>
            </a: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</a:t>
            </a: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MP4</a:t>
            </a:r>
            <a:endParaRPr kumimoji="1" lang="ja-JP" altLang="en-US" sz="12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DFF2F58F-ADD2-DB1E-806B-433340DBC9CD}"/>
              </a:ext>
            </a:extLst>
          </p:cNvPr>
          <p:cNvSpPr/>
          <p:nvPr/>
        </p:nvSpPr>
        <p:spPr>
          <a:xfrm>
            <a:off x="812800" y="3759200"/>
            <a:ext cx="10566400" cy="762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楕円 21">
            <a:extLst>
              <a:ext uri="{FF2B5EF4-FFF2-40B4-BE49-F238E27FC236}">
                <a16:creationId xmlns:a16="http://schemas.microsoft.com/office/drawing/2014/main" id="{E8FB0269-006F-4FBF-D691-A893AE26F250}"/>
              </a:ext>
            </a:extLst>
          </p:cNvPr>
          <p:cNvSpPr/>
          <p:nvPr/>
        </p:nvSpPr>
        <p:spPr>
          <a:xfrm>
            <a:off x="1066800" y="3962400"/>
            <a:ext cx="381000" cy="381000"/>
          </a:xfrm>
          <a:prstGeom prst="ellipse">
            <a:avLst/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959C495B-2500-A0C3-CF9C-F4534631D4B9}"/>
              </a:ext>
            </a:extLst>
          </p:cNvPr>
          <p:cNvSpPr txBox="1"/>
          <p:nvPr/>
        </p:nvSpPr>
        <p:spPr>
          <a:xfrm>
            <a:off x="1066800" y="39624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</a:t>
            </a:r>
            <a:endParaRPr kumimoji="1" lang="ja-JP" altLang="en-US" sz="14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EE303A0-2EC9-6409-A095-B065FB815669}"/>
              </a:ext>
            </a:extLst>
          </p:cNvPr>
          <p:cNvSpPr txBox="1"/>
          <p:nvPr/>
        </p:nvSpPr>
        <p:spPr>
          <a:xfrm>
            <a:off x="1625600" y="3911600"/>
            <a:ext cx="508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自動で表示に反映される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9C5E71F6-2B15-823F-F09F-44A78F734D40}"/>
              </a:ext>
            </a:extLst>
          </p:cNvPr>
          <p:cNvSpPr txBox="1"/>
          <p:nvPr/>
        </p:nvSpPr>
        <p:spPr>
          <a:xfrm>
            <a:off x="1625600" y="4191000"/>
            <a:ext cx="9347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現在のスライドが終わったタイミングで切り替わります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91607384-7EE4-C7ED-D442-9D3930F3E496}"/>
              </a:ext>
            </a:extLst>
          </p:cNvPr>
          <p:cNvSpPr/>
          <p:nvPr/>
        </p:nvSpPr>
        <p:spPr>
          <a:xfrm>
            <a:off x="812800" y="4724400"/>
            <a:ext cx="10566400" cy="635000"/>
          </a:xfrm>
          <a:prstGeom prst="roundRect">
            <a:avLst>
              <a:gd name="adj" fmla="val 12000"/>
            </a:avLst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53CB48E2-4D8E-40A6-E732-E52FA413638E}"/>
              </a:ext>
            </a:extLst>
          </p:cNvPr>
          <p:cNvSpPr/>
          <p:nvPr/>
        </p:nvSpPr>
        <p:spPr>
          <a:xfrm>
            <a:off x="812800" y="4724400"/>
            <a:ext cx="50800" cy="6350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48C95B70-9D75-45FE-1D32-04D69A10F56F}"/>
              </a:ext>
            </a:extLst>
          </p:cNvPr>
          <p:cNvSpPr txBox="1"/>
          <p:nvPr/>
        </p:nvSpPr>
        <p:spPr>
          <a:xfrm>
            <a:off x="1092200" y="4724400"/>
            <a:ext cx="564896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注意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686671DC-E352-716E-1CDF-64CEED9F1FC9}"/>
              </a:ext>
            </a:extLst>
          </p:cNvPr>
          <p:cNvSpPr txBox="1"/>
          <p:nvPr/>
        </p:nvSpPr>
        <p:spPr>
          <a:xfrm>
            <a:off x="1657096" y="4724400"/>
            <a:ext cx="9442704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サブフォルダの中のファイルは表示されません。必ずフォルダ直下に置いてください。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3D211D8F-CBD6-0FB1-5391-BA0F4E62938C}"/>
              </a:ext>
            </a:extLst>
          </p:cNvPr>
          <p:cNvSpPr/>
          <p:nvPr/>
        </p:nvSpPr>
        <p:spPr>
          <a:xfrm>
            <a:off x="812800" y="5461000"/>
            <a:ext cx="10566400" cy="63500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FA692FEF-1203-E23B-994E-6FEF4F2BDDA4}"/>
              </a:ext>
            </a:extLst>
          </p:cNvPr>
          <p:cNvSpPr/>
          <p:nvPr/>
        </p:nvSpPr>
        <p:spPr>
          <a:xfrm>
            <a:off x="812800" y="5461000"/>
            <a:ext cx="50800" cy="6350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20F7C19-92F2-3C3C-8028-40907851E8BA}"/>
              </a:ext>
            </a:extLst>
          </p:cNvPr>
          <p:cNvSpPr txBox="1"/>
          <p:nvPr/>
        </p:nvSpPr>
        <p:spPr>
          <a:xfrm>
            <a:off x="1092200" y="5461000"/>
            <a:ext cx="1031240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止めるとき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8C84D826-B842-D0D7-679D-C61E2AFFABD7}"/>
              </a:ext>
            </a:extLst>
          </p:cNvPr>
          <p:cNvSpPr txBox="1"/>
          <p:nvPr/>
        </p:nvSpPr>
        <p:spPr>
          <a:xfrm>
            <a:off x="2123440" y="5461000"/>
            <a:ext cx="8976360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監視フォルダから該当のファイルを削除するだけです。反映はやはり現在のスライドが終わったあとです。</a:t>
            </a:r>
          </a:p>
        </p:txBody>
      </p:sp>
    </p:spTree>
    <p:extLst>
      <p:ext uri="{BB962C8B-B14F-4D97-AF65-F5344CB8AC3E}">
        <p14:creationId xmlns:p14="http://schemas.microsoft.com/office/powerpoint/2010/main" val="2174509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8C33B9D-106C-2344-DD09-C31001A9AC1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A1F46D6-A6E7-20D8-B480-415235DC1D38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738C73E-43E8-DC0E-329E-B6621F404CF3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45DFC08-1419-421E-4537-B2821019F2FF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使えるファイルの種類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D912783-3867-D556-B25D-EB5B72FD931D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25774A61-EEC9-DBEA-4B50-387FDC3D5D4E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D13CB24-74F3-262A-8AD3-6E8AD62600DA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90E7AAB-FE70-02E3-7B68-3E734038C222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5668246-E6D4-393D-82D7-F42671BDFCD2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5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2758B39-A88D-0E29-3FE1-CAA78156B74B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次の 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種類だけが表示対象です。それ以外の形式は無視されます。</a:t>
            </a:r>
          </a:p>
        </p:txBody>
      </p:sp>
      <p:graphicFrame>
        <p:nvGraphicFramePr>
          <p:cNvPr id="12" name="表 11">
            <a:extLst>
              <a:ext uri="{FF2B5EF4-FFF2-40B4-BE49-F238E27FC236}">
                <a16:creationId xmlns:a16="http://schemas.microsoft.com/office/drawing/2014/main" id="{37ED260A-8B9A-02B5-0022-954B5E6EBF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586820"/>
              </p:ext>
            </p:extLst>
          </p:nvPr>
        </p:nvGraphicFramePr>
        <p:xfrm>
          <a:off x="812800" y="2438400"/>
          <a:ext cx="10566400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2926089952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4089007333"/>
                    </a:ext>
                  </a:extLst>
                </a:gridCol>
                <a:gridCol w="6248400">
                  <a:extLst>
                    <a:ext uri="{9D8B030D-6E8A-4147-A177-3AD203B41FA5}">
                      <a16:colId xmlns:a16="http://schemas.microsoft.com/office/drawing/2014/main" val="297621548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種類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拡張子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表示のしかた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8327257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画像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.jpg / .jpeg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 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ファイル </a:t>
                      </a: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= 1 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枚のスライド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0813205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PDF</a:t>
                      </a:r>
                      <a:endParaRPr kumimoji="1" lang="ja-JP" altLang="en-US" sz="1250" b="1">
                        <a:solidFill>
                          <a:srgbClr val="1B2430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.pdf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 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ページ </a:t>
                      </a: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= 1 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枚のスライド（ページ順に表示）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0824126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動画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.mp4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最後まで再生してから次のスライドへ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722124"/>
                  </a:ext>
                </a:extLst>
              </a:tr>
            </a:tbl>
          </a:graphicData>
        </a:graphic>
      </p:graphicFrame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3E261552-B76D-41FD-8B46-E45B3B46B318}"/>
              </a:ext>
            </a:extLst>
          </p:cNvPr>
          <p:cNvSpPr/>
          <p:nvPr/>
        </p:nvSpPr>
        <p:spPr>
          <a:xfrm>
            <a:off x="812800" y="5207000"/>
            <a:ext cx="10566400" cy="660400"/>
          </a:xfrm>
          <a:prstGeom prst="roundRect">
            <a:avLst>
              <a:gd name="adj" fmla="val 12000"/>
            </a:avLst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4B46BC7B-83F0-3F27-04BC-F192BDB68A74}"/>
              </a:ext>
            </a:extLst>
          </p:cNvPr>
          <p:cNvSpPr/>
          <p:nvPr/>
        </p:nvSpPr>
        <p:spPr>
          <a:xfrm>
            <a:off x="812800" y="5207000"/>
            <a:ext cx="50800" cy="6604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3C27EC73-8321-D038-4AEC-B63364B7FE41}"/>
              </a:ext>
            </a:extLst>
          </p:cNvPr>
          <p:cNvSpPr txBox="1"/>
          <p:nvPr/>
        </p:nvSpPr>
        <p:spPr>
          <a:xfrm>
            <a:off x="1092200" y="5207000"/>
            <a:ext cx="1186688" cy="660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使えない形式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32CB644-3A4C-3145-4148-7616E4C9E586}"/>
              </a:ext>
            </a:extLst>
          </p:cNvPr>
          <p:cNvSpPr txBox="1"/>
          <p:nvPr/>
        </p:nvSpPr>
        <p:spPr>
          <a:xfrm>
            <a:off x="2278888" y="5207000"/>
            <a:ext cx="8820912" cy="660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PNG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GIF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MOV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などは表示できません。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JPEG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MP4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に変換してから置いてください。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2889486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33931DB-8C42-3D2F-F002-21EB8CD35FE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04A9BE4-9EDE-CEBB-D806-86C5CD36E7F7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DB5D0F1-DF8D-EF28-98AD-8CF4BBA9AC7C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FCDF3ED-45D1-0716-A85D-71A064323203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表示順はファイル名で決まる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EC2EB0D-DB7C-ECC6-42CE-6B0EC0D720FA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56ED923C-BBFE-B58C-74B0-91341D43E844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EE55D2F-86CE-F9B4-E573-219E5E7BA423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145AFB1-E006-C7EB-7ABC-97A1A8AB8A82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CD8BB96-9C3F-B17C-0C9F-7B7CD2F2B216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6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ADA4127-772C-BD9B-EB78-4D2AB119BB47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ファイル名の自然な順（人が読む順に近い並び）で表示します。</a:t>
            </a:r>
          </a:p>
        </p:txBody>
      </p:sp>
      <p:graphicFrame>
        <p:nvGraphicFramePr>
          <p:cNvPr id="12" name="表 11">
            <a:extLst>
              <a:ext uri="{FF2B5EF4-FFF2-40B4-BE49-F238E27FC236}">
                <a16:creationId xmlns:a16="http://schemas.microsoft.com/office/drawing/2014/main" id="{4BB5D8B6-B023-107C-3459-1B1BBFFD5B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8769725"/>
              </p:ext>
            </p:extLst>
          </p:nvPr>
        </p:nvGraphicFramePr>
        <p:xfrm>
          <a:off x="812800" y="2438400"/>
          <a:ext cx="10566400" cy="19304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461000">
                  <a:extLst>
                    <a:ext uri="{9D8B030D-6E8A-4147-A177-3AD203B41FA5}">
                      <a16:colId xmlns:a16="http://schemas.microsoft.com/office/drawing/2014/main" val="3829755527"/>
                    </a:ext>
                  </a:extLst>
                </a:gridCol>
                <a:gridCol w="5105400">
                  <a:extLst>
                    <a:ext uri="{9D8B030D-6E8A-4147-A177-3AD203B41FA5}">
                      <a16:colId xmlns:a16="http://schemas.microsoft.com/office/drawing/2014/main" val="36508603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ファイル名の例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実際の表示順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781157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001.jpg → 002.jpg → 010.jpg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001 → 002 → 010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（意図どおり）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9420953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1.jpg → 10.jpg → 2.jpg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 → 10 → 2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（意図とずれることがある）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4702790"/>
                  </a:ext>
                </a:extLst>
              </a:tr>
            </a:tbl>
          </a:graphicData>
        </a:graphic>
      </p:graphicFrame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EF9C7C41-008C-31D4-E8F2-707531355046}"/>
              </a:ext>
            </a:extLst>
          </p:cNvPr>
          <p:cNvSpPr/>
          <p:nvPr/>
        </p:nvSpPr>
        <p:spPr>
          <a:xfrm>
            <a:off x="812800" y="4775200"/>
            <a:ext cx="10566400" cy="76200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557ED88C-65EB-45A6-C679-AD1D98926FB4}"/>
              </a:ext>
            </a:extLst>
          </p:cNvPr>
          <p:cNvSpPr/>
          <p:nvPr/>
        </p:nvSpPr>
        <p:spPr>
          <a:xfrm>
            <a:off x="812800" y="4775200"/>
            <a:ext cx="50800" cy="7620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50B20A3-B0A8-C92F-440E-7C715295894E}"/>
              </a:ext>
            </a:extLst>
          </p:cNvPr>
          <p:cNvSpPr txBox="1"/>
          <p:nvPr/>
        </p:nvSpPr>
        <p:spPr>
          <a:xfrm>
            <a:off x="1092200" y="4775200"/>
            <a:ext cx="875792" cy="762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おすすめ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89E1D77-E9B4-4450-60D8-FF314AA109BC}"/>
              </a:ext>
            </a:extLst>
          </p:cNvPr>
          <p:cNvSpPr txBox="1"/>
          <p:nvPr/>
        </p:nvSpPr>
        <p:spPr>
          <a:xfrm>
            <a:off x="1967992" y="4775200"/>
            <a:ext cx="9131808" cy="762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先頭を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001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002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003 …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のように桁を揃えておくと、並び替えも差し替えも管理しやすくなります。</a:t>
            </a:r>
          </a:p>
        </p:txBody>
      </p:sp>
    </p:spTree>
    <p:extLst>
      <p:ext uri="{BB962C8B-B14F-4D97-AF65-F5344CB8AC3E}">
        <p14:creationId xmlns:p14="http://schemas.microsoft.com/office/powerpoint/2010/main" val="36179349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2F44A97-0B02-DEA7-EBB6-626CCB0B81D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310FDBA-92BC-11EB-F28B-7A803C173224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0E2BD1C-3507-6E17-4846-029A36668A50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E213814-B674-17DE-963B-65FDDA2F11B7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表示時間はファイル名で変えられる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6854C2D-098C-23A3-F2BC-95C52BF4A954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D054A660-ADF7-4E9C-AE05-D56815B3D62C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4815A55-7C5F-DB29-80B6-606F8F1CD616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918E8A0-D5D8-0635-4D0D-58AE8F72768E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F2F9747-611C-D423-0868-0CC6B07393F2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7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534EFA2-0BA5-F022-F036-C38657BCB33B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画像と 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は、拡張子の直前に「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秒数」を付けると、そのファイルだけ表示時間を変えられます。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F4A47FF4-BF7E-1B66-FF87-DF42A711B5CF}"/>
              </a:ext>
            </a:extLst>
          </p:cNvPr>
          <p:cNvSpPr/>
          <p:nvPr/>
        </p:nvSpPr>
        <p:spPr>
          <a:xfrm>
            <a:off x="812800" y="2362200"/>
            <a:ext cx="10566400" cy="1066800"/>
          </a:xfrm>
          <a:prstGeom prst="roundRect">
            <a:avLst>
              <a:gd name="adj" fmla="val 12000"/>
            </a:avLst>
          </a:prstGeom>
          <a:solidFill>
            <a:srgbClr val="102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6CA27D3-BB23-9283-BEB0-67031FE9138D}"/>
              </a:ext>
            </a:extLst>
          </p:cNvPr>
          <p:cNvSpPr txBox="1"/>
          <p:nvPr/>
        </p:nvSpPr>
        <p:spPr>
          <a:xfrm>
            <a:off x="1244600" y="2540000"/>
            <a:ext cx="508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600" b="1">
                <a:solidFill>
                  <a:srgbClr val="FFFFFF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2600" b="1">
                <a:solidFill>
                  <a:srgbClr val="FFFFFF"/>
                </a:solidFill>
                <a:latin typeface="Consolas" panose="020B0609020204030204" pitchFamily="49" charset="0"/>
              </a:rPr>
              <a:t>_120.pdf</a:t>
            </a:r>
            <a:endParaRPr kumimoji="1" lang="ja-JP" altLang="en-US" sz="2600" b="1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887EE279-9E3E-86AE-3ADD-8382E7B09C80}"/>
              </a:ext>
            </a:extLst>
          </p:cNvPr>
          <p:cNvSpPr txBox="1"/>
          <p:nvPr/>
        </p:nvSpPr>
        <p:spPr>
          <a:xfrm>
            <a:off x="1244600" y="2997200"/>
            <a:ext cx="9702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「</a:t>
            </a:r>
            <a:r>
              <a:rPr kumimoji="1" lang="en-US" altLang="ja-JP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_120</a:t>
            </a: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」の部分が表示秒数。付けなければ管理者が決めた標準の秒数になります。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0165E63C-6F3E-1467-2A33-F680BDB39597}"/>
              </a:ext>
            </a:extLst>
          </p:cNvPr>
          <p:cNvSpPr/>
          <p:nvPr/>
        </p:nvSpPr>
        <p:spPr>
          <a:xfrm>
            <a:off x="8128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5466F25-4CC6-3A64-F824-E778DDB87B7E}"/>
              </a:ext>
            </a:extLst>
          </p:cNvPr>
          <p:cNvSpPr txBox="1"/>
          <p:nvPr/>
        </p:nvSpPr>
        <p:spPr>
          <a:xfrm>
            <a:off x="1066800" y="3937000"/>
            <a:ext cx="2844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00" b="1">
                <a:solidFill>
                  <a:srgbClr val="1B2430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1400" b="1">
                <a:solidFill>
                  <a:srgbClr val="1B2430"/>
                </a:solidFill>
                <a:latin typeface="Consolas" panose="020B0609020204030204" pitchFamily="49" charset="0"/>
              </a:rPr>
              <a:t>.pdf</a:t>
            </a:r>
            <a:endParaRPr kumimoji="1" lang="ja-JP" altLang="en-US" sz="14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89D59789-8A6F-AD2C-C80F-D6342C3A7612}"/>
              </a:ext>
            </a:extLst>
          </p:cNvPr>
          <p:cNvSpPr txBox="1"/>
          <p:nvPr/>
        </p:nvSpPr>
        <p:spPr>
          <a:xfrm>
            <a:off x="1066800" y="4267200"/>
            <a:ext cx="28448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標準の秒数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6C92E5A-C913-28E5-E253-8041516332C5}"/>
              </a:ext>
            </a:extLst>
          </p:cNvPr>
          <p:cNvSpPr txBox="1"/>
          <p:nvPr/>
        </p:nvSpPr>
        <p:spPr>
          <a:xfrm>
            <a:off x="1066800" y="4648200"/>
            <a:ext cx="28448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管理画面の設定値（初期値 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15 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秒）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C6E2FD0B-7029-67A0-71C8-15E59A736177}"/>
              </a:ext>
            </a:extLst>
          </p:cNvPr>
          <p:cNvSpPr/>
          <p:nvPr/>
        </p:nvSpPr>
        <p:spPr>
          <a:xfrm>
            <a:off x="44196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DF478AD3-17AC-B910-A8B0-EFD792E49DB4}"/>
              </a:ext>
            </a:extLst>
          </p:cNvPr>
          <p:cNvSpPr txBox="1"/>
          <p:nvPr/>
        </p:nvSpPr>
        <p:spPr>
          <a:xfrm>
            <a:off x="4673600" y="3937000"/>
            <a:ext cx="2844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00" b="1">
                <a:solidFill>
                  <a:srgbClr val="1B2430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1400" b="1">
                <a:solidFill>
                  <a:srgbClr val="1B2430"/>
                </a:solidFill>
                <a:latin typeface="Consolas" panose="020B0609020204030204" pitchFamily="49" charset="0"/>
              </a:rPr>
              <a:t>_120.pdf</a:t>
            </a:r>
            <a:endParaRPr kumimoji="1" lang="ja-JP" altLang="en-US" sz="14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8603A2CD-8E81-E2EA-1FFB-AC742A213C92}"/>
              </a:ext>
            </a:extLst>
          </p:cNvPr>
          <p:cNvSpPr txBox="1"/>
          <p:nvPr/>
        </p:nvSpPr>
        <p:spPr>
          <a:xfrm>
            <a:off x="4673600" y="4267200"/>
            <a:ext cx="28448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120 </a:t>
            </a:r>
            <a:r>
              <a:rPr kumimoji="1" lang="ja-JP" altLang="en-US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E015CF39-5ABD-BFD8-9207-5C2261C8CA6E}"/>
              </a:ext>
            </a:extLst>
          </p:cNvPr>
          <p:cNvSpPr txBox="1"/>
          <p:nvPr/>
        </p:nvSpPr>
        <p:spPr>
          <a:xfrm>
            <a:off x="4673600" y="4648200"/>
            <a:ext cx="28448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 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分間しっかり読ませたい掲示に</a:t>
            </a: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8D86B048-1420-2C17-26B2-AC71D4B03858}"/>
              </a:ext>
            </a:extLst>
          </p:cNvPr>
          <p:cNvSpPr/>
          <p:nvPr/>
        </p:nvSpPr>
        <p:spPr>
          <a:xfrm>
            <a:off x="80264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1276BC6-EDA2-DF94-53DF-4BFA59516D3D}"/>
              </a:ext>
            </a:extLst>
          </p:cNvPr>
          <p:cNvSpPr txBox="1"/>
          <p:nvPr/>
        </p:nvSpPr>
        <p:spPr>
          <a:xfrm>
            <a:off x="8280400" y="3937000"/>
            <a:ext cx="2844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00" b="1">
                <a:solidFill>
                  <a:srgbClr val="1B2430"/>
                </a:solidFill>
                <a:latin typeface="Consolas" panose="020B0609020204030204" pitchFamily="49" charset="0"/>
              </a:rPr>
              <a:t>写真</a:t>
            </a:r>
            <a:r>
              <a:rPr kumimoji="1" lang="en-US" altLang="ja-JP" sz="1400" b="1">
                <a:solidFill>
                  <a:srgbClr val="1B2430"/>
                </a:solidFill>
                <a:latin typeface="Consolas" panose="020B0609020204030204" pitchFamily="49" charset="0"/>
              </a:rPr>
              <a:t>_30.jpg</a:t>
            </a:r>
            <a:endParaRPr kumimoji="1" lang="ja-JP" altLang="en-US" sz="14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4BE22DB9-7B29-A6F6-662C-E34476820947}"/>
              </a:ext>
            </a:extLst>
          </p:cNvPr>
          <p:cNvSpPr txBox="1"/>
          <p:nvPr/>
        </p:nvSpPr>
        <p:spPr>
          <a:xfrm>
            <a:off x="8280400" y="4267200"/>
            <a:ext cx="28448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30 </a:t>
            </a:r>
            <a:r>
              <a:rPr kumimoji="1" lang="ja-JP" altLang="en-US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302AB9D4-AFB3-AE1D-B2A8-3882AF29E60E}"/>
              </a:ext>
            </a:extLst>
          </p:cNvPr>
          <p:cNvSpPr txBox="1"/>
          <p:nvPr/>
        </p:nvSpPr>
        <p:spPr>
          <a:xfrm>
            <a:off x="8280400" y="4648200"/>
            <a:ext cx="28448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短めに流したい写真に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4BBA3B95-0381-5747-F5DE-F8933909F1CF}"/>
              </a:ext>
            </a:extLst>
          </p:cNvPr>
          <p:cNvSpPr/>
          <p:nvPr/>
        </p:nvSpPr>
        <p:spPr>
          <a:xfrm>
            <a:off x="812800" y="5334000"/>
            <a:ext cx="10566400" cy="609600"/>
          </a:xfrm>
          <a:prstGeom prst="roundRect">
            <a:avLst>
              <a:gd name="adj" fmla="val 12000"/>
            </a:avLst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48B8F653-D7B3-CBB5-9C5A-BF0FB0EAEE4E}"/>
              </a:ext>
            </a:extLst>
          </p:cNvPr>
          <p:cNvSpPr/>
          <p:nvPr/>
        </p:nvSpPr>
        <p:spPr>
          <a:xfrm>
            <a:off x="812800" y="5334000"/>
            <a:ext cx="50800" cy="6096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C6DFFAA-3BC3-4C12-C695-AD1FC55D286C}"/>
              </a:ext>
            </a:extLst>
          </p:cNvPr>
          <p:cNvSpPr txBox="1"/>
          <p:nvPr/>
        </p:nvSpPr>
        <p:spPr>
          <a:xfrm>
            <a:off x="1092200" y="5334000"/>
            <a:ext cx="103124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動画は例外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EB861726-69B7-5CAE-B7F8-1614CF8C46EC}"/>
              </a:ext>
            </a:extLst>
          </p:cNvPr>
          <p:cNvSpPr txBox="1"/>
          <p:nvPr/>
        </p:nvSpPr>
        <p:spPr>
          <a:xfrm>
            <a:off x="2123440" y="5334000"/>
            <a:ext cx="897636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.mp4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は再生が終わるまで表示します。秒数指定は効きません。</a:t>
            </a:r>
          </a:p>
        </p:txBody>
      </p:sp>
    </p:spTree>
    <p:extLst>
      <p:ext uri="{BB962C8B-B14F-4D97-AF65-F5344CB8AC3E}">
        <p14:creationId xmlns:p14="http://schemas.microsoft.com/office/powerpoint/2010/main" val="12845850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A7ED351-9613-97B7-FE92-03EE9B7C4BF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EF6E7C1-FE9E-4CAB-9029-D04E22A4C24B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B34AB39-374D-EBC9-918F-B514F8346E59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EFD9661-B2C0-36AC-640A-54F8BA0A741E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知っておきたい </a:t>
            </a:r>
            <a:r>
              <a:rPr kumimoji="1" lang="en-US" altLang="ja-JP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 </a:t>
            </a: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つのこと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2F4A8D9-CC2E-6E8C-4277-242E23EC0C0E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6CCAA133-D642-F1A4-C2D0-37FE44FF3FB3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E535896-2C55-A732-A615-605703CA1542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3AD8791-21E7-72D2-642D-AFB3E7E59BA2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A1C37E8-FF25-1847-33D4-3D762AF6AC44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8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839EC4D7-1564-FD95-E9FC-C472418448B4}"/>
              </a:ext>
            </a:extLst>
          </p:cNvPr>
          <p:cNvSpPr/>
          <p:nvPr/>
        </p:nvSpPr>
        <p:spPr>
          <a:xfrm>
            <a:off x="812800" y="2133600"/>
            <a:ext cx="10566400" cy="1219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8F60D924-4350-B649-CD14-6962E8776580}"/>
              </a:ext>
            </a:extLst>
          </p:cNvPr>
          <p:cNvSpPr/>
          <p:nvPr/>
        </p:nvSpPr>
        <p:spPr>
          <a:xfrm>
            <a:off x="812800" y="2133600"/>
            <a:ext cx="50800" cy="1219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C8CD352-001C-6840-588B-D256991B6A51}"/>
              </a:ext>
            </a:extLst>
          </p:cNvPr>
          <p:cNvSpPr txBox="1"/>
          <p:nvPr/>
        </p:nvSpPr>
        <p:spPr>
          <a:xfrm>
            <a:off x="1168400" y="2413000"/>
            <a:ext cx="9855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コピー中は反映されない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D5D69BB-55C6-4249-FF7B-6AE5CA977BE8}"/>
              </a:ext>
            </a:extLst>
          </p:cNvPr>
          <p:cNvSpPr txBox="1"/>
          <p:nvPr/>
        </p:nvSpPr>
        <p:spPr>
          <a:xfrm>
            <a:off x="1168400" y="2768600"/>
            <a:ext cx="9855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ファイルのコピー途中だと読み込みに失敗することがあります。コピーが完了すれば自動で反映されます。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C473C88D-B13A-B027-6C75-866731333665}"/>
              </a:ext>
            </a:extLst>
          </p:cNvPr>
          <p:cNvSpPr/>
          <p:nvPr/>
        </p:nvSpPr>
        <p:spPr>
          <a:xfrm>
            <a:off x="812800" y="3530600"/>
            <a:ext cx="10566400" cy="1219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8C4B48D0-093B-8D44-2BFB-ACE93A072A11}"/>
              </a:ext>
            </a:extLst>
          </p:cNvPr>
          <p:cNvSpPr/>
          <p:nvPr/>
        </p:nvSpPr>
        <p:spPr>
          <a:xfrm>
            <a:off x="812800" y="3530600"/>
            <a:ext cx="50800" cy="1219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C0BBE8EB-5440-9AE4-CF35-8939DB8BF59B}"/>
              </a:ext>
            </a:extLst>
          </p:cNvPr>
          <p:cNvSpPr txBox="1"/>
          <p:nvPr/>
        </p:nvSpPr>
        <p:spPr>
          <a:xfrm>
            <a:off x="1168400" y="3810000"/>
            <a:ext cx="9855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壊れたファイルはスキップ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22F763F2-277B-59E4-2789-65F4E4582361}"/>
              </a:ext>
            </a:extLst>
          </p:cNvPr>
          <p:cNvSpPr txBox="1"/>
          <p:nvPr/>
        </p:nvSpPr>
        <p:spPr>
          <a:xfrm>
            <a:off x="1168400" y="4165600"/>
            <a:ext cx="9855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読めないファイルは自動で飛ばし、残りのファイルは続けて表示されます。掲示が止まることはありません。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3E334442-50B6-0E8F-C7E4-49DC163E0572}"/>
              </a:ext>
            </a:extLst>
          </p:cNvPr>
          <p:cNvSpPr/>
          <p:nvPr/>
        </p:nvSpPr>
        <p:spPr>
          <a:xfrm>
            <a:off x="812800" y="4927600"/>
            <a:ext cx="10566400" cy="1219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ACD33015-6E1B-9883-AE39-3130E1AE6962}"/>
              </a:ext>
            </a:extLst>
          </p:cNvPr>
          <p:cNvSpPr/>
          <p:nvPr/>
        </p:nvSpPr>
        <p:spPr>
          <a:xfrm>
            <a:off x="812800" y="4927600"/>
            <a:ext cx="50800" cy="1219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87D5007-E57F-A44B-D755-EB9A6E952B93}"/>
              </a:ext>
            </a:extLst>
          </p:cNvPr>
          <p:cNvSpPr txBox="1"/>
          <p:nvPr/>
        </p:nvSpPr>
        <p:spPr>
          <a:xfrm>
            <a:off x="1168400" y="5207000"/>
            <a:ext cx="9855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設定変更は管理者が行う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43990A0A-8D8D-4055-27CE-DC4A10EB448F}"/>
              </a:ext>
            </a:extLst>
          </p:cNvPr>
          <p:cNvSpPr txBox="1"/>
          <p:nvPr/>
        </p:nvSpPr>
        <p:spPr>
          <a:xfrm>
            <a:off x="1168400" y="5562600"/>
            <a:ext cx="9855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フォルダの場所や標準の表示秒数などの変更は、管理者が管理画面で行います。</a:t>
            </a:r>
          </a:p>
        </p:txBody>
      </p:sp>
    </p:spTree>
    <p:extLst>
      <p:ext uri="{BB962C8B-B14F-4D97-AF65-F5344CB8AC3E}">
        <p14:creationId xmlns:p14="http://schemas.microsoft.com/office/powerpoint/2010/main" val="17480832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154C749-8AF7-D6A5-EABE-5AA01B0B1FF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9B159E4-2D17-BDEB-805F-CDFF8B1C5BCE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21B63DD-4631-038F-ED48-EC2728240BDB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2930DE3-90ED-599E-ACFF-A5E93B294487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アプリの起動と管理画面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5AE42C7-6599-DB71-8E62-A7ED5F6506CB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9BEE2407-8CFA-4B59-0F95-84E1CC2FA478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2B5FB21-A79C-3EF9-C1A0-41028B897661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A0FDD55-868F-8942-858D-C327C5D1F1AA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421DB43-19B3-B175-B763-08976393A6DE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9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70AE9284-6087-4E66-508F-946911EC14F6}"/>
              </a:ext>
            </a:extLst>
          </p:cNvPr>
          <p:cNvSpPr/>
          <p:nvPr/>
        </p:nvSpPr>
        <p:spPr>
          <a:xfrm>
            <a:off x="812800" y="1905000"/>
            <a:ext cx="5130800" cy="2692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E5C484E9-4D6E-188D-49E1-6E852F5A6ECE}"/>
              </a:ext>
            </a:extLst>
          </p:cNvPr>
          <p:cNvSpPr/>
          <p:nvPr/>
        </p:nvSpPr>
        <p:spPr>
          <a:xfrm>
            <a:off x="1143000" y="2209800"/>
            <a:ext cx="685800" cy="279400"/>
          </a:xfrm>
          <a:prstGeom prst="roundRect">
            <a:avLst>
              <a:gd name="adj" fmla="val 5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D057E51-26BB-8639-0638-F4193C06E4F8}"/>
              </a:ext>
            </a:extLst>
          </p:cNvPr>
          <p:cNvSpPr txBox="1"/>
          <p:nvPr/>
        </p:nvSpPr>
        <p:spPr>
          <a:xfrm>
            <a:off x="1143000" y="2209800"/>
            <a:ext cx="685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START</a:t>
            </a:r>
            <a:endParaRPr kumimoji="1" lang="ja-JP" altLang="en-US" sz="10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3165752-6948-FD56-3AED-288A8CCD98A2}"/>
              </a:ext>
            </a:extLst>
          </p:cNvPr>
          <p:cNvSpPr txBox="1"/>
          <p:nvPr/>
        </p:nvSpPr>
        <p:spPr>
          <a:xfrm>
            <a:off x="1143000" y="26416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アプリを起動する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51E623A-EE7C-9675-CEDE-5262AD654E78}"/>
              </a:ext>
            </a:extLst>
          </p:cNvPr>
          <p:cNvSpPr txBox="1"/>
          <p:nvPr/>
        </p:nvSpPr>
        <p:spPr>
          <a:xfrm>
            <a:off x="1143000" y="3175000"/>
            <a:ext cx="4470400" cy="1143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1. 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配布フォルダの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PdfSignage.exe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をダブルクリック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2. 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全画面でサイネージ表示が始まる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3. 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初回起動時は設定ファイルが自動作成される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1574682D-D517-9435-0864-56C08726D3AE}"/>
              </a:ext>
            </a:extLst>
          </p:cNvPr>
          <p:cNvSpPr/>
          <p:nvPr/>
        </p:nvSpPr>
        <p:spPr>
          <a:xfrm>
            <a:off x="6248400" y="1905000"/>
            <a:ext cx="5130800" cy="2692400"/>
          </a:xfrm>
          <a:prstGeom prst="roundRect">
            <a:avLst>
              <a:gd name="adj" fmla="val 7000"/>
            </a:avLst>
          </a:prstGeom>
          <a:solidFill>
            <a:srgbClr val="102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5D18AE86-8CA1-2F80-6570-DAF123C4EBD2}"/>
              </a:ext>
            </a:extLst>
          </p:cNvPr>
          <p:cNvSpPr/>
          <p:nvPr/>
        </p:nvSpPr>
        <p:spPr>
          <a:xfrm>
            <a:off x="6578600" y="2209800"/>
            <a:ext cx="899160" cy="279400"/>
          </a:xfrm>
          <a:prstGeom prst="roundRect">
            <a:avLst>
              <a:gd name="adj" fmla="val 50000"/>
            </a:avLst>
          </a:prstGeom>
          <a:solidFill>
            <a:srgbClr val="1E3A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1576F8E-BBF8-6C15-F061-6A25E3F8A9F7}"/>
              </a:ext>
            </a:extLst>
          </p:cNvPr>
          <p:cNvSpPr txBox="1"/>
          <p:nvPr/>
        </p:nvSpPr>
        <p:spPr>
          <a:xfrm>
            <a:off x="6578600" y="2209800"/>
            <a:ext cx="89916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BBD1FA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SHORTCUT</a:t>
            </a:r>
            <a:endParaRPr kumimoji="1" lang="ja-JP" altLang="en-US" sz="1000" b="1">
              <a:solidFill>
                <a:srgbClr val="BBD1FA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B45BF9CE-9412-3C30-F8B4-64BD41318192}"/>
              </a:ext>
            </a:extLst>
          </p:cNvPr>
          <p:cNvSpPr txBox="1"/>
          <p:nvPr/>
        </p:nvSpPr>
        <p:spPr>
          <a:xfrm>
            <a:off x="6578600" y="26416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管理画面を開く </a:t>
            </a:r>
            <a:r>
              <a:rPr kumimoji="1" lang="en-US" altLang="ja-JP" sz="19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/ </a:t>
            </a:r>
            <a:r>
              <a:rPr kumimoji="1" lang="ja-JP" altLang="en-US" sz="19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閉じる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821783B4-A729-C2B0-C282-724CC57B970F}"/>
              </a:ext>
            </a:extLst>
          </p:cNvPr>
          <p:cNvSpPr/>
          <p:nvPr/>
        </p:nvSpPr>
        <p:spPr>
          <a:xfrm>
            <a:off x="6578600" y="3175000"/>
            <a:ext cx="858520" cy="558800"/>
          </a:xfrm>
          <a:prstGeom prst="roundRect">
            <a:avLst>
              <a:gd name="adj" fmla="val 18000"/>
            </a:avLst>
          </a:prstGeom>
          <a:solidFill>
            <a:srgbClr val="25406E"/>
          </a:solidFill>
          <a:ln w="9525">
            <a:solidFill>
              <a:srgbClr val="3E5C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A67175B-B1D9-410F-885B-DEDC720F5252}"/>
              </a:ext>
            </a:extLst>
          </p:cNvPr>
          <p:cNvSpPr txBox="1"/>
          <p:nvPr/>
        </p:nvSpPr>
        <p:spPr>
          <a:xfrm>
            <a:off x="6578600" y="3175000"/>
            <a:ext cx="85852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</a:t>
            </a:r>
            <a:endParaRPr kumimoji="1" lang="ja-JP" altLang="en-US" sz="15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E942902A-3513-5A93-39FC-BA9C6416EFD1}"/>
              </a:ext>
            </a:extLst>
          </p:cNvPr>
          <p:cNvSpPr txBox="1"/>
          <p:nvPr/>
        </p:nvSpPr>
        <p:spPr>
          <a:xfrm>
            <a:off x="7437120" y="3175000"/>
            <a:ext cx="3302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7FA6F5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+</a:t>
            </a:r>
            <a:endParaRPr kumimoji="1" lang="ja-JP" altLang="en-US" sz="1500" b="1">
              <a:solidFill>
                <a:srgbClr val="7FA6F5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42373691-643F-2450-C167-E2D648F84B63}"/>
              </a:ext>
            </a:extLst>
          </p:cNvPr>
          <p:cNvSpPr/>
          <p:nvPr/>
        </p:nvSpPr>
        <p:spPr>
          <a:xfrm>
            <a:off x="7767320" y="3175000"/>
            <a:ext cx="965200" cy="558800"/>
          </a:xfrm>
          <a:prstGeom prst="roundRect">
            <a:avLst>
              <a:gd name="adj" fmla="val 18000"/>
            </a:avLst>
          </a:prstGeom>
          <a:solidFill>
            <a:srgbClr val="25406E"/>
          </a:solidFill>
          <a:ln w="9525">
            <a:solidFill>
              <a:srgbClr val="3E5C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19FF844-29CA-65F4-AC7F-AC673E458204}"/>
              </a:ext>
            </a:extLst>
          </p:cNvPr>
          <p:cNvSpPr txBox="1"/>
          <p:nvPr/>
        </p:nvSpPr>
        <p:spPr>
          <a:xfrm>
            <a:off x="7767320" y="3175000"/>
            <a:ext cx="9652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endParaRPr kumimoji="1" lang="ja-JP" altLang="en-US" sz="15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AA52490C-9B7A-9469-5519-7C965A4E7CAD}"/>
              </a:ext>
            </a:extLst>
          </p:cNvPr>
          <p:cNvSpPr txBox="1"/>
          <p:nvPr/>
        </p:nvSpPr>
        <p:spPr>
          <a:xfrm>
            <a:off x="8732520" y="3175000"/>
            <a:ext cx="3302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7FA6F5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+</a:t>
            </a:r>
            <a:endParaRPr kumimoji="1" lang="ja-JP" altLang="en-US" sz="1500" b="1">
              <a:solidFill>
                <a:srgbClr val="7FA6F5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6F4BFE2B-2921-04D2-B597-58FCEDECA8D1}"/>
              </a:ext>
            </a:extLst>
          </p:cNvPr>
          <p:cNvSpPr/>
          <p:nvPr/>
        </p:nvSpPr>
        <p:spPr>
          <a:xfrm>
            <a:off x="9062720" y="3175000"/>
            <a:ext cx="538480" cy="558800"/>
          </a:xfrm>
          <a:prstGeom prst="roundRect">
            <a:avLst>
              <a:gd name="adj" fmla="val 18000"/>
            </a:avLst>
          </a:prstGeom>
          <a:solidFill>
            <a:srgbClr val="25406E"/>
          </a:solidFill>
          <a:ln w="9525">
            <a:solidFill>
              <a:srgbClr val="3E5C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B0E07228-5FC0-4233-89B0-0BC69532BC37}"/>
              </a:ext>
            </a:extLst>
          </p:cNvPr>
          <p:cNvSpPr txBox="1"/>
          <p:nvPr/>
        </p:nvSpPr>
        <p:spPr>
          <a:xfrm>
            <a:off x="9062720" y="3175000"/>
            <a:ext cx="53848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</a:t>
            </a:r>
            <a:endParaRPr kumimoji="1" lang="ja-JP" altLang="en-US" sz="15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F27EFA0-A2C7-30BB-87FA-C9479C5DBF8B}"/>
              </a:ext>
            </a:extLst>
          </p:cNvPr>
          <p:cNvSpPr txBox="1"/>
          <p:nvPr/>
        </p:nvSpPr>
        <p:spPr>
          <a:xfrm>
            <a:off x="6578600" y="3886200"/>
            <a:ext cx="44704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同時に押すと管理画面が開きます。もう一度押すか「通常モード（キオスク）に戻る」でキオスク表示へ戻ります。</a:t>
            </a:r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D16D15F1-31C4-F68A-9BFB-A06F8457C81F}"/>
              </a:ext>
            </a:extLst>
          </p:cNvPr>
          <p:cNvSpPr/>
          <p:nvPr/>
        </p:nvSpPr>
        <p:spPr>
          <a:xfrm>
            <a:off x="812800" y="5029200"/>
            <a:ext cx="10566400" cy="838200"/>
          </a:xfrm>
          <a:prstGeom prst="roundRect">
            <a:avLst>
              <a:gd name="adj" fmla="val 12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B90DDED1-6A0E-7329-BB2C-A96C04E2415A}"/>
              </a:ext>
            </a:extLst>
          </p:cNvPr>
          <p:cNvSpPr/>
          <p:nvPr/>
        </p:nvSpPr>
        <p:spPr>
          <a:xfrm>
            <a:off x="812800" y="5029200"/>
            <a:ext cx="50800" cy="838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BA514D95-7DC1-ADDF-22D6-327074E03459}"/>
              </a:ext>
            </a:extLst>
          </p:cNvPr>
          <p:cNvSpPr txBox="1"/>
          <p:nvPr/>
        </p:nvSpPr>
        <p:spPr>
          <a:xfrm>
            <a:off x="1092200" y="5029200"/>
            <a:ext cx="1342136" cy="838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保存を忘れずに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A1DD6D1-7E69-5F85-18FD-B161E14EF606}"/>
              </a:ext>
            </a:extLst>
          </p:cNvPr>
          <p:cNvSpPr txBox="1"/>
          <p:nvPr/>
        </p:nvSpPr>
        <p:spPr>
          <a:xfrm>
            <a:off x="2434336" y="5029200"/>
            <a:ext cx="8665464" cy="838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値を変更したら「保存して設定する」をクリック。再起動なしで即時反映されます。画面下部が緑なら成功、赤なら入力内容を確認してください。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16581583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2E09215-3269-914F-F9B0-C7839002DF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870DEEF-2C14-CBAE-8CCD-9122B0A2C417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D4E7B9F-456C-2B27-3038-DC258254438A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47D4972-25D8-C2C5-5704-5A2B6510CD89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管理画面の設定項目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89CD771-6EAC-C1AF-798B-16690E9BECBB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B2B5854D-6B75-D497-E09E-9210D93EBFB8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951B831-1F83-302E-7F51-D45140DE9D93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15DF88C-3101-9563-D48A-8FC5D1885603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E43CEE2-D12A-97C5-A945-76153C12402A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10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1DBCFD8C-0622-60F9-3A08-BEA524D2B8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4101612"/>
              </p:ext>
            </p:extLst>
          </p:nvPr>
        </p:nvGraphicFramePr>
        <p:xfrm>
          <a:off x="812800" y="1854200"/>
          <a:ext cx="10566400" cy="3632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1454840137"/>
                    </a:ext>
                  </a:extLst>
                </a:gridCol>
                <a:gridCol w="7366000">
                  <a:extLst>
                    <a:ext uri="{9D8B030D-6E8A-4147-A177-3AD203B41FA5}">
                      <a16:colId xmlns:a16="http://schemas.microsoft.com/office/drawing/2014/main" val="5240155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設定項目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2563EB"/>
                      </a:solidFill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説明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2563EB"/>
                      </a:solidFill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659715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監視フォルダ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2563EB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コンテンツを置くフォルダのパス。「参照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…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」から選択も可能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2563EB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739325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デフォルト表示秒数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画像・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PDF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の標準表示時間（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5〜300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秒）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36647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Windows </a:t>
                      </a: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起動時に自動起動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ON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にすると 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PC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起動・ログオン後にアプリが自動で立ち上がる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6723429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アプリ終了時刻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毎日、指定時刻にアプリを終了する（例：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18:00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）。無効にすれば終了しない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50477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PC </a:t>
                      </a: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電源オフ時刻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毎日、指定時刻に 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PC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の電源を切る（例：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18:03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）。無効にすれば電源オフしない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816121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復帰不能時メッセージ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すべてのファイルが表示できないときに全画面へ出す文言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9463435"/>
                  </a:ext>
                </a:extLst>
              </a:tr>
            </a:tbl>
          </a:graphicData>
        </a:graphic>
      </p:graphicFrame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0EA6FE4D-0C71-AFEC-9765-F58BF9EA0757}"/>
              </a:ext>
            </a:extLst>
          </p:cNvPr>
          <p:cNvSpPr/>
          <p:nvPr/>
        </p:nvSpPr>
        <p:spPr>
          <a:xfrm>
            <a:off x="812800" y="5638800"/>
            <a:ext cx="10566400" cy="635000"/>
          </a:xfrm>
          <a:prstGeom prst="roundRect">
            <a:avLst>
              <a:gd name="adj" fmla="val 12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F6C2CD3-C420-52CC-A644-CEE7B2F8EE7B}"/>
              </a:ext>
            </a:extLst>
          </p:cNvPr>
          <p:cNvSpPr/>
          <p:nvPr/>
        </p:nvSpPr>
        <p:spPr>
          <a:xfrm>
            <a:off x="812800" y="5638800"/>
            <a:ext cx="50800" cy="6350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DAD3772-B49A-7C97-ABB5-5CCFBD493D06}"/>
              </a:ext>
            </a:extLst>
          </p:cNvPr>
          <p:cNvSpPr txBox="1"/>
          <p:nvPr/>
        </p:nvSpPr>
        <p:spPr>
          <a:xfrm>
            <a:off x="1092200" y="5638800"/>
            <a:ext cx="1342136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時刻の入力形式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78139046-C5D2-08E5-C0D2-0353FD2B9222}"/>
              </a:ext>
            </a:extLst>
          </p:cNvPr>
          <p:cNvSpPr txBox="1"/>
          <p:nvPr/>
        </p:nvSpPr>
        <p:spPr>
          <a:xfrm>
            <a:off x="2434336" y="5638800"/>
            <a:ext cx="8665464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HH:mm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（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24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時間制）で入力します。午後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6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時は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18:00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、午前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9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時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30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分は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09:30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28165734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697006E-5514-AC0A-A04A-F1CFB74F833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5F0C6E7-8901-1C71-8529-2003730C8635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FEE3653-414E-0524-2FEC-B9B11246967E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9DEB502-0E8A-8ECB-1220-1DCD775E8DAC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夜に止めて、朝は自動で始める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1DD8156-E882-213D-F03C-A3551C8B6EDB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6DD28115-0862-0C77-EA2C-2BC8D7A46792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2D82E53-98FE-742C-F036-497156E73429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9641C21-6172-8586-E5E6-B73DEE9B58D3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A0E39D4-91B9-F68B-2905-C91374005CB8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11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6B51BDB-DCF0-4E5D-65F9-F470A2A4B8F9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スケジュール設定と 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Windows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自動起動を組み合わせると、毎日の入切が不要になります。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FF35B514-975A-23BA-5338-4FA3F451B674}"/>
              </a:ext>
            </a:extLst>
          </p:cNvPr>
          <p:cNvSpPr/>
          <p:nvPr/>
        </p:nvSpPr>
        <p:spPr>
          <a:xfrm>
            <a:off x="1320800" y="3556000"/>
            <a:ext cx="9550400" cy="254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47A2DE2-BB4B-0D5B-3555-BB8B070CEE5F}"/>
              </a:ext>
            </a:extLst>
          </p:cNvPr>
          <p:cNvSpPr txBox="1"/>
          <p:nvPr/>
        </p:nvSpPr>
        <p:spPr>
          <a:xfrm>
            <a:off x="812800" y="2743200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7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18:00</a:t>
            </a:r>
            <a:endParaRPr kumimoji="1" lang="ja-JP" altLang="en-US" sz="17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12C5BB3E-C867-17BA-3491-5AE0D45B886A}"/>
              </a:ext>
            </a:extLst>
          </p:cNvPr>
          <p:cNvSpPr/>
          <p:nvPr/>
        </p:nvSpPr>
        <p:spPr>
          <a:xfrm>
            <a:off x="1943100" y="3454400"/>
            <a:ext cx="228600" cy="228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563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9181C4D8-35C2-69D5-6ED4-27486883923C}"/>
              </a:ext>
            </a:extLst>
          </p:cNvPr>
          <p:cNvSpPr/>
          <p:nvPr/>
        </p:nvSpPr>
        <p:spPr>
          <a:xfrm>
            <a:off x="812800" y="3937000"/>
            <a:ext cx="2489200" cy="1219200"/>
          </a:xfrm>
          <a:prstGeom prst="roundRect">
            <a:avLst>
              <a:gd name="adj" fmla="val 1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D5FF260-17C0-E552-5D7C-A1186D9537E2}"/>
              </a:ext>
            </a:extLst>
          </p:cNvPr>
          <p:cNvSpPr txBox="1"/>
          <p:nvPr/>
        </p:nvSpPr>
        <p:spPr>
          <a:xfrm>
            <a:off x="1016000" y="4165600"/>
            <a:ext cx="208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アプリ終了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7B31310-FF00-32F0-127B-28379086F513}"/>
              </a:ext>
            </a:extLst>
          </p:cNvPr>
          <p:cNvSpPr txBox="1"/>
          <p:nvPr/>
        </p:nvSpPr>
        <p:spPr>
          <a:xfrm>
            <a:off x="1016000" y="45212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サイネージ表示を終了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70161CBE-D861-678E-1E42-046A60E8CBEF}"/>
              </a:ext>
            </a:extLst>
          </p:cNvPr>
          <p:cNvSpPr txBox="1"/>
          <p:nvPr/>
        </p:nvSpPr>
        <p:spPr>
          <a:xfrm>
            <a:off x="3505200" y="2743200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7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18:03</a:t>
            </a:r>
            <a:endParaRPr kumimoji="1" lang="ja-JP" altLang="en-US" sz="17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3F612623-F682-4E91-F6E0-F52FF54CE1A9}"/>
              </a:ext>
            </a:extLst>
          </p:cNvPr>
          <p:cNvSpPr/>
          <p:nvPr/>
        </p:nvSpPr>
        <p:spPr>
          <a:xfrm>
            <a:off x="4635500" y="3454400"/>
            <a:ext cx="228600" cy="228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563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7261653B-FA27-C432-5343-02FA69680EC0}"/>
              </a:ext>
            </a:extLst>
          </p:cNvPr>
          <p:cNvSpPr/>
          <p:nvPr/>
        </p:nvSpPr>
        <p:spPr>
          <a:xfrm>
            <a:off x="3505200" y="3937000"/>
            <a:ext cx="2489200" cy="1219200"/>
          </a:xfrm>
          <a:prstGeom prst="roundRect">
            <a:avLst>
              <a:gd name="adj" fmla="val 1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E27E98C-7BA9-D1CA-EA7E-7F359A5C3379}"/>
              </a:ext>
            </a:extLst>
          </p:cNvPr>
          <p:cNvSpPr txBox="1"/>
          <p:nvPr/>
        </p:nvSpPr>
        <p:spPr>
          <a:xfrm>
            <a:off x="3708400" y="4165600"/>
            <a:ext cx="208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電源オフ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F7BDEDDD-0BBA-47E2-A458-698A51B2DA46}"/>
              </a:ext>
            </a:extLst>
          </p:cNvPr>
          <p:cNvSpPr txBox="1"/>
          <p:nvPr/>
        </p:nvSpPr>
        <p:spPr>
          <a:xfrm>
            <a:off x="3708400" y="45212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任意。無効にもできる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66DFC14-FB34-C4CF-627C-EE3A39960255}"/>
              </a:ext>
            </a:extLst>
          </p:cNvPr>
          <p:cNvSpPr txBox="1"/>
          <p:nvPr/>
        </p:nvSpPr>
        <p:spPr>
          <a:xfrm>
            <a:off x="6197600" y="2743200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7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翌朝</a:t>
            </a:r>
          </a:p>
        </p:txBody>
      </p:sp>
      <p:sp>
        <p:nvSpPr>
          <p:cNvPr id="24" name="楕円 23">
            <a:extLst>
              <a:ext uri="{FF2B5EF4-FFF2-40B4-BE49-F238E27FC236}">
                <a16:creationId xmlns:a16="http://schemas.microsoft.com/office/drawing/2014/main" id="{3B8C02A3-DABB-D177-FC03-BA415561C243}"/>
              </a:ext>
            </a:extLst>
          </p:cNvPr>
          <p:cNvSpPr/>
          <p:nvPr/>
        </p:nvSpPr>
        <p:spPr>
          <a:xfrm>
            <a:off x="7327900" y="3454400"/>
            <a:ext cx="228600" cy="228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F8E9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05467BEF-6286-1520-A95C-AD74FEBAFA4C}"/>
              </a:ext>
            </a:extLst>
          </p:cNvPr>
          <p:cNvSpPr/>
          <p:nvPr/>
        </p:nvSpPr>
        <p:spPr>
          <a:xfrm>
            <a:off x="6197600" y="3937000"/>
            <a:ext cx="2489200" cy="1219200"/>
          </a:xfrm>
          <a:prstGeom prst="roundRect">
            <a:avLst>
              <a:gd name="adj" fmla="val 10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63EA26C-7F68-2385-D65D-7145F97B2E81}"/>
              </a:ext>
            </a:extLst>
          </p:cNvPr>
          <p:cNvSpPr txBox="1"/>
          <p:nvPr/>
        </p:nvSpPr>
        <p:spPr>
          <a:xfrm>
            <a:off x="6400800" y="4165600"/>
            <a:ext cx="208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起動・ログオン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F490BB5-ABC0-7E6A-39AD-75A4B5B16205}"/>
              </a:ext>
            </a:extLst>
          </p:cNvPr>
          <p:cNvSpPr txBox="1"/>
          <p:nvPr/>
        </p:nvSpPr>
        <p:spPr>
          <a:xfrm>
            <a:off x="6400800" y="45212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出勤時や電源スケジュールで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916FDA96-89EA-D55F-E748-B4BEB73E1A53}"/>
              </a:ext>
            </a:extLst>
          </p:cNvPr>
          <p:cNvSpPr txBox="1"/>
          <p:nvPr/>
        </p:nvSpPr>
        <p:spPr>
          <a:xfrm>
            <a:off x="8890000" y="2743200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7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自動</a:t>
            </a:r>
          </a:p>
        </p:txBody>
      </p:sp>
      <p:sp>
        <p:nvSpPr>
          <p:cNvPr id="29" name="楕円 28">
            <a:extLst>
              <a:ext uri="{FF2B5EF4-FFF2-40B4-BE49-F238E27FC236}">
                <a16:creationId xmlns:a16="http://schemas.microsoft.com/office/drawing/2014/main" id="{9336103B-2FE0-40AC-A7BF-30EA72286620}"/>
              </a:ext>
            </a:extLst>
          </p:cNvPr>
          <p:cNvSpPr/>
          <p:nvPr/>
        </p:nvSpPr>
        <p:spPr>
          <a:xfrm>
            <a:off x="10020300" y="3454400"/>
            <a:ext cx="228600" cy="228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F8E9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8A05BBDD-D26A-CF6A-C8BC-DEA5C4FE6C07}"/>
              </a:ext>
            </a:extLst>
          </p:cNvPr>
          <p:cNvSpPr/>
          <p:nvPr/>
        </p:nvSpPr>
        <p:spPr>
          <a:xfrm>
            <a:off x="8890000" y="3937000"/>
            <a:ext cx="2489200" cy="1219200"/>
          </a:xfrm>
          <a:prstGeom prst="roundRect">
            <a:avLst>
              <a:gd name="adj" fmla="val 10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C936804B-94E3-1603-AE0A-3F1CEEE6CD5D}"/>
              </a:ext>
            </a:extLst>
          </p:cNvPr>
          <p:cNvSpPr txBox="1"/>
          <p:nvPr/>
        </p:nvSpPr>
        <p:spPr>
          <a:xfrm>
            <a:off x="9093200" y="4165600"/>
            <a:ext cx="208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サイネージ開始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200CB14B-628E-F088-4269-6676D9A875A0}"/>
              </a:ext>
            </a:extLst>
          </p:cNvPr>
          <p:cNvSpPr txBox="1"/>
          <p:nvPr/>
        </p:nvSpPr>
        <p:spPr>
          <a:xfrm>
            <a:off x="9093200" y="45212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kumimoji="1" lang="en-US" altLang="ja-JP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Windows </a:t>
            </a: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自動起動が </a:t>
            </a:r>
            <a:r>
              <a:rPr kumimoji="1" lang="en-US" altLang="ja-JP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ON </a:t>
            </a: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なら</a:t>
            </a:r>
          </a:p>
        </p:txBody>
      </p: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13FC372-D361-802C-FB6A-25CD4F31AA63}"/>
              </a:ext>
            </a:extLst>
          </p:cNvPr>
          <p:cNvSpPr/>
          <p:nvPr/>
        </p:nvSpPr>
        <p:spPr>
          <a:xfrm>
            <a:off x="812800" y="5435600"/>
            <a:ext cx="10566400" cy="7620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217B792D-7CD8-DDCB-D4A6-B218CAB64ABD}"/>
              </a:ext>
            </a:extLst>
          </p:cNvPr>
          <p:cNvSpPr/>
          <p:nvPr/>
        </p:nvSpPr>
        <p:spPr>
          <a:xfrm>
            <a:off x="812800" y="5435600"/>
            <a:ext cx="50800" cy="762000"/>
          </a:xfrm>
          <a:prstGeom prst="rect">
            <a:avLst/>
          </a:prstGeom>
          <a:solidFill>
            <a:srgbClr val="8794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C84CF8C5-AFCC-CC2A-2AFA-BDC469888957}"/>
              </a:ext>
            </a:extLst>
          </p:cNvPr>
          <p:cNvSpPr txBox="1"/>
          <p:nvPr/>
        </p:nvSpPr>
        <p:spPr>
          <a:xfrm>
            <a:off x="1092200" y="5435600"/>
            <a:ext cx="551942" cy="762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 b="1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補足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500AB84B-8302-ED63-CF44-8F2E5B551328}"/>
              </a:ext>
            </a:extLst>
          </p:cNvPr>
          <p:cNvSpPr txBox="1"/>
          <p:nvPr/>
        </p:nvSpPr>
        <p:spPr>
          <a:xfrm>
            <a:off x="1644142" y="5435600"/>
            <a:ext cx="9455658" cy="762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アプリ終了時刻を有効にすると、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電源オフの初期値はその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分後になります（変更可）。電源オフに失敗した場合はログに記録されるため、社内の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管理ポリシーを確認してください。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35303453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EE35C30-3A79-5E54-5BA7-F31D0031A1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3275A4F-8909-EDDB-9151-A70A39ADD85D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123056D-EC58-820C-7C82-E59CC69A367A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D7A2BC8-A6AA-48B3-3E7B-A80DBF28886D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アプリの終了とログの場所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E8211CD-10C1-9691-99A9-126CAA6A1F0F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DA36B3BD-0319-A1ED-9EB8-AFC1D24DAF65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135F6AD-0C79-F6C1-884A-B90C958A7176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0814F8E-D351-7AF8-1D38-0B02BDE1AB79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AA6BC2C-4B22-96F6-A929-6CD630CC3E44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12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32CE5E2C-128B-F25B-F648-4599AC0C5C93}"/>
              </a:ext>
            </a:extLst>
          </p:cNvPr>
          <p:cNvSpPr/>
          <p:nvPr/>
        </p:nvSpPr>
        <p:spPr>
          <a:xfrm>
            <a:off x="812800" y="1905000"/>
            <a:ext cx="5130800" cy="3708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C299B901-EF48-49BB-5CB5-74AD7599C0C8}"/>
              </a:ext>
            </a:extLst>
          </p:cNvPr>
          <p:cNvSpPr/>
          <p:nvPr/>
        </p:nvSpPr>
        <p:spPr>
          <a:xfrm>
            <a:off x="812800" y="1905000"/>
            <a:ext cx="5130800" cy="635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2BD14A7-354C-FBAD-1DCD-E8C1675FBF44}"/>
              </a:ext>
            </a:extLst>
          </p:cNvPr>
          <p:cNvSpPr txBox="1"/>
          <p:nvPr/>
        </p:nvSpPr>
        <p:spPr>
          <a:xfrm>
            <a:off x="1143000" y="22860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アプリを終了する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7B46CDAE-BBFF-2CA9-F1ED-D94C51C0AA42}"/>
              </a:ext>
            </a:extLst>
          </p:cNvPr>
          <p:cNvSpPr txBox="1"/>
          <p:nvPr/>
        </p:nvSpPr>
        <p:spPr>
          <a:xfrm>
            <a:off x="1143000" y="28702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3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管理画面から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62A06C8-84F4-DB42-CCD6-2E8E2E5D8FE1}"/>
              </a:ext>
            </a:extLst>
          </p:cNvPr>
          <p:cNvSpPr txBox="1"/>
          <p:nvPr/>
        </p:nvSpPr>
        <p:spPr>
          <a:xfrm>
            <a:off x="1143000" y="3149600"/>
            <a:ext cx="44704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 →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「アプリを終了」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A84EFA8-960A-ABB0-1E40-D479511C3CB1}"/>
              </a:ext>
            </a:extLst>
          </p:cNvPr>
          <p:cNvSpPr txBox="1"/>
          <p:nvPr/>
        </p:nvSpPr>
        <p:spPr>
          <a:xfrm>
            <a:off x="1143000" y="36830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3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管理画面を閉じる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A64DB08-5738-CD68-56B5-5957B225C85B}"/>
              </a:ext>
            </a:extLst>
          </p:cNvPr>
          <p:cNvSpPr txBox="1"/>
          <p:nvPr/>
        </p:nvSpPr>
        <p:spPr>
          <a:xfrm>
            <a:off x="1143000" y="3962400"/>
            <a:ext cx="44704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×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ボタンで閉じるとアプリも終了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64C9A2D-319C-F9B2-3E9D-0E991EC8159F}"/>
              </a:ext>
            </a:extLst>
          </p:cNvPr>
          <p:cNvSpPr txBox="1"/>
          <p:nvPr/>
        </p:nvSpPr>
        <p:spPr>
          <a:xfrm>
            <a:off x="1143000" y="44958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3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スケジュール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DF13843-FA41-51D3-D548-785C04E2C823}"/>
              </a:ext>
            </a:extLst>
          </p:cNvPr>
          <p:cNvSpPr txBox="1"/>
          <p:nvPr/>
        </p:nvSpPr>
        <p:spPr>
          <a:xfrm>
            <a:off x="1143000" y="4775200"/>
            <a:ext cx="44704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設定した終了時刻に到達すると自動で終了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5D04C86B-CB55-F90C-2E40-9E1D014651FD}"/>
              </a:ext>
            </a:extLst>
          </p:cNvPr>
          <p:cNvSpPr/>
          <p:nvPr/>
        </p:nvSpPr>
        <p:spPr>
          <a:xfrm>
            <a:off x="6248400" y="1905000"/>
            <a:ext cx="5130800" cy="3708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D4662A79-79DA-667F-B8E0-45E088BC54C6}"/>
              </a:ext>
            </a:extLst>
          </p:cNvPr>
          <p:cNvSpPr/>
          <p:nvPr/>
        </p:nvSpPr>
        <p:spPr>
          <a:xfrm>
            <a:off x="6248400" y="1905000"/>
            <a:ext cx="5130800" cy="635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F64B6A7B-79D0-716F-4AC5-F238073790B0}"/>
              </a:ext>
            </a:extLst>
          </p:cNvPr>
          <p:cNvSpPr txBox="1"/>
          <p:nvPr/>
        </p:nvSpPr>
        <p:spPr>
          <a:xfrm>
            <a:off x="6578600" y="22860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ログを確認する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8C4BF547-32FA-C014-E350-9B24A6A8ED2D}"/>
              </a:ext>
            </a:extLst>
          </p:cNvPr>
          <p:cNvSpPr txBox="1"/>
          <p:nvPr/>
        </p:nvSpPr>
        <p:spPr>
          <a:xfrm>
            <a:off x="6578600" y="27432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表示に問題があるときは、管理者がログを確認できます。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8B9EDC65-7514-55CE-0A7A-48038BC3E198}"/>
              </a:ext>
            </a:extLst>
          </p:cNvPr>
          <p:cNvSpPr/>
          <p:nvPr/>
        </p:nvSpPr>
        <p:spPr>
          <a:xfrm>
            <a:off x="6578600" y="3175000"/>
            <a:ext cx="38100" cy="508000"/>
          </a:xfrm>
          <a:prstGeom prst="rect">
            <a:avLst/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A649EC37-9818-8F5F-FE6D-A699AB2E3B86}"/>
              </a:ext>
            </a:extLst>
          </p:cNvPr>
          <p:cNvSpPr txBox="1"/>
          <p:nvPr/>
        </p:nvSpPr>
        <p:spPr>
          <a:xfrm>
            <a:off x="6781800" y="3124200"/>
            <a:ext cx="44704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場所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97835BC-3D29-EACF-D10D-A34D51642AE2}"/>
              </a:ext>
            </a:extLst>
          </p:cNvPr>
          <p:cNvSpPr txBox="1"/>
          <p:nvPr/>
        </p:nvSpPr>
        <p:spPr>
          <a:xfrm>
            <a:off x="6781800" y="3378200"/>
            <a:ext cx="42672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監視フォルダと同じ階層の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logs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フォルダ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17947225-83D0-7D10-D32D-D7A159465F46}"/>
              </a:ext>
            </a:extLst>
          </p:cNvPr>
          <p:cNvSpPr/>
          <p:nvPr/>
        </p:nvSpPr>
        <p:spPr>
          <a:xfrm>
            <a:off x="6578600" y="3886200"/>
            <a:ext cx="38100" cy="508000"/>
          </a:xfrm>
          <a:prstGeom prst="rect">
            <a:avLst/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494373DB-7AEA-FC5C-51A5-757D53B80FA8}"/>
              </a:ext>
            </a:extLst>
          </p:cNvPr>
          <p:cNvSpPr txBox="1"/>
          <p:nvPr/>
        </p:nvSpPr>
        <p:spPr>
          <a:xfrm>
            <a:off x="6781800" y="3835400"/>
            <a:ext cx="44704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例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08804B9-5A05-D399-E176-7554FA5143F6}"/>
              </a:ext>
            </a:extLst>
          </p:cNvPr>
          <p:cNvSpPr txBox="1"/>
          <p:nvPr/>
        </p:nvSpPr>
        <p:spPr>
          <a:xfrm>
            <a:off x="6781800" y="4089400"/>
            <a:ext cx="42672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監視フォルダが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D:\Signage →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ログは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D:\logs</a:t>
            </a:r>
            <a:endParaRPr kumimoji="1" lang="ja-JP" altLang="en-US" sz="1250">
              <a:solidFill>
                <a:srgbClr val="465263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3F0CDF87-BDB6-F4FF-EA2B-CA6670B3DDE7}"/>
              </a:ext>
            </a:extLst>
          </p:cNvPr>
          <p:cNvSpPr/>
          <p:nvPr/>
        </p:nvSpPr>
        <p:spPr>
          <a:xfrm>
            <a:off x="6578600" y="4597400"/>
            <a:ext cx="38100" cy="508000"/>
          </a:xfrm>
          <a:prstGeom prst="rect">
            <a:avLst/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3A3D677A-D45F-ED4F-C291-35D53974C2A6}"/>
              </a:ext>
            </a:extLst>
          </p:cNvPr>
          <p:cNvSpPr txBox="1"/>
          <p:nvPr/>
        </p:nvSpPr>
        <p:spPr>
          <a:xfrm>
            <a:off x="6781800" y="4546600"/>
            <a:ext cx="44704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保存期間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7FD81309-4047-5121-8EA7-59C6BE2EF6D0}"/>
              </a:ext>
            </a:extLst>
          </p:cNvPr>
          <p:cNvSpPr txBox="1"/>
          <p:nvPr/>
        </p:nvSpPr>
        <p:spPr>
          <a:xfrm>
            <a:off x="6781800" y="4800600"/>
            <a:ext cx="42672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7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日間（古いログは自動削除）</a:t>
            </a:r>
          </a:p>
        </p:txBody>
      </p:sp>
    </p:spTree>
    <p:extLst>
      <p:ext uri="{BB962C8B-B14F-4D97-AF65-F5344CB8AC3E}">
        <p14:creationId xmlns:p14="http://schemas.microsoft.com/office/powerpoint/2010/main" val="18911204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8F6397B-AB90-36F0-5DFD-0D518BD4CE4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B31FD53-28BA-57A6-02F7-FD27C2536E1F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043F845-0274-4FAA-E6F9-DAA54770D3FD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FAQ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F3AABED-143B-1E8C-6A8B-7AB5345DE579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よくある質問（</a:t>
            </a:r>
            <a:r>
              <a:rPr kumimoji="1" lang="en-US" altLang="ja-JP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1/2</a:t>
            </a: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187A18F-D415-817A-F96B-39557F2DF02F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BCA997B-1EBA-4D99-C962-D7FE39DF1AB1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19D267A-1833-9A31-26BC-3E0E517F2C3A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13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B7700ED2-4092-2CFA-A454-5747D9E1EDD6}"/>
              </a:ext>
            </a:extLst>
          </p:cNvPr>
          <p:cNvSpPr/>
          <p:nvPr/>
        </p:nvSpPr>
        <p:spPr>
          <a:xfrm>
            <a:off x="812800" y="19304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C2EC88A3-DCC6-55E9-28C0-3F8EF1F53B18}"/>
              </a:ext>
            </a:extLst>
          </p:cNvPr>
          <p:cNvSpPr/>
          <p:nvPr/>
        </p:nvSpPr>
        <p:spPr>
          <a:xfrm>
            <a:off x="1092200" y="21844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524A019-F8FF-EF26-F337-8D45B993D0F3}"/>
              </a:ext>
            </a:extLst>
          </p:cNvPr>
          <p:cNvSpPr txBox="1"/>
          <p:nvPr/>
        </p:nvSpPr>
        <p:spPr>
          <a:xfrm>
            <a:off x="1092200" y="21844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2DF4736-3F57-83C5-42F0-8DB7DEA62B11}"/>
              </a:ext>
            </a:extLst>
          </p:cNvPr>
          <p:cNvSpPr txBox="1"/>
          <p:nvPr/>
        </p:nvSpPr>
        <p:spPr>
          <a:xfrm>
            <a:off x="1651000" y="21590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ファイルを入れたのに、すぐ変わりません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B1AA453-5B3C-56D8-ADAF-1D0695F6B4D2}"/>
              </a:ext>
            </a:extLst>
          </p:cNvPr>
          <p:cNvSpPr txBox="1"/>
          <p:nvPr/>
        </p:nvSpPr>
        <p:spPr>
          <a:xfrm>
            <a:off x="1651000" y="25019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いま表示中のスライドが終わるまで待ちます。動画の場合は再生が完了するまで切り替わりません。</a:t>
            </a: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100D2D71-867E-CAA2-3DFC-DD7AD683945A}"/>
              </a:ext>
            </a:extLst>
          </p:cNvPr>
          <p:cNvSpPr/>
          <p:nvPr/>
        </p:nvSpPr>
        <p:spPr>
          <a:xfrm>
            <a:off x="812800" y="32512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B7BC16D6-6A54-19EB-1F9C-98AE2F982201}"/>
              </a:ext>
            </a:extLst>
          </p:cNvPr>
          <p:cNvSpPr/>
          <p:nvPr/>
        </p:nvSpPr>
        <p:spPr>
          <a:xfrm>
            <a:off x="1092200" y="35052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C0D3384-8342-48BF-0D12-D58C9BA61E98}"/>
              </a:ext>
            </a:extLst>
          </p:cNvPr>
          <p:cNvSpPr txBox="1"/>
          <p:nvPr/>
        </p:nvSpPr>
        <p:spPr>
          <a:xfrm>
            <a:off x="1092200" y="35052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B1ADEBBF-DEDB-5091-FFA1-01D561EBE764}"/>
              </a:ext>
            </a:extLst>
          </p:cNvPr>
          <p:cNvSpPr txBox="1"/>
          <p:nvPr/>
        </p:nvSpPr>
        <p:spPr>
          <a:xfrm>
            <a:off x="1651000" y="34798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サブフォルダに入れたファイルが表示されません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9BD576B3-1EA9-0AD3-768A-735F78968629}"/>
              </a:ext>
            </a:extLst>
          </p:cNvPr>
          <p:cNvSpPr txBox="1"/>
          <p:nvPr/>
        </p:nvSpPr>
        <p:spPr>
          <a:xfrm>
            <a:off x="1651000" y="38227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監視フォルダの直下だけが対象です。ファイルを一つ上のフォルダへ移動してください。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7B21338A-1948-1D49-FD57-3E7DC21F5CC4}"/>
              </a:ext>
            </a:extLst>
          </p:cNvPr>
          <p:cNvSpPr/>
          <p:nvPr/>
        </p:nvSpPr>
        <p:spPr>
          <a:xfrm>
            <a:off x="812800" y="45720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A1BE60B2-B4C8-C9FE-4CA2-8B0838F2824C}"/>
              </a:ext>
            </a:extLst>
          </p:cNvPr>
          <p:cNvSpPr/>
          <p:nvPr/>
        </p:nvSpPr>
        <p:spPr>
          <a:xfrm>
            <a:off x="1092200" y="48260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2B81C87F-18E7-BF5D-5789-0A9C5E5D029F}"/>
              </a:ext>
            </a:extLst>
          </p:cNvPr>
          <p:cNvSpPr txBox="1"/>
          <p:nvPr/>
        </p:nvSpPr>
        <p:spPr>
          <a:xfrm>
            <a:off x="1092200" y="48260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AE5D6F04-39C1-B51E-F87C-6E586FB96E7C}"/>
              </a:ext>
            </a:extLst>
          </p:cNvPr>
          <p:cNvSpPr txBox="1"/>
          <p:nvPr/>
        </p:nvSpPr>
        <p:spPr>
          <a:xfrm>
            <a:off x="1651000" y="48006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管理画面が開けません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3C6A90CA-B8F8-830D-E928-58BABE18406C}"/>
              </a:ext>
            </a:extLst>
          </p:cNvPr>
          <p:cNvSpPr txBox="1"/>
          <p:nvPr/>
        </p:nvSpPr>
        <p:spPr>
          <a:xfrm>
            <a:off x="1651000" y="51435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を同時に押してください。キオスク表示の画面がアクティブな状態で試すのがポイントです。</a:t>
            </a:r>
          </a:p>
        </p:txBody>
      </p:sp>
    </p:spTree>
    <p:extLst>
      <p:ext uri="{BB962C8B-B14F-4D97-AF65-F5344CB8AC3E}">
        <p14:creationId xmlns:p14="http://schemas.microsoft.com/office/powerpoint/2010/main" val="3522292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0862F3-29B1-6DEA-EC30-069872C43E5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CEC5AAF-8A27-3923-A324-6C348FCA2A32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87B5F25-60AB-E3C4-B83E-2BF103EA7308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FAQ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790969E-4DCE-15B6-4338-3115F059395B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よくある質問（</a:t>
            </a:r>
            <a:r>
              <a:rPr kumimoji="1" lang="en-US" altLang="ja-JP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2/2</a:t>
            </a: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A263ED9-5305-06CF-2F48-413C3F8F48FB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FB86BB0-0BDD-B179-3363-1945ED129E92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1016AD9-201B-D9B5-3589-1BC80106052D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14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BDAD77E3-81E2-F86B-CB76-AAEF89DF7AC9}"/>
              </a:ext>
            </a:extLst>
          </p:cNvPr>
          <p:cNvSpPr/>
          <p:nvPr/>
        </p:nvSpPr>
        <p:spPr>
          <a:xfrm>
            <a:off x="812800" y="1930400"/>
            <a:ext cx="10566400" cy="12700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9A4CD2F3-C4F3-FF10-FEE3-7BC5EC899C89}"/>
              </a:ext>
            </a:extLst>
          </p:cNvPr>
          <p:cNvSpPr/>
          <p:nvPr/>
        </p:nvSpPr>
        <p:spPr>
          <a:xfrm>
            <a:off x="1092200" y="21844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D4A473F-9DCB-3DE2-1B56-6EB09A8F61E6}"/>
              </a:ext>
            </a:extLst>
          </p:cNvPr>
          <p:cNvSpPr txBox="1"/>
          <p:nvPr/>
        </p:nvSpPr>
        <p:spPr>
          <a:xfrm>
            <a:off x="1092200" y="21844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ECFB4C8-1AB3-4783-900D-12E1EC25E5C0}"/>
              </a:ext>
            </a:extLst>
          </p:cNvPr>
          <p:cNvSpPr txBox="1"/>
          <p:nvPr/>
        </p:nvSpPr>
        <p:spPr>
          <a:xfrm>
            <a:off x="1651000" y="21590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画面に「表示を復旧しています」と出ます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1A6750A-CC70-6DBC-F542-A61566164A61}"/>
              </a:ext>
            </a:extLst>
          </p:cNvPr>
          <p:cNvSpPr txBox="1"/>
          <p:nvPr/>
        </p:nvSpPr>
        <p:spPr>
          <a:xfrm>
            <a:off x="1651000" y="2501900"/>
            <a:ext cx="93472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フォルダ内のファイルがすべて読み込めない状態です。ファイルの破損や形式の誤りを確認してください。文言は管理画面の「復帰不能時メッセージ」で変更できます。</a:t>
            </a: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9200DE18-8986-EAEB-7E9C-F1A59AC22992}"/>
              </a:ext>
            </a:extLst>
          </p:cNvPr>
          <p:cNvSpPr/>
          <p:nvPr/>
        </p:nvSpPr>
        <p:spPr>
          <a:xfrm>
            <a:off x="812800" y="33528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0A69F218-2D88-A067-18EB-5EC8F9C78A90}"/>
              </a:ext>
            </a:extLst>
          </p:cNvPr>
          <p:cNvSpPr/>
          <p:nvPr/>
        </p:nvSpPr>
        <p:spPr>
          <a:xfrm>
            <a:off x="1092200" y="36068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FBE7DF8-9AE2-9AB6-21D7-F801BDF05C9F}"/>
              </a:ext>
            </a:extLst>
          </p:cNvPr>
          <p:cNvSpPr txBox="1"/>
          <p:nvPr/>
        </p:nvSpPr>
        <p:spPr>
          <a:xfrm>
            <a:off x="1092200" y="36068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571EE60-5471-82E2-6C82-EC458C9B6817}"/>
              </a:ext>
            </a:extLst>
          </p:cNvPr>
          <p:cNvSpPr txBox="1"/>
          <p:nvPr/>
        </p:nvSpPr>
        <p:spPr>
          <a:xfrm>
            <a:off x="1651000" y="35814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動画だけ表示時間を短くしたい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A1451CD-232D-06C0-079C-00804775B286}"/>
              </a:ext>
            </a:extLst>
          </p:cNvPr>
          <p:cNvSpPr txBox="1"/>
          <p:nvPr/>
        </p:nvSpPr>
        <p:spPr>
          <a:xfrm>
            <a:off x="1651000" y="39243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動画は再生完了まで表示され、秒数指定はできません。短くしたい場合は動画自体を編集してください。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86DBAA71-F863-812C-3FC2-3F41CA81FF53}"/>
              </a:ext>
            </a:extLst>
          </p:cNvPr>
          <p:cNvSpPr/>
          <p:nvPr/>
        </p:nvSpPr>
        <p:spPr>
          <a:xfrm>
            <a:off x="812800" y="4673600"/>
            <a:ext cx="10566400" cy="12700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33560F74-F5D6-E78D-86D4-3FD5F2151728}"/>
              </a:ext>
            </a:extLst>
          </p:cNvPr>
          <p:cNvSpPr/>
          <p:nvPr/>
        </p:nvSpPr>
        <p:spPr>
          <a:xfrm>
            <a:off x="1092200" y="49276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7C15DD4-E722-BB92-6DE8-B93F037A7232}"/>
              </a:ext>
            </a:extLst>
          </p:cNvPr>
          <p:cNvSpPr txBox="1"/>
          <p:nvPr/>
        </p:nvSpPr>
        <p:spPr>
          <a:xfrm>
            <a:off x="1092200" y="49276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28257376-A6F8-9B8D-A036-0CBC5E8DE381}"/>
              </a:ext>
            </a:extLst>
          </p:cNvPr>
          <p:cNvSpPr txBox="1"/>
          <p:nvPr/>
        </p:nvSpPr>
        <p:spPr>
          <a:xfrm>
            <a:off x="1651000" y="49022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複数の </a:t>
            </a:r>
            <a:r>
              <a:rPr kumimoji="1" lang="en-US" altLang="ja-JP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で同じフォルダを見せたい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009141D6-0614-5DB8-9CB2-D74632D1146D}"/>
              </a:ext>
            </a:extLst>
          </p:cNvPr>
          <p:cNvSpPr txBox="1"/>
          <p:nvPr/>
        </p:nvSpPr>
        <p:spPr>
          <a:xfrm>
            <a:off x="1651000" y="5245100"/>
            <a:ext cx="93472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各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にアプリを入れて同じ共有フォルダを指定する運用は可能ですが、ネットワーク共有パスの正式サポートは将来拡張です。まずはローカルフォルダを推奨します。</a:t>
            </a:r>
          </a:p>
        </p:txBody>
      </p:sp>
    </p:spTree>
    <p:extLst>
      <p:ext uri="{BB962C8B-B14F-4D97-AF65-F5344CB8AC3E}">
        <p14:creationId xmlns:p14="http://schemas.microsoft.com/office/powerpoint/2010/main" val="5836886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5D1566-C4B6-6FD9-7EC1-F3B4BC45330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75B661D-F283-7B2A-803C-B95B0789A08B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CC3E1BC-DA85-8216-AD89-06C7136FAB0B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CHEAT SHEET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C05B1D5-33BD-6B9B-8C33-A10E8561015A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操作の早見表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C35F111-467B-CE42-C787-C9FF0046E12F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B5A4D5B-2B18-9D37-6AFD-7F90CA6C98A9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02BA932-9B7E-1565-189B-C5532F8A95AA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15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ABEC702-7492-6FDF-4C74-9B0D5DD647E5}"/>
              </a:ext>
            </a:extLst>
          </p:cNvPr>
          <p:cNvSpPr txBox="1"/>
          <p:nvPr/>
        </p:nvSpPr>
        <p:spPr>
          <a:xfrm>
            <a:off x="812800" y="1930400"/>
            <a:ext cx="5130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graphicFrame>
        <p:nvGraphicFramePr>
          <p:cNvPr id="10" name="表 9">
            <a:extLst>
              <a:ext uri="{FF2B5EF4-FFF2-40B4-BE49-F238E27FC236}">
                <a16:creationId xmlns:a16="http://schemas.microsoft.com/office/drawing/2014/main" id="{928EEEA5-375C-F13C-8C22-17122E563C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0387817"/>
              </p:ext>
            </p:extLst>
          </p:nvPr>
        </p:nvGraphicFramePr>
        <p:xfrm>
          <a:off x="812800" y="2336800"/>
          <a:ext cx="5130800" cy="2641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1753882672"/>
                    </a:ext>
                  </a:extLst>
                </a:gridCol>
                <a:gridCol w="3225800">
                  <a:extLst>
                    <a:ext uri="{9D8B030D-6E8A-4147-A177-3AD203B41FA5}">
                      <a16:colId xmlns:a16="http://schemas.microsoft.com/office/drawing/2014/main" val="1888133915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やりたいこと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操作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6574058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表示を追加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監視フォルダ直下にファイルを保存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6801604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表示を削除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監視フォルダからファイルを削除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948585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表示順を変える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ファイル名を変更（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001, 002 …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640429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表示時間を変える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ファイル名に 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_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秒数 を付ける（動画を除く）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7369418"/>
                  </a:ext>
                </a:extLst>
              </a:tr>
            </a:tbl>
          </a:graphicData>
        </a:graphic>
      </p:graphicFrame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2A2E328-7D96-1481-E1AC-7113062D3C87}"/>
              </a:ext>
            </a:extLst>
          </p:cNvPr>
          <p:cNvSpPr txBox="1"/>
          <p:nvPr/>
        </p:nvSpPr>
        <p:spPr>
          <a:xfrm>
            <a:off x="6248400" y="1930400"/>
            <a:ext cx="5130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graphicFrame>
        <p:nvGraphicFramePr>
          <p:cNvPr id="12" name="表 11">
            <a:extLst>
              <a:ext uri="{FF2B5EF4-FFF2-40B4-BE49-F238E27FC236}">
                <a16:creationId xmlns:a16="http://schemas.microsoft.com/office/drawing/2014/main" id="{774AA302-4A2C-43D1-4A32-D017EC39A7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174513"/>
              </p:ext>
            </p:extLst>
          </p:nvPr>
        </p:nvGraphicFramePr>
        <p:xfrm>
          <a:off x="6248400" y="2336800"/>
          <a:ext cx="5130800" cy="2641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357201204"/>
                    </a:ext>
                  </a:extLst>
                </a:gridCol>
                <a:gridCol w="3225800">
                  <a:extLst>
                    <a:ext uri="{9D8B030D-6E8A-4147-A177-3AD203B41FA5}">
                      <a16:colId xmlns:a16="http://schemas.microsoft.com/office/drawing/2014/main" val="159041131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やりたいこと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2563EB"/>
                      </a:solidFill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操作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2563EB"/>
                      </a:solidFill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260620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設定を変更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2563EB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Ctrl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＋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Shift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＋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M →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変更→「保存して設定する」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2563EB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09657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キオスクに戻る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「通常モード（キオスク）に戻る」または 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Ctrl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＋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Shift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＋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M</a:t>
                      </a:r>
                      <a:endParaRPr kumimoji="1" lang="ja-JP" altLang="en-US" sz="11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595623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アプリを終了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管理画面の「アプリを終了」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56724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夜に止めて朝始める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アプリ終了時刻・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PC 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電源オフ時刻＋自動起動を 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ON</a:t>
                      </a:r>
                      <a:endParaRPr kumimoji="1" lang="ja-JP" altLang="en-US" sz="11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24269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76679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0F0BA9A-0D3B-5C10-3964-9E47FAC4F77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79D427-DCB3-16D3-134A-8ACFA010815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C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E5A294DC-5503-3D0E-1F11-E1D1B076CFAF}"/>
              </a:ext>
            </a:extLst>
          </p:cNvPr>
          <p:cNvSpPr/>
          <p:nvPr/>
        </p:nvSpPr>
        <p:spPr>
          <a:xfrm>
            <a:off x="-2032000" y="3810000"/>
            <a:ext cx="5842000" cy="5842000"/>
          </a:xfrm>
          <a:prstGeom prst="ellipse">
            <a:avLst/>
          </a:prstGeom>
          <a:solidFill>
            <a:srgbClr val="2563EB">
              <a:alpha val="1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1F3F135-022E-5B46-4D4F-E9C1C6EB624F}"/>
              </a:ext>
            </a:extLst>
          </p:cNvPr>
          <p:cNvSpPr/>
          <p:nvPr/>
        </p:nvSpPr>
        <p:spPr>
          <a:xfrm>
            <a:off x="812800" y="1219200"/>
            <a:ext cx="863600" cy="635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171E701-C826-6D35-19FB-201B21E43D69}"/>
              </a:ext>
            </a:extLst>
          </p:cNvPr>
          <p:cNvSpPr txBox="1"/>
          <p:nvPr/>
        </p:nvSpPr>
        <p:spPr>
          <a:xfrm>
            <a:off x="812800" y="1574800"/>
            <a:ext cx="7620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38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困ったときは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06CBFE3-749A-D84E-5D42-91A6E71BEE56}"/>
              </a:ext>
            </a:extLst>
          </p:cNvPr>
          <p:cNvSpPr txBox="1"/>
          <p:nvPr/>
        </p:nvSpPr>
        <p:spPr>
          <a:xfrm>
            <a:off x="812800" y="2463800"/>
            <a:ext cx="8890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まずは「反映は次のスライドから」「フォルダ直下だけ」「</a:t>
            </a:r>
            <a:r>
              <a:rPr kumimoji="1" lang="en-US" altLang="ja-JP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</a:t>
            </a: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</a:t>
            </a: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」の </a:t>
            </a:r>
            <a:r>
              <a:rPr kumimoji="1" lang="en-US" altLang="ja-JP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 </a:t>
            </a: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つを確認。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52F4CA7B-7AE7-B845-7F11-2D9E926FD6A4}"/>
              </a:ext>
            </a:extLst>
          </p:cNvPr>
          <p:cNvSpPr/>
          <p:nvPr/>
        </p:nvSpPr>
        <p:spPr>
          <a:xfrm>
            <a:off x="812800" y="3225800"/>
            <a:ext cx="3352800" cy="1473200"/>
          </a:xfrm>
          <a:prstGeom prst="roundRect">
            <a:avLst>
              <a:gd name="adj" fmla="val 9000"/>
            </a:avLst>
          </a:prstGeom>
          <a:solidFill>
            <a:srgbClr val="1B2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28DFD2F-033A-1610-1D9D-DB10C326E6E1}"/>
              </a:ext>
            </a:extLst>
          </p:cNvPr>
          <p:cNvSpPr/>
          <p:nvPr/>
        </p:nvSpPr>
        <p:spPr>
          <a:xfrm>
            <a:off x="1117600" y="3530600"/>
            <a:ext cx="355600" cy="38100"/>
          </a:xfrm>
          <a:prstGeom prst="rect">
            <a:avLst/>
          </a:prstGeom>
          <a:solidFill>
            <a:srgbClr val="7FA6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6B29C6B-39B1-061D-A6B4-BFC3B7A02A2F}"/>
              </a:ext>
            </a:extLst>
          </p:cNvPr>
          <p:cNvSpPr txBox="1"/>
          <p:nvPr/>
        </p:nvSpPr>
        <p:spPr>
          <a:xfrm>
            <a:off x="1117600" y="3759200"/>
            <a:ext cx="27432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7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運用ガイド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EEA20C9-9753-D244-8704-B446B1CD148D}"/>
              </a:ext>
            </a:extLst>
          </p:cNvPr>
          <p:cNvSpPr txBox="1"/>
          <p:nvPr/>
        </p:nvSpPr>
        <p:spPr>
          <a:xfrm>
            <a:off x="1117600" y="4140200"/>
            <a:ext cx="27432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ログ・権限・技術的な制限事項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10562295-38CA-2624-6DAF-AAC0025508EA}"/>
              </a:ext>
            </a:extLst>
          </p:cNvPr>
          <p:cNvSpPr/>
          <p:nvPr/>
        </p:nvSpPr>
        <p:spPr>
          <a:xfrm>
            <a:off x="4419600" y="3225800"/>
            <a:ext cx="3352800" cy="1473200"/>
          </a:xfrm>
          <a:prstGeom prst="roundRect">
            <a:avLst>
              <a:gd name="adj" fmla="val 9000"/>
            </a:avLst>
          </a:prstGeom>
          <a:solidFill>
            <a:srgbClr val="1B2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3E4B2C65-7CF1-6906-CFE7-792146B5D659}"/>
              </a:ext>
            </a:extLst>
          </p:cNvPr>
          <p:cNvSpPr/>
          <p:nvPr/>
        </p:nvSpPr>
        <p:spPr>
          <a:xfrm>
            <a:off x="4724400" y="3530600"/>
            <a:ext cx="355600" cy="38100"/>
          </a:xfrm>
          <a:prstGeom prst="rect">
            <a:avLst/>
          </a:prstGeom>
          <a:solidFill>
            <a:srgbClr val="7FA6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F66577A-9B1E-84AF-ACB1-085BF41652AA}"/>
              </a:ext>
            </a:extLst>
          </p:cNvPr>
          <p:cNvSpPr txBox="1"/>
          <p:nvPr/>
        </p:nvSpPr>
        <p:spPr>
          <a:xfrm>
            <a:off x="4724400" y="3759200"/>
            <a:ext cx="27432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7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受け入れテスト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AD315A6-F13A-8151-10B4-F962B279BB36}"/>
              </a:ext>
            </a:extLst>
          </p:cNvPr>
          <p:cNvSpPr txBox="1"/>
          <p:nvPr/>
        </p:nvSpPr>
        <p:spPr>
          <a:xfrm>
            <a:off x="4724400" y="4140200"/>
            <a:ext cx="27432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導入時の確認チェックリスト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6B53D7DD-5A28-D808-68A8-9D56DC2BF341}"/>
              </a:ext>
            </a:extLst>
          </p:cNvPr>
          <p:cNvSpPr/>
          <p:nvPr/>
        </p:nvSpPr>
        <p:spPr>
          <a:xfrm>
            <a:off x="8026400" y="3225800"/>
            <a:ext cx="3352800" cy="1473200"/>
          </a:xfrm>
          <a:prstGeom prst="roundRect">
            <a:avLst>
              <a:gd name="adj" fmla="val 9000"/>
            </a:avLst>
          </a:prstGeom>
          <a:solidFill>
            <a:srgbClr val="1B2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C3C961F-2E77-98CA-F498-E0A16654BCC4}"/>
              </a:ext>
            </a:extLst>
          </p:cNvPr>
          <p:cNvSpPr/>
          <p:nvPr/>
        </p:nvSpPr>
        <p:spPr>
          <a:xfrm>
            <a:off x="8331200" y="3530600"/>
            <a:ext cx="355600" cy="38100"/>
          </a:xfrm>
          <a:prstGeom prst="rect">
            <a:avLst/>
          </a:prstGeom>
          <a:solidFill>
            <a:srgbClr val="7FA6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99A6283A-D1CA-05F1-500B-5EA56BE2F5A0}"/>
              </a:ext>
            </a:extLst>
          </p:cNvPr>
          <p:cNvSpPr txBox="1"/>
          <p:nvPr/>
        </p:nvSpPr>
        <p:spPr>
          <a:xfrm>
            <a:off x="8331200" y="3759200"/>
            <a:ext cx="27432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7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アプリ要件定義書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4C732BA-B114-F45F-FC21-5601F0056043}"/>
              </a:ext>
            </a:extLst>
          </p:cNvPr>
          <p:cNvSpPr txBox="1"/>
          <p:nvPr/>
        </p:nvSpPr>
        <p:spPr>
          <a:xfrm>
            <a:off x="8331200" y="4140200"/>
            <a:ext cx="27432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機能仕様の詳細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B5F0AB91-73F4-1A93-2593-5F2255B394E8}"/>
              </a:ext>
            </a:extLst>
          </p:cNvPr>
          <p:cNvSpPr/>
          <p:nvPr/>
        </p:nvSpPr>
        <p:spPr>
          <a:xfrm>
            <a:off x="812800" y="5308600"/>
            <a:ext cx="10566400" cy="12700"/>
          </a:xfrm>
          <a:prstGeom prst="rect">
            <a:avLst/>
          </a:prstGeom>
          <a:solidFill>
            <a:srgbClr val="2E405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240D523-4334-A756-95B2-6230CB01A023}"/>
              </a:ext>
            </a:extLst>
          </p:cNvPr>
          <p:cNvSpPr txBox="1"/>
          <p:nvPr/>
        </p:nvSpPr>
        <p:spPr>
          <a:xfrm>
            <a:off x="812800" y="5537200"/>
            <a:ext cx="7620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　（出典：操作ガイド</a:t>
            </a:r>
            <a:r>
              <a:rPr kumimoji="1" lang="en-US" altLang="ja-JP" sz="115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.md</a:t>
            </a:r>
            <a:r>
              <a:rPr kumimoji="1" lang="ja-JP" altLang="en-US" sz="115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22083435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1811</Words>
  <Application>Microsoft Office PowerPoint</Application>
  <PresentationFormat>ユーザー設定</PresentationFormat>
  <Paragraphs>269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2" baseType="lpstr">
      <vt:lpstr>Yu Gothic UI</vt:lpstr>
      <vt:lpstr>游ゴシック</vt:lpstr>
      <vt:lpstr>游ゴシック Light</vt:lpstr>
      <vt:lpstr>Arial</vt:lpstr>
      <vt:lpstr>Consolas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Noriyuki Kamata</dc:creator>
  <cp:lastModifiedBy>Noriyuki Kamata</cp:lastModifiedBy>
  <cp:revision>1</cp:revision>
  <dcterms:created xsi:type="dcterms:W3CDTF">2026-08-28T13:11:15Z</dcterms:created>
  <dcterms:modified xsi:type="dcterms:W3CDTF">2026-08-28T13:11:15Z</dcterms:modified>
</cp:coreProperties>
</file>