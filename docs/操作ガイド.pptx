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ja-JP"/>
    </a:defPPr>
    <a:lvl1pPr marL="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6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D7D0273-B300-8B3B-5586-F5DD32264D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1D43A2A-0AD2-DC7B-6298-CD2E5E80F5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8658082-C8E9-7467-8CC5-86901D04A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A14B1-0F86-4E96-B4A8-1C51CAA5F750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E370D10-BCD4-FADA-BBCA-A4992EFA6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BD3B3E-4B8E-F28E-D0ED-794964C6E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D656-19E1-4C31-9E7D-6AD1D1FE66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7325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4D6FD4-7765-5CB1-10FB-DA1393CED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5312D7-F1EB-5CAD-E699-7764E4AC39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7968F88-D439-38DC-A618-76802D2CB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A14B1-0F86-4E96-B4A8-1C51CAA5F750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C6EFBC5-5631-7014-981C-A31B10828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064E7A6-4EDE-0860-C0BB-4777CE5E7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D656-19E1-4C31-9E7D-6AD1D1FE66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0198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23490C-6BF2-2101-A007-107699CFB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FCE285C-49E9-97C2-C276-AD68B11135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E148F63-A193-2C6A-CD24-F5A45824F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A14B1-0F86-4E96-B4A8-1C51CAA5F750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D87955A-D658-7181-F697-3A2143D94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0FA9118-76EC-5FC3-75A8-2D1341A48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D656-19E1-4C31-9E7D-6AD1D1FE66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781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00BD76-E59A-3F00-35A4-C652A8507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DFEC804-8F4A-FBE6-0FB0-A6F1C1AE81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E4AF811-CF3B-A853-9266-1EDE1DFC06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4D29E37-B7F0-61E3-37F7-490304B7C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A14B1-0F86-4E96-B4A8-1C51CAA5F750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7D36540-A92A-678A-CA6F-CA7297F82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C556E1E-9AFD-0001-A660-498275341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D656-19E1-4C31-9E7D-6AD1D1FE66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14408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E6B3F4-9254-C4E2-45E5-75CE979F77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4429A07-880B-6E47-33D9-2C40034CF5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B3ADA97-B863-022B-D54A-7FD690E95C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7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5B4384C-5FA9-9F19-457E-F4A5212DAF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C13F871-8B2F-DA82-4101-0E7A4384FC2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7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67BE993-7219-103B-2800-2A5D81BD6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A14B1-0F86-4E96-B4A8-1C51CAA5F750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2825909-BDC4-98DC-52DF-F0697BCE7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46D9342-E03D-984A-E0EF-5CE601285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D656-19E1-4C31-9E7D-6AD1D1FE66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519957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D2DE5D-EACF-950D-5DBE-BD45C6018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B50618F-3AE7-7176-2925-4BCD63DF8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A14B1-0F86-4E96-B4A8-1C51CAA5F750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5CCC65D-74C5-43D9-3F94-EA20DB037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296E855-BD78-3B67-59FE-3BA73E86A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D656-19E1-4C31-9E7D-6AD1D1FE66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7840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F6492CAF-2CC4-D588-EC3F-0A1E1A877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A14B1-0F86-4E96-B4A8-1C51CAA5F750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96737D8-4456-39BE-5A6C-7BAC969026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610FD63-E657-9C94-3DEA-EDE1AC01B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D656-19E1-4C31-9E7D-6AD1D1FE66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0921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E24F7A-D38E-4BAA-9A1E-344CA4A6C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D7F527-EF02-4030-A34C-CE3178528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6DA2173-2D9F-9F93-646B-4B7A1A3D9D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753E58C-CC2B-5C9C-8B8B-70E363F98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A14B1-0F86-4E96-B4A8-1C51CAA5F750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1FAF5CA-68E9-CA9D-EC76-9F30C0292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A244E9-BB92-0C1D-A438-0E4C29A6F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D656-19E1-4C31-9E7D-6AD1D1FE66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9981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4700544-51ED-12BB-8D44-8CFB0B70B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1B5A256-4CAE-297E-6CC6-A746E71E22B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67D5FBE-C898-0187-30D9-B5DE2B5BFC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8CD336-8184-3440-556C-505A5B548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A14B1-0F86-4E96-B4A8-1C51CAA5F750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67140C4-BA41-ECD4-A10C-0E37DE818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778833E-8F08-03E8-5200-5FB394509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D656-19E1-4C31-9E7D-6AD1D1FE66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1477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99F2-9215-44D9-7977-55960704B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E8883C6-3E85-6BDD-281A-CA873675FA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67386E-74DE-22E9-9C7F-1BEC3D2B1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A14B1-0F86-4E96-B4A8-1C51CAA5F750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686F35F-008A-86B3-EFED-5B8D0A807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BF1354B-3688-80A9-92AE-A28C412CA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D656-19E1-4C31-9E7D-6AD1D1FE66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333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1396346-E80B-5D64-D50D-ADFBCED2A9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7"/>
            <a:ext cx="2628900" cy="5811839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0CA60B4-CDAE-EF44-2A02-420B50CDE2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7"/>
            <a:ext cx="7734300" cy="5811839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DA7D265-B5A1-17F5-DF1D-394910B0F1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A14B1-0F86-4E96-B4A8-1C51CAA5F750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6309E38-F745-4163-A54D-1C32A85E5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5A85F3B-EC7F-CCEC-0A00-0BBFAAC60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D656-19E1-4C31-9E7D-6AD1D1FE66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526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366CF4C-33F0-66EF-9A29-74E50EFD3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F4620AD-4793-B839-5456-694A2E0101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41BF62-350A-27F9-A67A-E3484DF172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0A14B1-0F86-4E96-B4A8-1C51CAA5F750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9DEE4EF-ABCA-3B20-44E1-9ACE9F22D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DBC254C-E836-0593-2A04-03D5AC166E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DED656-19E1-4C31-9E7D-6AD1D1FE66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6172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AADD28C-8B15-86B7-2F79-48EB88459D6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2C141B2-4415-FBF0-6949-488A97FF057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C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2775F9A5-37A1-235E-CD1A-4F4CBBCB40A7}"/>
              </a:ext>
            </a:extLst>
          </p:cNvPr>
          <p:cNvSpPr/>
          <p:nvPr/>
        </p:nvSpPr>
        <p:spPr>
          <a:xfrm>
            <a:off x="7747000" y="-1778000"/>
            <a:ext cx="6604000" cy="6604000"/>
          </a:xfrm>
          <a:prstGeom prst="ellipse">
            <a:avLst/>
          </a:prstGeom>
          <a:solidFill>
            <a:srgbClr val="2563EB">
              <a:alpha val="18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D3CC513A-B159-ED72-2B94-5368E3E1DE5E}"/>
              </a:ext>
            </a:extLst>
          </p:cNvPr>
          <p:cNvSpPr/>
          <p:nvPr/>
        </p:nvSpPr>
        <p:spPr>
          <a:xfrm>
            <a:off x="9271000" y="3175000"/>
            <a:ext cx="4826000" cy="4826000"/>
          </a:xfrm>
          <a:prstGeom prst="ellipse">
            <a:avLst/>
          </a:prstGeom>
          <a:solidFill>
            <a:srgbClr val="0F8E92">
              <a:alpha val="14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008237B-301E-8DA7-C223-4381E2926E49}"/>
              </a:ext>
            </a:extLst>
          </p:cNvPr>
          <p:cNvSpPr/>
          <p:nvPr/>
        </p:nvSpPr>
        <p:spPr>
          <a:xfrm>
            <a:off x="812800" y="1905000"/>
            <a:ext cx="863600" cy="635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CA27613-3021-F0BD-3677-B45CCB382F6B}"/>
              </a:ext>
            </a:extLst>
          </p:cNvPr>
          <p:cNvSpPr txBox="1"/>
          <p:nvPr/>
        </p:nvSpPr>
        <p:spPr>
          <a:xfrm>
            <a:off x="812800" y="1498600"/>
            <a:ext cx="6350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250" b="1">
                <a:solidFill>
                  <a:srgbClr val="7FA6F5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SIMPLE DIGITAL SIGNAGE</a:t>
            </a:r>
            <a:endParaRPr kumimoji="1" lang="ja-JP" altLang="en-US" sz="1250" b="1">
              <a:solidFill>
                <a:srgbClr val="7FA6F5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022D950-EE33-B572-5754-09DB7F7DB161}"/>
              </a:ext>
            </a:extLst>
          </p:cNvPr>
          <p:cNvSpPr txBox="1"/>
          <p:nvPr/>
        </p:nvSpPr>
        <p:spPr>
          <a:xfrm>
            <a:off x="812800" y="2286000"/>
            <a:ext cx="7874000" cy="914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52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操作ガイド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8E8776A-5ECF-D1CF-2181-35384A2B5607}"/>
              </a:ext>
            </a:extLst>
          </p:cNvPr>
          <p:cNvSpPr txBox="1"/>
          <p:nvPr/>
        </p:nvSpPr>
        <p:spPr>
          <a:xfrm>
            <a:off x="812800" y="3378200"/>
            <a:ext cx="71120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kumimoji="1" lang="ja-JP" altLang="en-US" sz="15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フォルダに入れるだけ。あとは全画面で自動ループ。</a:t>
            </a:r>
          </a:p>
          <a:p>
            <a:pPr>
              <a:lnSpc>
                <a:spcPct val="150000"/>
              </a:lnSpc>
            </a:pPr>
            <a:r>
              <a:rPr kumimoji="1" lang="en-US" altLang="ja-JP" sz="15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</a:t>
            </a:r>
            <a:r>
              <a:rPr kumimoji="1" lang="ja-JP" altLang="en-US" sz="15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・画像・動画をそのまま掲示できるサイネージアプリの使いかた。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6658F8CF-C987-A95D-771E-A2CEF8E8FB9B}"/>
              </a:ext>
            </a:extLst>
          </p:cNvPr>
          <p:cNvSpPr/>
          <p:nvPr/>
        </p:nvSpPr>
        <p:spPr>
          <a:xfrm>
            <a:off x="812800" y="4546600"/>
            <a:ext cx="1884680" cy="381000"/>
          </a:xfrm>
          <a:prstGeom prst="roundRect">
            <a:avLst>
              <a:gd name="adj" fmla="val 50000"/>
            </a:avLst>
          </a:prstGeom>
          <a:solidFill>
            <a:srgbClr val="1E3A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7F49527-B43E-2E9C-C31B-BD44BE66975B}"/>
              </a:ext>
            </a:extLst>
          </p:cNvPr>
          <p:cNvSpPr txBox="1"/>
          <p:nvPr/>
        </p:nvSpPr>
        <p:spPr>
          <a:xfrm>
            <a:off x="812800" y="4546600"/>
            <a:ext cx="188468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200" b="1">
                <a:solidFill>
                  <a:srgbClr val="BBD1FA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コンテンツ担当者向け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2FDDCD69-A3F1-3A1C-85DE-B8C0C6D80039}"/>
              </a:ext>
            </a:extLst>
          </p:cNvPr>
          <p:cNvSpPr/>
          <p:nvPr/>
        </p:nvSpPr>
        <p:spPr>
          <a:xfrm>
            <a:off x="2946400" y="4546600"/>
            <a:ext cx="1729232" cy="381000"/>
          </a:xfrm>
          <a:prstGeom prst="roundRect">
            <a:avLst>
              <a:gd name="adj" fmla="val 50000"/>
            </a:avLst>
          </a:prstGeom>
          <a:solidFill>
            <a:srgbClr val="1741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D6A9A28-0801-AED6-6043-FA2A1BCF4E72}"/>
              </a:ext>
            </a:extLst>
          </p:cNvPr>
          <p:cNvSpPr txBox="1"/>
          <p:nvPr/>
        </p:nvSpPr>
        <p:spPr>
          <a:xfrm>
            <a:off x="2946400" y="4546600"/>
            <a:ext cx="1729232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200" b="1">
                <a:solidFill>
                  <a:srgbClr val="A9DDD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システム管理者向け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6FE10370-7D63-28C2-7ED2-2BC4A4B4D900}"/>
              </a:ext>
            </a:extLst>
          </p:cNvPr>
          <p:cNvSpPr/>
          <p:nvPr/>
        </p:nvSpPr>
        <p:spPr>
          <a:xfrm>
            <a:off x="812800" y="5486400"/>
            <a:ext cx="3810000" cy="12700"/>
          </a:xfrm>
          <a:prstGeom prst="rect">
            <a:avLst/>
          </a:prstGeom>
          <a:solidFill>
            <a:srgbClr val="2E405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BCA2020-13FC-21FD-F189-23FE0AE3FDCD}"/>
              </a:ext>
            </a:extLst>
          </p:cNvPr>
          <p:cNvSpPr txBox="1"/>
          <p:nvPr/>
        </p:nvSpPr>
        <p:spPr>
          <a:xfrm>
            <a:off x="812800" y="5689600"/>
            <a:ext cx="6096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2026</a:t>
            </a:r>
            <a:r>
              <a:rPr kumimoji="1" lang="ja-JP" altLang="en-US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年</a:t>
            </a:r>
            <a:r>
              <a:rPr kumimoji="1" lang="en-US" altLang="ja-JP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8</a:t>
            </a:r>
            <a:r>
              <a:rPr kumimoji="1" lang="ja-JP" altLang="en-US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月版　｜　操作ガイド</a:t>
            </a:r>
            <a:r>
              <a:rPr kumimoji="1" lang="en-US" altLang="ja-JP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.md </a:t>
            </a:r>
            <a:r>
              <a:rPr kumimoji="1" lang="ja-JP" altLang="en-US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より作成</a:t>
            </a:r>
          </a:p>
        </p:txBody>
      </p:sp>
    </p:spTree>
    <p:extLst>
      <p:ext uri="{BB962C8B-B14F-4D97-AF65-F5344CB8AC3E}">
        <p14:creationId xmlns:p14="http://schemas.microsoft.com/office/powerpoint/2010/main" val="30919543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04C321B-A898-CB0C-7F75-DC1677786CE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007F7FD-1A93-8548-2C42-28C08A821A77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68244CC-C83E-90C5-3A97-86874CD1CE5F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OVERVIEW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6119AB7-2C84-087D-2718-ED762C8FC249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このガイドの対象と役割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033DC43-A818-96AE-EFC1-FDA1ED5AEC10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34E8426-A313-D185-7209-C0EBF3238B62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6E57FC4-BDDA-5513-6F3B-31FA3DDB0420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7526CBC-9DEE-8307-3417-C9B8432EC908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日常の運用は 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つの役割に分かれます。自分の役割のページだけ読めば運用できます。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101070EE-1123-A8FB-12C5-9713EBBD3800}"/>
              </a:ext>
            </a:extLst>
          </p:cNvPr>
          <p:cNvSpPr/>
          <p:nvPr/>
        </p:nvSpPr>
        <p:spPr>
          <a:xfrm>
            <a:off x="812800" y="2362200"/>
            <a:ext cx="5130800" cy="299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47A91E-068C-A62D-3CF4-3B548FF7A321}"/>
              </a:ext>
            </a:extLst>
          </p:cNvPr>
          <p:cNvSpPr/>
          <p:nvPr/>
        </p:nvSpPr>
        <p:spPr>
          <a:xfrm>
            <a:off x="812800" y="2362200"/>
            <a:ext cx="5130800" cy="635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8D563891-B41F-B6B4-4616-0A86876A4F2B}"/>
              </a:ext>
            </a:extLst>
          </p:cNvPr>
          <p:cNvSpPr/>
          <p:nvPr/>
        </p:nvSpPr>
        <p:spPr>
          <a:xfrm>
            <a:off x="1143000" y="2692400"/>
            <a:ext cx="828040" cy="279400"/>
          </a:xfrm>
          <a:prstGeom prst="roundRect">
            <a:avLst>
              <a:gd name="adj" fmla="val 50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C61765A-6AF0-71A1-22C1-2CCC90503F86}"/>
              </a:ext>
            </a:extLst>
          </p:cNvPr>
          <p:cNvSpPr txBox="1"/>
          <p:nvPr/>
        </p:nvSpPr>
        <p:spPr>
          <a:xfrm>
            <a:off x="1143000" y="2692400"/>
            <a:ext cx="82804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ROLE 01</a:t>
            </a:r>
            <a:endParaRPr kumimoji="1" lang="ja-JP" altLang="en-US" sz="100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E786151-5759-A95B-79B4-2E3DC9BB1A67}"/>
              </a:ext>
            </a:extLst>
          </p:cNvPr>
          <p:cNvSpPr txBox="1"/>
          <p:nvPr/>
        </p:nvSpPr>
        <p:spPr>
          <a:xfrm>
            <a:off x="1143000" y="3098800"/>
            <a:ext cx="44704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1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F3954442-AB27-FFB6-C8F0-5CD1C597053C}"/>
              </a:ext>
            </a:extLst>
          </p:cNvPr>
          <p:cNvSpPr txBox="1"/>
          <p:nvPr/>
        </p:nvSpPr>
        <p:spPr>
          <a:xfrm>
            <a:off x="1143000" y="35052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表示するファイルを扱う人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474F5C1-CAE8-C5B9-E16C-8F26DFD2F790}"/>
              </a:ext>
            </a:extLst>
          </p:cNvPr>
          <p:cNvSpPr txBox="1"/>
          <p:nvPr/>
        </p:nvSpPr>
        <p:spPr>
          <a:xfrm>
            <a:off x="1143000" y="3937000"/>
            <a:ext cx="4470400" cy="1143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・表示したいファイルをフォルダに入れる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・不要になったファイルを削除する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・ファイル名で表示順・表示時間・再生期限を調整する</a:t>
            </a: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F46AE816-B995-9A8E-CC49-56C1AE8986AB}"/>
              </a:ext>
            </a:extLst>
          </p:cNvPr>
          <p:cNvSpPr/>
          <p:nvPr/>
        </p:nvSpPr>
        <p:spPr>
          <a:xfrm>
            <a:off x="6248400" y="2362200"/>
            <a:ext cx="5130800" cy="299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2FC0F4FD-BD35-6134-A8B8-D66B124778D3}"/>
              </a:ext>
            </a:extLst>
          </p:cNvPr>
          <p:cNvSpPr/>
          <p:nvPr/>
        </p:nvSpPr>
        <p:spPr>
          <a:xfrm>
            <a:off x="6248400" y="2362200"/>
            <a:ext cx="5130800" cy="635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9806AD4C-6862-0E51-00CA-4F7E3F3D16BD}"/>
              </a:ext>
            </a:extLst>
          </p:cNvPr>
          <p:cNvSpPr/>
          <p:nvPr/>
        </p:nvSpPr>
        <p:spPr>
          <a:xfrm>
            <a:off x="6578600" y="2692400"/>
            <a:ext cx="828040" cy="279400"/>
          </a:xfrm>
          <a:prstGeom prst="roundRect">
            <a:avLst>
              <a:gd name="adj" fmla="val 50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D91BE002-F70F-142B-8AC6-8717396E6DEA}"/>
              </a:ext>
            </a:extLst>
          </p:cNvPr>
          <p:cNvSpPr txBox="1"/>
          <p:nvPr/>
        </p:nvSpPr>
        <p:spPr>
          <a:xfrm>
            <a:off x="6578600" y="2692400"/>
            <a:ext cx="82804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ROLE 02</a:t>
            </a:r>
            <a:endParaRPr kumimoji="1" lang="ja-JP" altLang="en-US" sz="10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B7BD4143-3D1B-E7B6-6173-1A4F61116593}"/>
              </a:ext>
            </a:extLst>
          </p:cNvPr>
          <p:cNvSpPr txBox="1"/>
          <p:nvPr/>
        </p:nvSpPr>
        <p:spPr>
          <a:xfrm>
            <a:off x="6578600" y="3098800"/>
            <a:ext cx="44704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1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34DCE2D8-CB5C-B0B3-C14E-66DA658120B4}"/>
              </a:ext>
            </a:extLst>
          </p:cNvPr>
          <p:cNvSpPr txBox="1"/>
          <p:nvPr/>
        </p:nvSpPr>
        <p:spPr>
          <a:xfrm>
            <a:off x="6578600" y="35052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アプリと設定を扱う人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0CE6C835-3F5F-B700-B983-6CAE7B99BE21}"/>
              </a:ext>
            </a:extLst>
          </p:cNvPr>
          <p:cNvSpPr txBox="1"/>
          <p:nvPr/>
        </p:nvSpPr>
        <p:spPr>
          <a:xfrm>
            <a:off x="6578600" y="3937000"/>
            <a:ext cx="4470400" cy="1143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・アプリの起動と管理画面の操作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・監視フォルダ・表示秒数などの設定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・夜間停止と朝の自動起動、ログの確認</a:t>
            </a:r>
          </a:p>
        </p:txBody>
      </p:sp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9A949C9A-A88B-C50E-3D16-AE0226BA0C8B}"/>
              </a:ext>
            </a:extLst>
          </p:cNvPr>
          <p:cNvSpPr/>
          <p:nvPr/>
        </p:nvSpPr>
        <p:spPr>
          <a:xfrm>
            <a:off x="812800" y="5638800"/>
            <a:ext cx="10566400" cy="584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6404329A-595E-216A-4F3B-E980E8CA8135}"/>
              </a:ext>
            </a:extLst>
          </p:cNvPr>
          <p:cNvSpPr/>
          <p:nvPr/>
        </p:nvSpPr>
        <p:spPr>
          <a:xfrm>
            <a:off x="812800" y="5638800"/>
            <a:ext cx="50800" cy="584200"/>
          </a:xfrm>
          <a:prstGeom prst="rect">
            <a:avLst/>
          </a:prstGeom>
          <a:solidFill>
            <a:srgbClr val="8794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FD4030C0-4791-84C4-950E-E0D7193B4CB8}"/>
              </a:ext>
            </a:extLst>
          </p:cNvPr>
          <p:cNvSpPr txBox="1"/>
          <p:nvPr/>
        </p:nvSpPr>
        <p:spPr>
          <a:xfrm>
            <a:off x="1092200" y="5638800"/>
            <a:ext cx="581152" cy="584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150" b="1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MEMO</a:t>
            </a:r>
            <a:endParaRPr kumimoji="1" lang="ja-JP" altLang="en-US" sz="1150" b="1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5BEBFBD-E880-BBD2-3614-860D4BC4750D}"/>
              </a:ext>
            </a:extLst>
          </p:cNvPr>
          <p:cNvSpPr txBox="1"/>
          <p:nvPr/>
        </p:nvSpPr>
        <p:spPr>
          <a:xfrm>
            <a:off x="1673352" y="5638800"/>
            <a:ext cx="9426448" cy="584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ログ・権限・技術的な制限事項などの詳細は「運用ガイド」を参照してください。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30564901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939FD0B-A0C7-7FF6-7145-7A86C12129F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4ABF57B-BD40-0786-9ED3-F5CEBF73D8E3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B60FBBE-17E3-A9AC-4FDD-95440422C634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HOW IT WORKS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3AD53B9-4066-841D-601F-3F8A110DA3D8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表示のしくみ（全体像）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77505B1-2E76-9448-0F33-0B4A7D813E2B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327F2D0-F58B-122D-7DC3-45D076690AD2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6D93071-91BB-173A-BF32-1B5809C5AB81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8E9D98B-6C0A-26AF-8F1B-ECEA14E3A1BB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操作はフォルダにファイルを置くだけ。検知も表示もアプリが自動で行います。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14E086B-96C6-0F98-B6AF-0B96DD6B76A7}"/>
              </a:ext>
            </a:extLst>
          </p:cNvPr>
          <p:cNvSpPr/>
          <p:nvPr/>
        </p:nvSpPr>
        <p:spPr>
          <a:xfrm>
            <a:off x="812800" y="2413000"/>
            <a:ext cx="31750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8709CD8C-1DA2-42C3-26C8-02AE030A2322}"/>
              </a:ext>
            </a:extLst>
          </p:cNvPr>
          <p:cNvSpPr/>
          <p:nvPr/>
        </p:nvSpPr>
        <p:spPr>
          <a:xfrm>
            <a:off x="1117600" y="2717800"/>
            <a:ext cx="457200" cy="457200"/>
          </a:xfrm>
          <a:prstGeom prst="ellipse">
            <a:avLst/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97C160C-2C93-BCFD-D86C-62E1C6F7B9B0}"/>
              </a:ext>
            </a:extLst>
          </p:cNvPr>
          <p:cNvSpPr txBox="1"/>
          <p:nvPr/>
        </p:nvSpPr>
        <p:spPr>
          <a:xfrm>
            <a:off x="1117600" y="2717800"/>
            <a:ext cx="457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</a:t>
            </a:r>
            <a:endParaRPr kumimoji="1" lang="ja-JP" altLang="en-US" sz="15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F452A84-CAFF-69C6-69EC-3FA324A92219}"/>
              </a:ext>
            </a:extLst>
          </p:cNvPr>
          <p:cNvSpPr txBox="1"/>
          <p:nvPr/>
        </p:nvSpPr>
        <p:spPr>
          <a:xfrm>
            <a:off x="1117600" y="3352800"/>
            <a:ext cx="25654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ファイルを置く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8F9F6EA8-7032-981B-E58E-E949D13BDC65}"/>
              </a:ext>
            </a:extLst>
          </p:cNvPr>
          <p:cNvSpPr txBox="1"/>
          <p:nvPr/>
        </p:nvSpPr>
        <p:spPr>
          <a:xfrm>
            <a:off x="1117600" y="3733800"/>
            <a:ext cx="2565400" cy="838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指定した監視フォルダの直下に</a:t>
            </a:r>
          </a:p>
          <a:p>
            <a:pPr>
              <a:lnSpc>
                <a:spcPct val="140000"/>
              </a:lnSpc>
            </a:pP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・画像・動画を保存します。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2AD33207-838D-F366-8C72-9323B5F0AF24}"/>
              </a:ext>
            </a:extLst>
          </p:cNvPr>
          <p:cNvSpPr/>
          <p:nvPr/>
        </p:nvSpPr>
        <p:spPr>
          <a:xfrm>
            <a:off x="4508500" y="2413000"/>
            <a:ext cx="31750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楕円 15">
            <a:extLst>
              <a:ext uri="{FF2B5EF4-FFF2-40B4-BE49-F238E27FC236}">
                <a16:creationId xmlns:a16="http://schemas.microsoft.com/office/drawing/2014/main" id="{8955D103-718D-4400-3DCD-8ECCD1BAD2AA}"/>
              </a:ext>
            </a:extLst>
          </p:cNvPr>
          <p:cNvSpPr/>
          <p:nvPr/>
        </p:nvSpPr>
        <p:spPr>
          <a:xfrm>
            <a:off x="4813300" y="2717800"/>
            <a:ext cx="457200" cy="457200"/>
          </a:xfrm>
          <a:prstGeom prst="ellipse">
            <a:avLst/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3B304AB-0229-79EB-7779-0498D1B15BB5}"/>
              </a:ext>
            </a:extLst>
          </p:cNvPr>
          <p:cNvSpPr txBox="1"/>
          <p:nvPr/>
        </p:nvSpPr>
        <p:spPr>
          <a:xfrm>
            <a:off x="4813300" y="2717800"/>
            <a:ext cx="457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</a:t>
            </a:r>
            <a:endParaRPr kumimoji="1" lang="ja-JP" altLang="en-US" sz="15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7435841-F029-726D-88B9-7FCF09BD8165}"/>
              </a:ext>
            </a:extLst>
          </p:cNvPr>
          <p:cNvSpPr txBox="1"/>
          <p:nvPr/>
        </p:nvSpPr>
        <p:spPr>
          <a:xfrm>
            <a:off x="4813300" y="3352800"/>
            <a:ext cx="25654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アプリが検知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7AE88A6-2A18-CDD6-3812-44D9C734E38D}"/>
              </a:ext>
            </a:extLst>
          </p:cNvPr>
          <p:cNvSpPr txBox="1"/>
          <p:nvPr/>
        </p:nvSpPr>
        <p:spPr>
          <a:xfrm>
            <a:off x="4813300" y="3733800"/>
            <a:ext cx="2565400" cy="838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追加・削除を自動で見つけて</a:t>
            </a:r>
          </a:p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再生リストを作り直します。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7CF9E610-9605-958B-A1D6-97693DEBE379}"/>
              </a:ext>
            </a:extLst>
          </p:cNvPr>
          <p:cNvSpPr/>
          <p:nvPr/>
        </p:nvSpPr>
        <p:spPr>
          <a:xfrm>
            <a:off x="8204200" y="2413000"/>
            <a:ext cx="31750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楕円 20">
            <a:extLst>
              <a:ext uri="{FF2B5EF4-FFF2-40B4-BE49-F238E27FC236}">
                <a16:creationId xmlns:a16="http://schemas.microsoft.com/office/drawing/2014/main" id="{E044BB59-3B89-2058-9A81-8724C930404D}"/>
              </a:ext>
            </a:extLst>
          </p:cNvPr>
          <p:cNvSpPr/>
          <p:nvPr/>
        </p:nvSpPr>
        <p:spPr>
          <a:xfrm>
            <a:off x="8509000" y="2717800"/>
            <a:ext cx="457200" cy="457200"/>
          </a:xfrm>
          <a:prstGeom prst="ellipse">
            <a:avLst/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569890C6-A99C-D9AC-28BC-62E34220510F}"/>
              </a:ext>
            </a:extLst>
          </p:cNvPr>
          <p:cNvSpPr txBox="1"/>
          <p:nvPr/>
        </p:nvSpPr>
        <p:spPr>
          <a:xfrm>
            <a:off x="8509000" y="2717800"/>
            <a:ext cx="457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</a:t>
            </a:r>
            <a:endParaRPr kumimoji="1" lang="ja-JP" altLang="en-US" sz="15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D1ACAE9-F708-2D25-8C13-4308A83F2D6A}"/>
              </a:ext>
            </a:extLst>
          </p:cNvPr>
          <p:cNvSpPr txBox="1"/>
          <p:nvPr/>
        </p:nvSpPr>
        <p:spPr>
          <a:xfrm>
            <a:off x="8509000" y="3352800"/>
            <a:ext cx="25654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全画面でループ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B9CD6A8F-4846-03C2-519F-E5E447869966}"/>
              </a:ext>
            </a:extLst>
          </p:cNvPr>
          <p:cNvSpPr txBox="1"/>
          <p:nvPr/>
        </p:nvSpPr>
        <p:spPr>
          <a:xfrm>
            <a:off x="8509000" y="3733800"/>
            <a:ext cx="2565400" cy="838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順番に全画面表示し、</a:t>
            </a:r>
          </a:p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最後まで行くと先頭へ戻ります。</a:t>
            </a:r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9773484F-734F-A88C-C132-417ED336FCDA}"/>
              </a:ext>
            </a:extLst>
          </p:cNvPr>
          <p:cNvSpPr/>
          <p:nvPr/>
        </p:nvSpPr>
        <p:spPr>
          <a:xfrm>
            <a:off x="4089400" y="3327400"/>
            <a:ext cx="317500" cy="254000"/>
          </a:xfrm>
          <a:prstGeom prst="rightArrow">
            <a:avLst/>
          </a:prstGeom>
          <a:solidFill>
            <a:srgbClr val="BFD0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矢印: 右 25">
            <a:extLst>
              <a:ext uri="{FF2B5EF4-FFF2-40B4-BE49-F238E27FC236}">
                <a16:creationId xmlns:a16="http://schemas.microsoft.com/office/drawing/2014/main" id="{16169BD1-5F16-028B-3523-46B72BA21686}"/>
              </a:ext>
            </a:extLst>
          </p:cNvPr>
          <p:cNvSpPr/>
          <p:nvPr/>
        </p:nvSpPr>
        <p:spPr>
          <a:xfrm>
            <a:off x="7785100" y="3327400"/>
            <a:ext cx="317500" cy="254000"/>
          </a:xfrm>
          <a:prstGeom prst="rightArrow">
            <a:avLst/>
          </a:prstGeom>
          <a:solidFill>
            <a:srgbClr val="BFD0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93E2844C-78F3-E49F-EC49-EC46DA1723F5}"/>
              </a:ext>
            </a:extLst>
          </p:cNvPr>
          <p:cNvSpPr/>
          <p:nvPr/>
        </p:nvSpPr>
        <p:spPr>
          <a:xfrm>
            <a:off x="812800" y="5130800"/>
            <a:ext cx="10566400" cy="787400"/>
          </a:xfrm>
          <a:prstGeom prst="roundRect">
            <a:avLst>
              <a:gd name="adj" fmla="val 12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2F2A8FB1-54B0-0BF1-0C23-C7E246EA337C}"/>
              </a:ext>
            </a:extLst>
          </p:cNvPr>
          <p:cNvSpPr/>
          <p:nvPr/>
        </p:nvSpPr>
        <p:spPr>
          <a:xfrm>
            <a:off x="812800" y="5130800"/>
            <a:ext cx="50800" cy="7874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22771532-B6F6-2BFE-A122-27E7FF5EA283}"/>
              </a:ext>
            </a:extLst>
          </p:cNvPr>
          <p:cNvSpPr txBox="1"/>
          <p:nvPr/>
        </p:nvSpPr>
        <p:spPr>
          <a:xfrm>
            <a:off x="1092200" y="5130800"/>
            <a:ext cx="1497584" cy="787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反映のタイミング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F2A1F08D-795A-2E8A-E590-D308D8B36455}"/>
              </a:ext>
            </a:extLst>
          </p:cNvPr>
          <p:cNvSpPr txBox="1"/>
          <p:nvPr/>
        </p:nvSpPr>
        <p:spPr>
          <a:xfrm>
            <a:off x="2589784" y="5130800"/>
            <a:ext cx="8510016" cy="787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ファイルを追加・削除しても、いま表示しているスライドが終わったあとに切り替わります。普段は全画面（キオスクモード）のまま運用します。</a:t>
            </a:r>
          </a:p>
        </p:txBody>
      </p:sp>
    </p:spTree>
    <p:extLst>
      <p:ext uri="{BB962C8B-B14F-4D97-AF65-F5344CB8AC3E}">
        <p14:creationId xmlns:p14="http://schemas.microsoft.com/office/powerpoint/2010/main" val="39350463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A3FDE90-0919-ED97-0EA0-E185E598A4B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69BDEC3-4853-A197-F828-608B5B32F2F7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501E7DC-BFB7-243B-C58C-258397046434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D3ACD44-3892-B5F1-E8E9-3FDC07A2D821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ファイルを追加する・止める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6BFE8B9-F749-B6F7-7BD1-B12AE4B9A8B9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D83FBF1F-11BB-F1FF-2225-FB5A63D73A8D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8E582CA-6327-7528-3FBB-C7C690BA103B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DDC7FD3-3EE7-05EF-0E36-ED94D05C8FA3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275CE52-A9F5-641B-BA32-2F923902B972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4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B98010B2-5EB5-AD24-CE92-E7821B7EA44B}"/>
              </a:ext>
            </a:extLst>
          </p:cNvPr>
          <p:cNvSpPr/>
          <p:nvPr/>
        </p:nvSpPr>
        <p:spPr>
          <a:xfrm>
            <a:off x="812800" y="1930400"/>
            <a:ext cx="10566400" cy="762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5597DBFE-9F1D-17D1-2735-8B2D4A7D8D3B}"/>
              </a:ext>
            </a:extLst>
          </p:cNvPr>
          <p:cNvSpPr/>
          <p:nvPr/>
        </p:nvSpPr>
        <p:spPr>
          <a:xfrm>
            <a:off x="1066800" y="2133600"/>
            <a:ext cx="381000" cy="381000"/>
          </a:xfrm>
          <a:prstGeom prst="ellipse">
            <a:avLst/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E5533FC-860B-0DFA-3368-66161E893C63}"/>
              </a:ext>
            </a:extLst>
          </p:cNvPr>
          <p:cNvSpPr txBox="1"/>
          <p:nvPr/>
        </p:nvSpPr>
        <p:spPr>
          <a:xfrm>
            <a:off x="1066800" y="21336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</a:t>
            </a:r>
            <a:endParaRPr kumimoji="1" lang="ja-JP" altLang="en-US" sz="140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52E5264-AA9E-2108-05C8-11C9EBCE0478}"/>
              </a:ext>
            </a:extLst>
          </p:cNvPr>
          <p:cNvSpPr txBox="1"/>
          <p:nvPr/>
        </p:nvSpPr>
        <p:spPr>
          <a:xfrm>
            <a:off x="1625600" y="2082800"/>
            <a:ext cx="508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監視フォルダを開く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07BE966-C253-F956-1793-AD895A159546}"/>
              </a:ext>
            </a:extLst>
          </p:cNvPr>
          <p:cNvSpPr txBox="1"/>
          <p:nvPr/>
        </p:nvSpPr>
        <p:spPr>
          <a:xfrm>
            <a:off x="1625600" y="2362200"/>
            <a:ext cx="9347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本番の例：</a:t>
            </a:r>
            <a:r>
              <a:rPr kumimoji="1" lang="en-US" altLang="ja-JP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D:\Signage</a:t>
            </a: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（場所は管理者に確認）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0E7948A2-5D77-D5DF-0A29-8A638E40D877}"/>
              </a:ext>
            </a:extLst>
          </p:cNvPr>
          <p:cNvSpPr/>
          <p:nvPr/>
        </p:nvSpPr>
        <p:spPr>
          <a:xfrm>
            <a:off x="812800" y="2844800"/>
            <a:ext cx="10566400" cy="762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楕円 16">
            <a:extLst>
              <a:ext uri="{FF2B5EF4-FFF2-40B4-BE49-F238E27FC236}">
                <a16:creationId xmlns:a16="http://schemas.microsoft.com/office/drawing/2014/main" id="{CDBD6BE8-1EAB-495A-6990-4C9DE3701FCF}"/>
              </a:ext>
            </a:extLst>
          </p:cNvPr>
          <p:cNvSpPr/>
          <p:nvPr/>
        </p:nvSpPr>
        <p:spPr>
          <a:xfrm>
            <a:off x="1066800" y="3048000"/>
            <a:ext cx="381000" cy="381000"/>
          </a:xfrm>
          <a:prstGeom prst="ellipse">
            <a:avLst/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7075823-1194-95DD-11D8-BC899988AB0D}"/>
              </a:ext>
            </a:extLst>
          </p:cNvPr>
          <p:cNvSpPr txBox="1"/>
          <p:nvPr/>
        </p:nvSpPr>
        <p:spPr>
          <a:xfrm>
            <a:off x="1066800" y="30480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</a:t>
            </a:r>
            <a:endParaRPr kumimoji="1" lang="ja-JP" altLang="en-US" sz="140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648B965-38F2-2791-3EEB-3B88994CAAFB}"/>
              </a:ext>
            </a:extLst>
          </p:cNvPr>
          <p:cNvSpPr txBox="1"/>
          <p:nvPr/>
        </p:nvSpPr>
        <p:spPr>
          <a:xfrm>
            <a:off x="1625600" y="2997200"/>
            <a:ext cx="508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ファイルをフォルダ直下にコピーする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F329FCF-6413-5F7D-08F1-DE8F1FA0616D}"/>
              </a:ext>
            </a:extLst>
          </p:cNvPr>
          <p:cNvSpPr txBox="1"/>
          <p:nvPr/>
        </p:nvSpPr>
        <p:spPr>
          <a:xfrm>
            <a:off x="1625600" y="3276600"/>
            <a:ext cx="9347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対応形式は </a:t>
            </a:r>
            <a:r>
              <a:rPr kumimoji="1" lang="en-US" altLang="ja-JP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JPG / JPEG</a:t>
            </a: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</a:t>
            </a: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MP4</a:t>
            </a:r>
            <a:endParaRPr kumimoji="1" lang="ja-JP" altLang="en-US" sz="12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598E28A7-867E-252E-47A1-3AAB5266FC69}"/>
              </a:ext>
            </a:extLst>
          </p:cNvPr>
          <p:cNvSpPr/>
          <p:nvPr/>
        </p:nvSpPr>
        <p:spPr>
          <a:xfrm>
            <a:off x="812800" y="3759200"/>
            <a:ext cx="10566400" cy="762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楕円 21">
            <a:extLst>
              <a:ext uri="{FF2B5EF4-FFF2-40B4-BE49-F238E27FC236}">
                <a16:creationId xmlns:a16="http://schemas.microsoft.com/office/drawing/2014/main" id="{6B8A78A4-87BF-116D-5877-C0CB14142C2B}"/>
              </a:ext>
            </a:extLst>
          </p:cNvPr>
          <p:cNvSpPr/>
          <p:nvPr/>
        </p:nvSpPr>
        <p:spPr>
          <a:xfrm>
            <a:off x="1066800" y="3962400"/>
            <a:ext cx="381000" cy="381000"/>
          </a:xfrm>
          <a:prstGeom prst="ellipse">
            <a:avLst/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28899BC5-47C6-A92A-FFF7-5386F7D75751}"/>
              </a:ext>
            </a:extLst>
          </p:cNvPr>
          <p:cNvSpPr txBox="1"/>
          <p:nvPr/>
        </p:nvSpPr>
        <p:spPr>
          <a:xfrm>
            <a:off x="1066800" y="39624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</a:t>
            </a:r>
            <a:endParaRPr kumimoji="1" lang="ja-JP" altLang="en-US" sz="140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1769E0A3-F7C9-2704-507E-7189A5237F1A}"/>
              </a:ext>
            </a:extLst>
          </p:cNvPr>
          <p:cNvSpPr txBox="1"/>
          <p:nvPr/>
        </p:nvSpPr>
        <p:spPr>
          <a:xfrm>
            <a:off x="1625600" y="3911600"/>
            <a:ext cx="508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自動で表示に反映される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8804E984-A4C4-6C07-BBF5-A2808C2F1BA5}"/>
              </a:ext>
            </a:extLst>
          </p:cNvPr>
          <p:cNvSpPr txBox="1"/>
          <p:nvPr/>
        </p:nvSpPr>
        <p:spPr>
          <a:xfrm>
            <a:off x="1625600" y="4191000"/>
            <a:ext cx="9347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現在のスライドが終わったタイミングで切り替わります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F2941431-4F62-7C0D-4760-3A4A4FCE0C32}"/>
              </a:ext>
            </a:extLst>
          </p:cNvPr>
          <p:cNvSpPr/>
          <p:nvPr/>
        </p:nvSpPr>
        <p:spPr>
          <a:xfrm>
            <a:off x="812800" y="4724400"/>
            <a:ext cx="10566400" cy="635000"/>
          </a:xfrm>
          <a:prstGeom prst="roundRect">
            <a:avLst>
              <a:gd name="adj" fmla="val 12000"/>
            </a:avLst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AF558F2D-400F-416D-0A2F-06BEC5AFEF2E}"/>
              </a:ext>
            </a:extLst>
          </p:cNvPr>
          <p:cNvSpPr/>
          <p:nvPr/>
        </p:nvSpPr>
        <p:spPr>
          <a:xfrm>
            <a:off x="812800" y="4724400"/>
            <a:ext cx="50800" cy="6350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1EE2C398-9F7A-7255-DAA2-54AC75BBB9CE}"/>
              </a:ext>
            </a:extLst>
          </p:cNvPr>
          <p:cNvSpPr txBox="1"/>
          <p:nvPr/>
        </p:nvSpPr>
        <p:spPr>
          <a:xfrm>
            <a:off x="1092200" y="4724400"/>
            <a:ext cx="564896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注意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3853DA7C-C1A5-F617-D925-9A079E14255A}"/>
              </a:ext>
            </a:extLst>
          </p:cNvPr>
          <p:cNvSpPr txBox="1"/>
          <p:nvPr/>
        </p:nvSpPr>
        <p:spPr>
          <a:xfrm>
            <a:off x="1657096" y="4724400"/>
            <a:ext cx="9442704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サブフォルダの中のファイルは表示されません。必ずフォルダ直下に置いてください。</a:t>
            </a: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55F6A349-0DBB-5C40-9E47-A3216B86962C}"/>
              </a:ext>
            </a:extLst>
          </p:cNvPr>
          <p:cNvSpPr/>
          <p:nvPr/>
        </p:nvSpPr>
        <p:spPr>
          <a:xfrm>
            <a:off x="812800" y="5461000"/>
            <a:ext cx="10566400" cy="63500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61CEA9A3-6817-62AE-2CB9-38C770459F56}"/>
              </a:ext>
            </a:extLst>
          </p:cNvPr>
          <p:cNvSpPr/>
          <p:nvPr/>
        </p:nvSpPr>
        <p:spPr>
          <a:xfrm>
            <a:off x="812800" y="5461000"/>
            <a:ext cx="50800" cy="6350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0E40B98F-D7FE-5EF7-BF5D-CF1E8AD00932}"/>
              </a:ext>
            </a:extLst>
          </p:cNvPr>
          <p:cNvSpPr txBox="1"/>
          <p:nvPr/>
        </p:nvSpPr>
        <p:spPr>
          <a:xfrm>
            <a:off x="1092200" y="5461000"/>
            <a:ext cx="1031240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止めるとき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9BC628B-5E39-C1EC-0AFF-50F09D743736}"/>
              </a:ext>
            </a:extLst>
          </p:cNvPr>
          <p:cNvSpPr txBox="1"/>
          <p:nvPr/>
        </p:nvSpPr>
        <p:spPr>
          <a:xfrm>
            <a:off x="2123440" y="5461000"/>
            <a:ext cx="8976360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監視フォルダから該当のファイルを削除するだけです。反映はやはり現在のスライドが終わったあとです。</a:t>
            </a:r>
          </a:p>
        </p:txBody>
      </p:sp>
    </p:spTree>
    <p:extLst>
      <p:ext uri="{BB962C8B-B14F-4D97-AF65-F5344CB8AC3E}">
        <p14:creationId xmlns:p14="http://schemas.microsoft.com/office/powerpoint/2010/main" val="2990889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370DEC1-92D2-C799-F86E-5F75D5A3F95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4CBDCE7-4CF7-A315-E9EB-B8D053C3F30D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699A3B6-81DF-0C9A-E620-06348FF76211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4ACB8C5-266D-FAB7-88F6-99FF513376ED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使えるファイルの種類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3B1A1D5-4EC6-81D5-D330-BFE2F96DC88E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70802874-9379-84A8-3CCD-C37687CE5EEF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330E87E-2E52-8199-3CEA-F8F132726410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4B6D004-17D6-285B-4286-E797518020D4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63E746C-4FBF-6555-7CA7-21E3ED7D6183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5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65FF71A-03B8-FF31-194F-FA1B4758C7C3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次の 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種類だけが表示対象です。それ以外の形式は無視されます。</a:t>
            </a:r>
          </a:p>
        </p:txBody>
      </p:sp>
      <p:graphicFrame>
        <p:nvGraphicFramePr>
          <p:cNvPr id="12" name="表 11">
            <a:extLst>
              <a:ext uri="{FF2B5EF4-FFF2-40B4-BE49-F238E27FC236}">
                <a16:creationId xmlns:a16="http://schemas.microsoft.com/office/drawing/2014/main" id="{2973EEE2-4CE5-12EB-5001-1771C03ACE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4222704"/>
              </p:ext>
            </p:extLst>
          </p:nvPr>
        </p:nvGraphicFramePr>
        <p:xfrm>
          <a:off x="812800" y="2438400"/>
          <a:ext cx="10566400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716195101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3084786699"/>
                    </a:ext>
                  </a:extLst>
                </a:gridCol>
                <a:gridCol w="6248400">
                  <a:extLst>
                    <a:ext uri="{9D8B030D-6E8A-4147-A177-3AD203B41FA5}">
                      <a16:colId xmlns:a16="http://schemas.microsoft.com/office/drawing/2014/main" val="401354661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種類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拡張子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表示のしかた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85785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画像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.jpg / .jpeg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 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ファイル </a:t>
                      </a: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= 1 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枚のスライド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741837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PDF</a:t>
                      </a:r>
                      <a:endParaRPr kumimoji="1" lang="ja-JP" altLang="en-US" sz="1250" b="1">
                        <a:solidFill>
                          <a:srgbClr val="1B2430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.pdf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 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ページ </a:t>
                      </a: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= 1 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枚のスライド（ページ順に表示）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870483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動画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.mp4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最後まで再生してから次のスライドへ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834211"/>
                  </a:ext>
                </a:extLst>
              </a:tr>
            </a:tbl>
          </a:graphicData>
        </a:graphic>
      </p:graphicFrame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1C2A2AF3-92C1-A030-52C1-366D124BCA3E}"/>
              </a:ext>
            </a:extLst>
          </p:cNvPr>
          <p:cNvSpPr/>
          <p:nvPr/>
        </p:nvSpPr>
        <p:spPr>
          <a:xfrm>
            <a:off x="812800" y="5207000"/>
            <a:ext cx="10566400" cy="660400"/>
          </a:xfrm>
          <a:prstGeom prst="roundRect">
            <a:avLst>
              <a:gd name="adj" fmla="val 12000"/>
            </a:avLst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33989EE-D7BA-330D-1D7F-D87710E4E8AF}"/>
              </a:ext>
            </a:extLst>
          </p:cNvPr>
          <p:cNvSpPr/>
          <p:nvPr/>
        </p:nvSpPr>
        <p:spPr>
          <a:xfrm>
            <a:off x="812800" y="5207000"/>
            <a:ext cx="50800" cy="6604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F327AA4D-AC5B-C54A-0B49-4B4B12910BB0}"/>
              </a:ext>
            </a:extLst>
          </p:cNvPr>
          <p:cNvSpPr txBox="1"/>
          <p:nvPr/>
        </p:nvSpPr>
        <p:spPr>
          <a:xfrm>
            <a:off x="1092200" y="5207000"/>
            <a:ext cx="1186688" cy="660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使えない形式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354FDCA-559C-7E8E-7D96-FF339E4D56E4}"/>
              </a:ext>
            </a:extLst>
          </p:cNvPr>
          <p:cNvSpPr txBox="1"/>
          <p:nvPr/>
        </p:nvSpPr>
        <p:spPr>
          <a:xfrm>
            <a:off x="2278888" y="5207000"/>
            <a:ext cx="8820912" cy="660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PNG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GIF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MOV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などは表示できません。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JPEG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MP4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に変換してから置いてください。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37551982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B48C4FB-4352-6CC4-E74F-DA493610BEE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0670D60-051C-2A45-88AD-AE0376DF1143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696D1F3-42AC-294B-2C0F-026F9FA9A1BD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4757857-FBB8-3496-E871-D15496EB05CA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表示順はファイル名の昇順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B14545-B72D-E82E-079A-A2A9B5883DCF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B887EAD3-45F7-4E8E-1D7D-DA11CCC0C082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9558230-EF3C-A114-6E14-9A734D82B563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4325126-7872-D947-1C90-7807DA958897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B521072-F196-DC33-F57A-36FA6D5E33F6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6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FFC6615-DC8F-1E27-EE8A-909AE29D47CB}"/>
              </a:ext>
            </a:extLst>
          </p:cNvPr>
          <p:cNvSpPr txBox="1"/>
          <p:nvPr/>
        </p:nvSpPr>
        <p:spPr>
          <a:xfrm>
            <a:off x="812800" y="1905000"/>
            <a:ext cx="105664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ファイル名の昇順で表示します。数字の部分は数値として比べるので、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001 → 002 → 010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の順になります。</a:t>
            </a:r>
          </a:p>
        </p:txBody>
      </p:sp>
      <p:graphicFrame>
        <p:nvGraphicFramePr>
          <p:cNvPr id="12" name="表 11">
            <a:extLst>
              <a:ext uri="{FF2B5EF4-FFF2-40B4-BE49-F238E27FC236}">
                <a16:creationId xmlns:a16="http://schemas.microsoft.com/office/drawing/2014/main" id="{53514DC3-DDD6-D065-8149-43ECDB8C41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6074928"/>
              </p:ext>
            </p:extLst>
          </p:nvPr>
        </p:nvGraphicFramePr>
        <p:xfrm>
          <a:off x="812800" y="2438400"/>
          <a:ext cx="10566400" cy="19304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461000">
                  <a:extLst>
                    <a:ext uri="{9D8B030D-6E8A-4147-A177-3AD203B41FA5}">
                      <a16:colId xmlns:a16="http://schemas.microsoft.com/office/drawing/2014/main" val="3426365607"/>
                    </a:ext>
                  </a:extLst>
                </a:gridCol>
                <a:gridCol w="5105400">
                  <a:extLst>
                    <a:ext uri="{9D8B030D-6E8A-4147-A177-3AD203B41FA5}">
                      <a16:colId xmlns:a16="http://schemas.microsoft.com/office/drawing/2014/main" val="417603142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ファイル名の例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実際の表示順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2373519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001.jpg → 002.jpg → 010.jpg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001 → 002 → 010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（昇順）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3435417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1.jpg → 2.jpg → 10.jpg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 → 2 → 10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（数値の昇順）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634516"/>
                  </a:ext>
                </a:extLst>
              </a:tr>
            </a:tbl>
          </a:graphicData>
        </a:graphic>
      </p:graphicFrame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5168D830-3D86-C59A-C1BA-AAE2B29D9274}"/>
              </a:ext>
            </a:extLst>
          </p:cNvPr>
          <p:cNvSpPr/>
          <p:nvPr/>
        </p:nvSpPr>
        <p:spPr>
          <a:xfrm>
            <a:off x="812800" y="4775200"/>
            <a:ext cx="10566400" cy="76200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3BD8890-6945-2D83-E9D5-4F1E3FE2DDD2}"/>
              </a:ext>
            </a:extLst>
          </p:cNvPr>
          <p:cNvSpPr/>
          <p:nvPr/>
        </p:nvSpPr>
        <p:spPr>
          <a:xfrm>
            <a:off x="812800" y="4775200"/>
            <a:ext cx="50800" cy="7620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A254970-660B-20FE-D9DB-D3D2891E79BD}"/>
              </a:ext>
            </a:extLst>
          </p:cNvPr>
          <p:cNvSpPr txBox="1"/>
          <p:nvPr/>
        </p:nvSpPr>
        <p:spPr>
          <a:xfrm>
            <a:off x="1092200" y="4775200"/>
            <a:ext cx="875792" cy="762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おすすめ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9C58E6C8-2484-86CF-8798-F1BFCDCF6C3A}"/>
              </a:ext>
            </a:extLst>
          </p:cNvPr>
          <p:cNvSpPr txBox="1"/>
          <p:nvPr/>
        </p:nvSpPr>
        <p:spPr>
          <a:xfrm>
            <a:off x="1967992" y="4775200"/>
            <a:ext cx="9131808" cy="762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先頭を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001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002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003 …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のように桁を揃えておくと、意図どおりの昇順になり、並び替えも差し替えも管理しやすくなります。</a:t>
            </a:r>
          </a:p>
        </p:txBody>
      </p:sp>
    </p:spTree>
    <p:extLst>
      <p:ext uri="{BB962C8B-B14F-4D97-AF65-F5344CB8AC3E}">
        <p14:creationId xmlns:p14="http://schemas.microsoft.com/office/powerpoint/2010/main" val="35202648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7008096-58C5-367A-2F47-EF5375D39BD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3E00B2D-9767-0385-FFEE-7A28A8B50435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A5F528D-644A-97EC-5C42-4248AA146FF3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644A53D-5679-9712-B15B-02D653ABA119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表示時間はファイル名で変えられる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CE1AA38-6727-970C-078D-58BA75495F09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2753497F-19BC-C4BD-4784-A3CD6BECAF57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D2F56F5-5FF6-AD98-F9DE-F9C88CA77D49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BA5B141-99F2-28A7-D5B3-18258ABB4EE1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D15698B-670A-0429-53D9-8206EECEF95E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7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D79B77A-3DE2-3820-5636-BD44444F6FEB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画像と 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は、ファイル名の末尾（拡張子の直前）に「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秒数」を付けると、そのファイルだけ表示時間を変えられます（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5〜300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秒）。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594BC4D5-1C09-F40E-75A6-BE9C461BB349}"/>
              </a:ext>
            </a:extLst>
          </p:cNvPr>
          <p:cNvSpPr/>
          <p:nvPr/>
        </p:nvSpPr>
        <p:spPr>
          <a:xfrm>
            <a:off x="812800" y="2362200"/>
            <a:ext cx="10566400" cy="1066800"/>
          </a:xfrm>
          <a:prstGeom prst="roundRect">
            <a:avLst>
              <a:gd name="adj" fmla="val 12000"/>
            </a:avLst>
          </a:prstGeom>
          <a:solidFill>
            <a:srgbClr val="102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5091D533-766F-BCB5-83E8-6FA359C880A8}"/>
              </a:ext>
            </a:extLst>
          </p:cNvPr>
          <p:cNvSpPr txBox="1"/>
          <p:nvPr/>
        </p:nvSpPr>
        <p:spPr>
          <a:xfrm>
            <a:off x="1244600" y="2540000"/>
            <a:ext cx="508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600" b="1">
                <a:solidFill>
                  <a:srgbClr val="FFFFFF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2600" b="1">
                <a:solidFill>
                  <a:srgbClr val="FFFFFF"/>
                </a:solidFill>
                <a:latin typeface="Consolas" panose="020B0609020204030204" pitchFamily="49" charset="0"/>
              </a:rPr>
              <a:t>_120.pdf</a:t>
            </a:r>
            <a:endParaRPr kumimoji="1" lang="ja-JP" altLang="en-US" sz="2600" b="1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B3BD0194-519B-8EC0-3C8D-6A2B56EA1332}"/>
              </a:ext>
            </a:extLst>
          </p:cNvPr>
          <p:cNvSpPr txBox="1"/>
          <p:nvPr/>
        </p:nvSpPr>
        <p:spPr>
          <a:xfrm>
            <a:off x="1244600" y="2997200"/>
            <a:ext cx="9702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「</a:t>
            </a:r>
            <a:r>
              <a:rPr kumimoji="1" lang="en-US" altLang="ja-JP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_120</a:t>
            </a: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」の部分が表示秒数。付けなければ管理者が決めた標準の秒数になります。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2F6C2E9A-EDFC-126A-C4EA-D88915DD5F55}"/>
              </a:ext>
            </a:extLst>
          </p:cNvPr>
          <p:cNvSpPr/>
          <p:nvPr/>
        </p:nvSpPr>
        <p:spPr>
          <a:xfrm>
            <a:off x="8128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9A66CAA1-93FC-E26B-905E-4C7B2AD3A0E5}"/>
              </a:ext>
            </a:extLst>
          </p:cNvPr>
          <p:cNvSpPr txBox="1"/>
          <p:nvPr/>
        </p:nvSpPr>
        <p:spPr>
          <a:xfrm>
            <a:off x="1066800" y="3937000"/>
            <a:ext cx="2844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00" b="1">
                <a:solidFill>
                  <a:srgbClr val="1B2430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1400" b="1">
                <a:solidFill>
                  <a:srgbClr val="1B2430"/>
                </a:solidFill>
                <a:latin typeface="Consolas" panose="020B0609020204030204" pitchFamily="49" charset="0"/>
              </a:rPr>
              <a:t>.pdf</a:t>
            </a:r>
            <a:endParaRPr kumimoji="1" lang="ja-JP" altLang="en-US" sz="14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E295C72-0815-3DFC-3061-527B93619522}"/>
              </a:ext>
            </a:extLst>
          </p:cNvPr>
          <p:cNvSpPr txBox="1"/>
          <p:nvPr/>
        </p:nvSpPr>
        <p:spPr>
          <a:xfrm>
            <a:off x="1066800" y="4267200"/>
            <a:ext cx="28448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標準の秒数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71BFC90-06F6-DC67-9910-0DBD3047BA17}"/>
              </a:ext>
            </a:extLst>
          </p:cNvPr>
          <p:cNvSpPr txBox="1"/>
          <p:nvPr/>
        </p:nvSpPr>
        <p:spPr>
          <a:xfrm>
            <a:off x="1066800" y="4648200"/>
            <a:ext cx="28448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管理画面の設定値（初期値 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15 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秒）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695A694B-2D07-2678-AE09-0E2586FD5E59}"/>
              </a:ext>
            </a:extLst>
          </p:cNvPr>
          <p:cNvSpPr/>
          <p:nvPr/>
        </p:nvSpPr>
        <p:spPr>
          <a:xfrm>
            <a:off x="44196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090581CE-C256-53B9-CBB4-897F100B5117}"/>
              </a:ext>
            </a:extLst>
          </p:cNvPr>
          <p:cNvSpPr txBox="1"/>
          <p:nvPr/>
        </p:nvSpPr>
        <p:spPr>
          <a:xfrm>
            <a:off x="4673600" y="3937000"/>
            <a:ext cx="2844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00" b="1">
                <a:solidFill>
                  <a:srgbClr val="1B2430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1400" b="1">
                <a:solidFill>
                  <a:srgbClr val="1B2430"/>
                </a:solidFill>
                <a:latin typeface="Consolas" panose="020B0609020204030204" pitchFamily="49" charset="0"/>
              </a:rPr>
              <a:t>_120.pdf</a:t>
            </a:r>
            <a:endParaRPr kumimoji="1" lang="ja-JP" altLang="en-US" sz="14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5A5B9829-202A-9F0A-AF0E-EB1192DAF006}"/>
              </a:ext>
            </a:extLst>
          </p:cNvPr>
          <p:cNvSpPr txBox="1"/>
          <p:nvPr/>
        </p:nvSpPr>
        <p:spPr>
          <a:xfrm>
            <a:off x="4673600" y="4267200"/>
            <a:ext cx="28448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120 </a:t>
            </a:r>
            <a:r>
              <a:rPr kumimoji="1" lang="ja-JP" altLang="en-US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90BD991-2C3A-BA2D-50B4-1160B4E3D743}"/>
              </a:ext>
            </a:extLst>
          </p:cNvPr>
          <p:cNvSpPr txBox="1"/>
          <p:nvPr/>
        </p:nvSpPr>
        <p:spPr>
          <a:xfrm>
            <a:off x="4673600" y="4648200"/>
            <a:ext cx="28448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 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分間しっかり読ませたい掲示に</a:t>
            </a: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9FE6ABD8-1746-38A4-3C1E-60F095150B1D}"/>
              </a:ext>
            </a:extLst>
          </p:cNvPr>
          <p:cNvSpPr/>
          <p:nvPr/>
        </p:nvSpPr>
        <p:spPr>
          <a:xfrm>
            <a:off x="80264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3A0A3E87-A24C-ACB1-11CF-6783A931FEB8}"/>
              </a:ext>
            </a:extLst>
          </p:cNvPr>
          <p:cNvSpPr txBox="1"/>
          <p:nvPr/>
        </p:nvSpPr>
        <p:spPr>
          <a:xfrm>
            <a:off x="8280400" y="3937000"/>
            <a:ext cx="2844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00" b="1">
                <a:solidFill>
                  <a:srgbClr val="1B2430"/>
                </a:solidFill>
                <a:latin typeface="Consolas" panose="020B0609020204030204" pitchFamily="49" charset="0"/>
              </a:rPr>
              <a:t>写真</a:t>
            </a:r>
            <a:r>
              <a:rPr kumimoji="1" lang="en-US" altLang="ja-JP" sz="1400" b="1">
                <a:solidFill>
                  <a:srgbClr val="1B2430"/>
                </a:solidFill>
                <a:latin typeface="Consolas" panose="020B0609020204030204" pitchFamily="49" charset="0"/>
              </a:rPr>
              <a:t>_30.jpg</a:t>
            </a:r>
            <a:endParaRPr kumimoji="1" lang="ja-JP" altLang="en-US" sz="14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D67144AA-526D-2F36-2CF4-65710D1F85B4}"/>
              </a:ext>
            </a:extLst>
          </p:cNvPr>
          <p:cNvSpPr txBox="1"/>
          <p:nvPr/>
        </p:nvSpPr>
        <p:spPr>
          <a:xfrm>
            <a:off x="8280400" y="4267200"/>
            <a:ext cx="28448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30 </a:t>
            </a:r>
            <a:r>
              <a:rPr kumimoji="1" lang="ja-JP" altLang="en-US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69FF9C1D-08F6-BC8F-FC00-85E3AFFA697B}"/>
              </a:ext>
            </a:extLst>
          </p:cNvPr>
          <p:cNvSpPr txBox="1"/>
          <p:nvPr/>
        </p:nvSpPr>
        <p:spPr>
          <a:xfrm>
            <a:off x="8280400" y="4648200"/>
            <a:ext cx="28448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短めに流したい写真に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BC5C625A-3561-1834-B3DE-FA3715C7641C}"/>
              </a:ext>
            </a:extLst>
          </p:cNvPr>
          <p:cNvSpPr/>
          <p:nvPr/>
        </p:nvSpPr>
        <p:spPr>
          <a:xfrm>
            <a:off x="812800" y="5334000"/>
            <a:ext cx="10566400" cy="609600"/>
          </a:xfrm>
          <a:prstGeom prst="roundRect">
            <a:avLst>
              <a:gd name="adj" fmla="val 12000"/>
            </a:avLst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100AB4DB-E2A9-44E1-109C-D9FAE0025F01}"/>
              </a:ext>
            </a:extLst>
          </p:cNvPr>
          <p:cNvSpPr/>
          <p:nvPr/>
        </p:nvSpPr>
        <p:spPr>
          <a:xfrm>
            <a:off x="812800" y="5334000"/>
            <a:ext cx="50800" cy="6096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199E8A0-8FA7-A104-F78F-0A4491F28F4A}"/>
              </a:ext>
            </a:extLst>
          </p:cNvPr>
          <p:cNvSpPr txBox="1"/>
          <p:nvPr/>
        </p:nvSpPr>
        <p:spPr>
          <a:xfrm>
            <a:off x="1092200" y="5334000"/>
            <a:ext cx="103124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動画は例外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788B682-C214-EA59-D919-E31C4A48AC4C}"/>
              </a:ext>
            </a:extLst>
          </p:cNvPr>
          <p:cNvSpPr txBox="1"/>
          <p:nvPr/>
        </p:nvSpPr>
        <p:spPr>
          <a:xfrm>
            <a:off x="2123440" y="5334000"/>
            <a:ext cx="897636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.mp4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は再生が終わるまで表示します。秒数指定は効きません。</a:t>
            </a:r>
          </a:p>
        </p:txBody>
      </p:sp>
    </p:spTree>
    <p:extLst>
      <p:ext uri="{BB962C8B-B14F-4D97-AF65-F5344CB8AC3E}">
        <p14:creationId xmlns:p14="http://schemas.microsoft.com/office/powerpoint/2010/main" val="35990675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0A0247C-E754-2813-F184-62650BA21F1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0C09430-595C-752F-7727-937743B5D4F1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2F58C18-F420-1B38-2C97-DD378DF24E7A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D7F2101-C4F4-840A-AC05-65B9498762E5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再生期限もファイル名で付けられる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7C69FBF-9960-E9D7-38B2-581CCDB7E419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A8121352-BECF-E5F3-C7D9-907F20012191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B57DD35-F0E3-52EB-46BE-6D364E3188E4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F2A4921-CC4F-BECE-87DB-591E3CAECB3C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AEAD3E4-B9FA-7E75-9283-6F38E5170CC9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8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CBDA12F-EBB1-9FC7-D0D6-838A6F936B43}"/>
              </a:ext>
            </a:extLst>
          </p:cNvPr>
          <p:cNvSpPr txBox="1"/>
          <p:nvPr/>
        </p:nvSpPr>
        <p:spPr>
          <a:xfrm>
            <a:off x="812800" y="1905000"/>
            <a:ext cx="105664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末尾に「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年月日」（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8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桁）を付けると、その日まで再生し、翌日から表示しなくなります。秒数との順番は問いません。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8BB9123-49D4-C970-AD0B-1D73316431B8}"/>
              </a:ext>
            </a:extLst>
          </p:cNvPr>
          <p:cNvSpPr/>
          <p:nvPr/>
        </p:nvSpPr>
        <p:spPr>
          <a:xfrm>
            <a:off x="812800" y="2362200"/>
            <a:ext cx="10566400" cy="1066800"/>
          </a:xfrm>
          <a:prstGeom prst="roundRect">
            <a:avLst>
              <a:gd name="adj" fmla="val 12000"/>
            </a:avLst>
          </a:prstGeom>
          <a:solidFill>
            <a:srgbClr val="102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618F3DB-AFEB-8572-3F8F-8FF7F282F768}"/>
              </a:ext>
            </a:extLst>
          </p:cNvPr>
          <p:cNvSpPr txBox="1"/>
          <p:nvPr/>
        </p:nvSpPr>
        <p:spPr>
          <a:xfrm>
            <a:off x="1244600" y="2540000"/>
            <a:ext cx="635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400" b="1">
                <a:solidFill>
                  <a:srgbClr val="FFFFFF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2400" b="1">
                <a:solidFill>
                  <a:srgbClr val="FFFFFF"/>
                </a:solidFill>
                <a:latin typeface="Consolas" panose="020B0609020204030204" pitchFamily="49" charset="0"/>
              </a:rPr>
              <a:t>_20_20260904.pdf</a:t>
            </a:r>
            <a:endParaRPr kumimoji="1" lang="ja-JP" altLang="en-US" sz="2400" b="1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DE14EC2-B465-F100-3866-D936F1632C10}"/>
              </a:ext>
            </a:extLst>
          </p:cNvPr>
          <p:cNvSpPr txBox="1"/>
          <p:nvPr/>
        </p:nvSpPr>
        <p:spPr>
          <a:xfrm>
            <a:off x="1244600" y="2997200"/>
            <a:ext cx="9702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「</a:t>
            </a:r>
            <a:r>
              <a:rPr kumimoji="1" lang="en-US" altLang="ja-JP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_20</a:t>
            </a: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」が表示秒数、「</a:t>
            </a:r>
            <a:r>
              <a:rPr kumimoji="1" lang="en-US" altLang="ja-JP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_20260904</a:t>
            </a: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」が期限。案内</a:t>
            </a:r>
            <a:r>
              <a:rPr kumimoji="1" lang="en-US" altLang="ja-JP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_20260904_20.pdf </a:t>
            </a: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でも同じです。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6E991B12-2887-4879-2D5B-2C62BE9604C6}"/>
              </a:ext>
            </a:extLst>
          </p:cNvPr>
          <p:cNvSpPr/>
          <p:nvPr/>
        </p:nvSpPr>
        <p:spPr>
          <a:xfrm>
            <a:off x="8128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7251605-74D4-FDDF-BE36-5581BA8BD034}"/>
              </a:ext>
            </a:extLst>
          </p:cNvPr>
          <p:cNvSpPr txBox="1"/>
          <p:nvPr/>
        </p:nvSpPr>
        <p:spPr>
          <a:xfrm>
            <a:off x="1016000" y="3911600"/>
            <a:ext cx="294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1B2430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1200" b="1">
                <a:solidFill>
                  <a:srgbClr val="1B2430"/>
                </a:solidFill>
                <a:latin typeface="Consolas" panose="020B0609020204030204" pitchFamily="49" charset="0"/>
              </a:rPr>
              <a:t>_20260904.pdf</a:t>
            </a:r>
            <a:endParaRPr kumimoji="1" lang="ja-JP" altLang="en-US" sz="12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339CBE54-247E-6643-34EF-290D4FF3321D}"/>
              </a:ext>
            </a:extLst>
          </p:cNvPr>
          <p:cNvSpPr txBox="1"/>
          <p:nvPr/>
        </p:nvSpPr>
        <p:spPr>
          <a:xfrm>
            <a:off x="1016000" y="4241800"/>
            <a:ext cx="294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期限のみ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820C34C-7D10-D07C-166D-526428EF3F17}"/>
              </a:ext>
            </a:extLst>
          </p:cNvPr>
          <p:cNvSpPr txBox="1"/>
          <p:nvPr/>
        </p:nvSpPr>
        <p:spPr>
          <a:xfrm>
            <a:off x="1016000" y="4597400"/>
            <a:ext cx="29464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標準の秒数で 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9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月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4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日まで再生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423298ED-87C0-8484-9C93-09C41E32307E}"/>
              </a:ext>
            </a:extLst>
          </p:cNvPr>
          <p:cNvSpPr/>
          <p:nvPr/>
        </p:nvSpPr>
        <p:spPr>
          <a:xfrm>
            <a:off x="44196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A1DDB2C-BAC6-A4E7-7AAB-78DA53081C2A}"/>
              </a:ext>
            </a:extLst>
          </p:cNvPr>
          <p:cNvSpPr txBox="1"/>
          <p:nvPr/>
        </p:nvSpPr>
        <p:spPr>
          <a:xfrm>
            <a:off x="4622800" y="3911600"/>
            <a:ext cx="294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1B2430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1200" b="1">
                <a:solidFill>
                  <a:srgbClr val="1B2430"/>
                </a:solidFill>
                <a:latin typeface="Consolas" panose="020B0609020204030204" pitchFamily="49" charset="0"/>
              </a:rPr>
              <a:t>_20_20260212.pdf</a:t>
            </a:r>
            <a:endParaRPr kumimoji="1" lang="ja-JP" altLang="en-US" sz="12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0A52EF7-D4F2-302D-0582-349633B3D24B}"/>
              </a:ext>
            </a:extLst>
          </p:cNvPr>
          <p:cNvSpPr txBox="1"/>
          <p:nvPr/>
        </p:nvSpPr>
        <p:spPr>
          <a:xfrm>
            <a:off x="4622800" y="4241800"/>
            <a:ext cx="294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秒数 → 期限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7411EE3C-0D97-181B-E1B6-E1AF63ABD0E9}"/>
              </a:ext>
            </a:extLst>
          </p:cNvPr>
          <p:cNvSpPr txBox="1"/>
          <p:nvPr/>
        </p:nvSpPr>
        <p:spPr>
          <a:xfrm>
            <a:off x="4622800" y="4597400"/>
            <a:ext cx="29464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20 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秒表示、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月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12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日まで</a:t>
            </a: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FC77457A-A888-24C2-C763-4B0CA4CEC1B9}"/>
              </a:ext>
            </a:extLst>
          </p:cNvPr>
          <p:cNvSpPr/>
          <p:nvPr/>
        </p:nvSpPr>
        <p:spPr>
          <a:xfrm>
            <a:off x="80264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B5F50FE0-3814-D519-62CE-5F0007402466}"/>
              </a:ext>
            </a:extLst>
          </p:cNvPr>
          <p:cNvSpPr txBox="1"/>
          <p:nvPr/>
        </p:nvSpPr>
        <p:spPr>
          <a:xfrm>
            <a:off x="8229600" y="3911600"/>
            <a:ext cx="294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1B2430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1200" b="1">
                <a:solidFill>
                  <a:srgbClr val="1B2430"/>
                </a:solidFill>
                <a:latin typeface="Consolas" panose="020B0609020204030204" pitchFamily="49" charset="0"/>
              </a:rPr>
              <a:t>_20260102_30.pdf</a:t>
            </a:r>
            <a:endParaRPr kumimoji="1" lang="ja-JP" altLang="en-US" sz="12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8745084E-1157-E7D7-66C3-EDABA1B7DCA9}"/>
              </a:ext>
            </a:extLst>
          </p:cNvPr>
          <p:cNvSpPr txBox="1"/>
          <p:nvPr/>
        </p:nvSpPr>
        <p:spPr>
          <a:xfrm>
            <a:off x="8229600" y="4241800"/>
            <a:ext cx="294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期限 → 秒数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C270FB9-71A2-2961-28BC-6071B7B8EFAA}"/>
              </a:ext>
            </a:extLst>
          </p:cNvPr>
          <p:cNvSpPr txBox="1"/>
          <p:nvPr/>
        </p:nvSpPr>
        <p:spPr>
          <a:xfrm>
            <a:off x="8229600" y="4597400"/>
            <a:ext cx="29464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30 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秒表示、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月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日まで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B524BF47-593A-0269-EF91-61CB24380E49}"/>
              </a:ext>
            </a:extLst>
          </p:cNvPr>
          <p:cNvSpPr/>
          <p:nvPr/>
        </p:nvSpPr>
        <p:spPr>
          <a:xfrm>
            <a:off x="812800" y="5334000"/>
            <a:ext cx="10566400" cy="609600"/>
          </a:xfrm>
          <a:prstGeom prst="roundRect">
            <a:avLst>
              <a:gd name="adj" fmla="val 12000"/>
            </a:avLst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83111E45-09CD-FF77-FA37-E060F1E30059}"/>
              </a:ext>
            </a:extLst>
          </p:cNvPr>
          <p:cNvSpPr/>
          <p:nvPr/>
        </p:nvSpPr>
        <p:spPr>
          <a:xfrm>
            <a:off x="812800" y="5334000"/>
            <a:ext cx="50800" cy="6096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A843F456-C87C-CC38-012E-A76E1FD3EEBF}"/>
              </a:ext>
            </a:extLst>
          </p:cNvPr>
          <p:cNvSpPr txBox="1"/>
          <p:nvPr/>
        </p:nvSpPr>
        <p:spPr>
          <a:xfrm>
            <a:off x="1092200" y="5334000"/>
            <a:ext cx="103124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誤りと動画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67947F4D-DC62-FAB0-A123-C2E73EDD0257}"/>
              </a:ext>
            </a:extLst>
          </p:cNvPr>
          <p:cNvSpPr txBox="1"/>
          <p:nvPr/>
        </p:nvSpPr>
        <p:spPr>
          <a:xfrm>
            <a:off x="2123440" y="5334000"/>
            <a:ext cx="897636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存在しない日付・桁不足（例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_2026923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）・秒数の重複などは再生を止めません。管理画面を開くたびに「表示期限の指定」ダイアログで、○○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_20261231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などの例と対象ファイル名を知らせます。動画も期限の対象です。</a:t>
            </a:r>
          </a:p>
        </p:txBody>
      </p:sp>
    </p:spTree>
    <p:extLst>
      <p:ext uri="{BB962C8B-B14F-4D97-AF65-F5344CB8AC3E}">
        <p14:creationId xmlns:p14="http://schemas.microsoft.com/office/powerpoint/2010/main" val="2427047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4E19E36-D24F-1008-A803-B228F3332D6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9E7652F-DE93-ED52-8890-C4AA5A662D05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6DE0445-2D47-0857-0201-27E39B83257B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EFF1EE1-BBD9-267B-FF82-62F3BDDF11AB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知っておきたい </a:t>
            </a:r>
            <a:r>
              <a:rPr kumimoji="1" lang="en-US" altLang="ja-JP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 </a:t>
            </a: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つのこと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765B8F5-09EF-3361-C8F6-70FA30420027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59D46091-95FA-9E39-988A-D89F3C17FF44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64DA8BE-8C55-5AD0-60CF-80B6DA9CB3CA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F0099D7-E4F6-7493-D852-D171D308CD16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367F442-E929-4B7F-9271-F60EA0015635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9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908FC0E1-5CDE-51DE-185B-544CC593D664}"/>
              </a:ext>
            </a:extLst>
          </p:cNvPr>
          <p:cNvSpPr/>
          <p:nvPr/>
        </p:nvSpPr>
        <p:spPr>
          <a:xfrm>
            <a:off x="812800" y="2133600"/>
            <a:ext cx="10566400" cy="1219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9091D53-AB05-2E28-31EB-C5D516C5203D}"/>
              </a:ext>
            </a:extLst>
          </p:cNvPr>
          <p:cNvSpPr/>
          <p:nvPr/>
        </p:nvSpPr>
        <p:spPr>
          <a:xfrm>
            <a:off x="812800" y="2133600"/>
            <a:ext cx="50800" cy="1219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5FA7B1F-438B-62F8-5CB9-D375737CE715}"/>
              </a:ext>
            </a:extLst>
          </p:cNvPr>
          <p:cNvSpPr txBox="1"/>
          <p:nvPr/>
        </p:nvSpPr>
        <p:spPr>
          <a:xfrm>
            <a:off x="1168400" y="2413000"/>
            <a:ext cx="9855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コピー中は反映されない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4443691-07AE-FC2A-F6C7-85EE96E7F2E2}"/>
              </a:ext>
            </a:extLst>
          </p:cNvPr>
          <p:cNvSpPr txBox="1"/>
          <p:nvPr/>
        </p:nvSpPr>
        <p:spPr>
          <a:xfrm>
            <a:off x="1168400" y="2768600"/>
            <a:ext cx="9855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ファイルのコピー途中だと読み込みに失敗することがあります。コピーが完了すれば自動で反映されます。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5832E115-78B1-3A11-3CDC-2B667387BB8B}"/>
              </a:ext>
            </a:extLst>
          </p:cNvPr>
          <p:cNvSpPr/>
          <p:nvPr/>
        </p:nvSpPr>
        <p:spPr>
          <a:xfrm>
            <a:off x="812800" y="3530600"/>
            <a:ext cx="10566400" cy="1219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495BCE23-A71E-C26E-999B-F265CF2A2B2D}"/>
              </a:ext>
            </a:extLst>
          </p:cNvPr>
          <p:cNvSpPr/>
          <p:nvPr/>
        </p:nvSpPr>
        <p:spPr>
          <a:xfrm>
            <a:off x="812800" y="3530600"/>
            <a:ext cx="50800" cy="1219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C76F437-3109-414F-E881-89823A554CA5}"/>
              </a:ext>
            </a:extLst>
          </p:cNvPr>
          <p:cNvSpPr txBox="1"/>
          <p:nvPr/>
        </p:nvSpPr>
        <p:spPr>
          <a:xfrm>
            <a:off x="1168400" y="3810000"/>
            <a:ext cx="9855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壊れたファイルはスキップ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20BF1BD-CC34-70F5-77F6-6876CB581ACB}"/>
              </a:ext>
            </a:extLst>
          </p:cNvPr>
          <p:cNvSpPr txBox="1"/>
          <p:nvPr/>
        </p:nvSpPr>
        <p:spPr>
          <a:xfrm>
            <a:off x="1168400" y="4165600"/>
            <a:ext cx="9855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読めないファイルは自動で飛ばし、残りのファイルは続けて表示されます。管理画面を開くと、対象ファイル名を「壊れたファイル」ダイアログで知らせます。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E5082C6-E5C9-58D1-7FC0-6214170F5AA9}"/>
              </a:ext>
            </a:extLst>
          </p:cNvPr>
          <p:cNvSpPr/>
          <p:nvPr/>
        </p:nvSpPr>
        <p:spPr>
          <a:xfrm>
            <a:off x="812800" y="4927600"/>
            <a:ext cx="10566400" cy="1219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E5E5548E-00A2-F90F-F01A-E4F586CCDD14}"/>
              </a:ext>
            </a:extLst>
          </p:cNvPr>
          <p:cNvSpPr/>
          <p:nvPr/>
        </p:nvSpPr>
        <p:spPr>
          <a:xfrm>
            <a:off x="812800" y="4927600"/>
            <a:ext cx="50800" cy="1219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4207B250-DC8E-7111-3C91-2FCB142937BD}"/>
              </a:ext>
            </a:extLst>
          </p:cNvPr>
          <p:cNvSpPr txBox="1"/>
          <p:nvPr/>
        </p:nvSpPr>
        <p:spPr>
          <a:xfrm>
            <a:off x="1168400" y="5207000"/>
            <a:ext cx="9855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設定変更は管理者が行う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C5597070-E7EE-8C5D-86F1-9FD7FFDB099B}"/>
              </a:ext>
            </a:extLst>
          </p:cNvPr>
          <p:cNvSpPr txBox="1"/>
          <p:nvPr/>
        </p:nvSpPr>
        <p:spPr>
          <a:xfrm>
            <a:off x="1168400" y="5562600"/>
            <a:ext cx="9855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フォルダの場所や標準の表示秒数などの変更は、管理者が管理画面で行います。</a:t>
            </a:r>
          </a:p>
        </p:txBody>
      </p:sp>
    </p:spTree>
    <p:extLst>
      <p:ext uri="{BB962C8B-B14F-4D97-AF65-F5344CB8AC3E}">
        <p14:creationId xmlns:p14="http://schemas.microsoft.com/office/powerpoint/2010/main" val="5298645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C3B9BEA-3331-6F63-8CA5-434C8458FD5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515706C-4FF1-7E37-A0FF-2EC81EE6E64D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FD471DC-ECC2-35FF-CAFE-F51FDB0F84B1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ADMINISTRATOR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94E71C0-05BD-C812-6ADD-E38F3C0F3952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アプリの起動と管理画面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9CEEF44-6C07-A4B2-8965-85C2EB00794B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548039BC-D682-D745-5412-E377AD406B30}"/>
              </a:ext>
            </a:extLst>
          </p:cNvPr>
          <p:cNvSpPr/>
          <p:nvPr/>
        </p:nvSpPr>
        <p:spPr>
          <a:xfrm>
            <a:off x="10006203" y="736600"/>
            <a:ext cx="1372997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184DE42-CC32-2C3A-2C8F-2AA37C93661A}"/>
              </a:ext>
            </a:extLst>
          </p:cNvPr>
          <p:cNvSpPr txBox="1"/>
          <p:nvPr/>
        </p:nvSpPr>
        <p:spPr>
          <a:xfrm>
            <a:off x="10006203" y="736600"/>
            <a:ext cx="1372997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C72FBCA-DA3C-4954-F691-EB02A46CAA7D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FDA14E0-46D1-EA62-1DC4-EEE830227A34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10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0E04660A-B70A-D464-C37C-0EED7B813C67}"/>
              </a:ext>
            </a:extLst>
          </p:cNvPr>
          <p:cNvSpPr/>
          <p:nvPr/>
        </p:nvSpPr>
        <p:spPr>
          <a:xfrm>
            <a:off x="812800" y="1905000"/>
            <a:ext cx="5130800" cy="2692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4CD532B8-D486-8086-E82D-C00735B7E3C3}"/>
              </a:ext>
            </a:extLst>
          </p:cNvPr>
          <p:cNvSpPr/>
          <p:nvPr/>
        </p:nvSpPr>
        <p:spPr>
          <a:xfrm>
            <a:off x="1143000" y="2209800"/>
            <a:ext cx="685800" cy="279400"/>
          </a:xfrm>
          <a:prstGeom prst="roundRect">
            <a:avLst>
              <a:gd name="adj" fmla="val 50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C679BE4-3193-DE2A-53C4-987A405D409B}"/>
              </a:ext>
            </a:extLst>
          </p:cNvPr>
          <p:cNvSpPr txBox="1"/>
          <p:nvPr/>
        </p:nvSpPr>
        <p:spPr>
          <a:xfrm>
            <a:off x="1143000" y="2209800"/>
            <a:ext cx="685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START</a:t>
            </a:r>
            <a:endParaRPr kumimoji="1" lang="ja-JP" altLang="en-US" sz="10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06976D8B-6A09-7E42-9F1E-1B02BAFB17B8}"/>
              </a:ext>
            </a:extLst>
          </p:cNvPr>
          <p:cNvSpPr txBox="1"/>
          <p:nvPr/>
        </p:nvSpPr>
        <p:spPr>
          <a:xfrm>
            <a:off x="1143000" y="26416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アプリを起動する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33CB1C4-6F91-18DB-8B37-85E8BF03FD0E}"/>
              </a:ext>
            </a:extLst>
          </p:cNvPr>
          <p:cNvSpPr txBox="1"/>
          <p:nvPr/>
        </p:nvSpPr>
        <p:spPr>
          <a:xfrm>
            <a:off x="1143000" y="3175000"/>
            <a:ext cx="4470400" cy="1143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1. 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配布フォルダの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PdfSignage.exe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をダブルクリック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2. 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全画面でサイネージ表示が始まる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3. 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初回起動時は設定ファイルが自動作成される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14DE2B9A-6640-DC31-C697-96C79BC6EB1E}"/>
              </a:ext>
            </a:extLst>
          </p:cNvPr>
          <p:cNvSpPr/>
          <p:nvPr/>
        </p:nvSpPr>
        <p:spPr>
          <a:xfrm>
            <a:off x="6248400" y="1905000"/>
            <a:ext cx="5130800" cy="2692400"/>
          </a:xfrm>
          <a:prstGeom prst="roundRect">
            <a:avLst>
              <a:gd name="adj" fmla="val 7000"/>
            </a:avLst>
          </a:prstGeom>
          <a:solidFill>
            <a:srgbClr val="102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040D604F-B857-A359-D9F7-66DA44E99737}"/>
              </a:ext>
            </a:extLst>
          </p:cNvPr>
          <p:cNvSpPr/>
          <p:nvPr/>
        </p:nvSpPr>
        <p:spPr>
          <a:xfrm>
            <a:off x="6578600" y="2209800"/>
            <a:ext cx="899160" cy="279400"/>
          </a:xfrm>
          <a:prstGeom prst="roundRect">
            <a:avLst>
              <a:gd name="adj" fmla="val 50000"/>
            </a:avLst>
          </a:prstGeom>
          <a:solidFill>
            <a:srgbClr val="1E3A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3FBC6BE0-8C7D-6349-93D3-F96935F4C83E}"/>
              </a:ext>
            </a:extLst>
          </p:cNvPr>
          <p:cNvSpPr txBox="1"/>
          <p:nvPr/>
        </p:nvSpPr>
        <p:spPr>
          <a:xfrm>
            <a:off x="6578600" y="2209800"/>
            <a:ext cx="89916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BBD1FA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SHORTCUT</a:t>
            </a:r>
            <a:endParaRPr kumimoji="1" lang="ja-JP" altLang="en-US" sz="1000" b="1">
              <a:solidFill>
                <a:srgbClr val="BBD1FA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69DDA2A-75FB-9921-8AC2-27C5C0F93093}"/>
              </a:ext>
            </a:extLst>
          </p:cNvPr>
          <p:cNvSpPr txBox="1"/>
          <p:nvPr/>
        </p:nvSpPr>
        <p:spPr>
          <a:xfrm>
            <a:off x="6578600" y="26416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管理画面を開く </a:t>
            </a:r>
            <a:r>
              <a:rPr kumimoji="1" lang="en-US" altLang="ja-JP" sz="19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/ </a:t>
            </a:r>
            <a:r>
              <a:rPr kumimoji="1" lang="ja-JP" altLang="en-US" sz="19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閉じる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A6F4CB53-7A59-CD58-7EC7-798E7F393C09}"/>
              </a:ext>
            </a:extLst>
          </p:cNvPr>
          <p:cNvSpPr/>
          <p:nvPr/>
        </p:nvSpPr>
        <p:spPr>
          <a:xfrm>
            <a:off x="6578600" y="3175000"/>
            <a:ext cx="858520" cy="558800"/>
          </a:xfrm>
          <a:prstGeom prst="roundRect">
            <a:avLst>
              <a:gd name="adj" fmla="val 18000"/>
            </a:avLst>
          </a:prstGeom>
          <a:solidFill>
            <a:srgbClr val="25406E"/>
          </a:solidFill>
          <a:ln w="9525">
            <a:solidFill>
              <a:srgbClr val="3E5C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5F67175F-8D05-9FBC-1226-582998D58086}"/>
              </a:ext>
            </a:extLst>
          </p:cNvPr>
          <p:cNvSpPr txBox="1"/>
          <p:nvPr/>
        </p:nvSpPr>
        <p:spPr>
          <a:xfrm>
            <a:off x="6578600" y="3175000"/>
            <a:ext cx="85852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</a:t>
            </a:r>
            <a:endParaRPr kumimoji="1" lang="ja-JP" altLang="en-US" sz="15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0772B25B-7A91-9632-F8A4-E636BB4AFFD9}"/>
              </a:ext>
            </a:extLst>
          </p:cNvPr>
          <p:cNvSpPr txBox="1"/>
          <p:nvPr/>
        </p:nvSpPr>
        <p:spPr>
          <a:xfrm>
            <a:off x="7437120" y="3175000"/>
            <a:ext cx="3302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7FA6F5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+</a:t>
            </a:r>
            <a:endParaRPr kumimoji="1" lang="ja-JP" altLang="en-US" sz="1500" b="1">
              <a:solidFill>
                <a:srgbClr val="7FA6F5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3B04CAE9-C307-A50B-B443-A5ACB1BAE21A}"/>
              </a:ext>
            </a:extLst>
          </p:cNvPr>
          <p:cNvSpPr/>
          <p:nvPr/>
        </p:nvSpPr>
        <p:spPr>
          <a:xfrm>
            <a:off x="7767320" y="3175000"/>
            <a:ext cx="965200" cy="558800"/>
          </a:xfrm>
          <a:prstGeom prst="roundRect">
            <a:avLst>
              <a:gd name="adj" fmla="val 18000"/>
            </a:avLst>
          </a:prstGeom>
          <a:solidFill>
            <a:srgbClr val="25406E"/>
          </a:solidFill>
          <a:ln w="9525">
            <a:solidFill>
              <a:srgbClr val="3E5C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ED1FF0F-9A62-3490-862F-FA4F2DE5F6B3}"/>
              </a:ext>
            </a:extLst>
          </p:cNvPr>
          <p:cNvSpPr txBox="1"/>
          <p:nvPr/>
        </p:nvSpPr>
        <p:spPr>
          <a:xfrm>
            <a:off x="7767320" y="3175000"/>
            <a:ext cx="9652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endParaRPr kumimoji="1" lang="ja-JP" altLang="en-US" sz="15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9E867D67-B12C-32E0-69C5-70763400B1F5}"/>
              </a:ext>
            </a:extLst>
          </p:cNvPr>
          <p:cNvSpPr txBox="1"/>
          <p:nvPr/>
        </p:nvSpPr>
        <p:spPr>
          <a:xfrm>
            <a:off x="8732520" y="3175000"/>
            <a:ext cx="3302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7FA6F5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+</a:t>
            </a:r>
            <a:endParaRPr kumimoji="1" lang="ja-JP" altLang="en-US" sz="1500" b="1">
              <a:solidFill>
                <a:srgbClr val="7FA6F5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C47940A2-F5FE-CADC-87BE-DFD7BE7A680C}"/>
              </a:ext>
            </a:extLst>
          </p:cNvPr>
          <p:cNvSpPr/>
          <p:nvPr/>
        </p:nvSpPr>
        <p:spPr>
          <a:xfrm>
            <a:off x="9062720" y="3175000"/>
            <a:ext cx="538480" cy="558800"/>
          </a:xfrm>
          <a:prstGeom prst="roundRect">
            <a:avLst>
              <a:gd name="adj" fmla="val 18000"/>
            </a:avLst>
          </a:prstGeom>
          <a:solidFill>
            <a:srgbClr val="25406E"/>
          </a:solidFill>
          <a:ln w="9525">
            <a:solidFill>
              <a:srgbClr val="3E5C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3CBAC2C3-A843-33DA-2CC5-A62EB55FBB98}"/>
              </a:ext>
            </a:extLst>
          </p:cNvPr>
          <p:cNvSpPr txBox="1"/>
          <p:nvPr/>
        </p:nvSpPr>
        <p:spPr>
          <a:xfrm>
            <a:off x="9062720" y="3175000"/>
            <a:ext cx="53848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</a:t>
            </a:r>
            <a:endParaRPr kumimoji="1" lang="ja-JP" altLang="en-US" sz="15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E866CAB-B87B-781E-6D4A-6BBBFA4015C3}"/>
              </a:ext>
            </a:extLst>
          </p:cNvPr>
          <p:cNvSpPr txBox="1"/>
          <p:nvPr/>
        </p:nvSpPr>
        <p:spPr>
          <a:xfrm>
            <a:off x="6578600" y="3886200"/>
            <a:ext cx="44704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同時に押すと管理画面が開きます。ファイル名の秒数・期限の誤りは「表示期限の指定」、壊れたファイルは「壊れたファイル」ダイアログで、開くたびに対象ファイルを知らせます。</a:t>
            </a:r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C50DB2CE-10C3-BE96-4CE3-E1A6FB7ED347}"/>
              </a:ext>
            </a:extLst>
          </p:cNvPr>
          <p:cNvSpPr/>
          <p:nvPr/>
        </p:nvSpPr>
        <p:spPr>
          <a:xfrm>
            <a:off x="812800" y="5029200"/>
            <a:ext cx="10566400" cy="838200"/>
          </a:xfrm>
          <a:prstGeom prst="roundRect">
            <a:avLst>
              <a:gd name="adj" fmla="val 12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ACE4DC63-5B0B-5A90-B76E-F3FCD0386930}"/>
              </a:ext>
            </a:extLst>
          </p:cNvPr>
          <p:cNvSpPr/>
          <p:nvPr/>
        </p:nvSpPr>
        <p:spPr>
          <a:xfrm>
            <a:off x="812800" y="5029200"/>
            <a:ext cx="50800" cy="838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B45B15D9-DA3D-7963-51E5-76B4BFB9CD10}"/>
              </a:ext>
            </a:extLst>
          </p:cNvPr>
          <p:cNvSpPr txBox="1"/>
          <p:nvPr/>
        </p:nvSpPr>
        <p:spPr>
          <a:xfrm>
            <a:off x="1092200" y="5029200"/>
            <a:ext cx="1342136" cy="838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保存を忘れずに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ED3DCE79-82FB-D48E-2548-6DF659BEA4B7}"/>
              </a:ext>
            </a:extLst>
          </p:cNvPr>
          <p:cNvSpPr txBox="1"/>
          <p:nvPr/>
        </p:nvSpPr>
        <p:spPr>
          <a:xfrm>
            <a:off x="2434336" y="5029200"/>
            <a:ext cx="8665464" cy="838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値を変更したら「保存して設定する」をクリック。再起動なしで即時反映されます。画面下部が緑なら成功、赤なら入力内容を確認してください。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38229096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16BE40C-1740-FBCE-9AFA-268E2671717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D944EFE-31A2-FA77-0247-622DD9C10797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3439003-D141-FB18-9CB4-5A12CA0BFE46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ADMINISTRATOR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9F7A40A-79DE-2872-E358-96E726BC3328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管理画面の設定項目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558B0E6-5B75-9041-60FF-759724531CEE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FBBCB93B-30B5-B4B6-54B2-8AD18CA2646E}"/>
              </a:ext>
            </a:extLst>
          </p:cNvPr>
          <p:cNvSpPr/>
          <p:nvPr/>
        </p:nvSpPr>
        <p:spPr>
          <a:xfrm>
            <a:off x="10006203" y="736600"/>
            <a:ext cx="1372997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24070E9-3F4F-5DFA-F5A5-9D24842F985F}"/>
              </a:ext>
            </a:extLst>
          </p:cNvPr>
          <p:cNvSpPr txBox="1"/>
          <p:nvPr/>
        </p:nvSpPr>
        <p:spPr>
          <a:xfrm>
            <a:off x="10006203" y="736600"/>
            <a:ext cx="1372997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12A1005-EAC0-C333-7F8B-5169C6128FC0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CBD5FF9-4B02-D904-C24E-004BA4F8D961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11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91EBA2C5-A344-5E94-29D4-757D5B1432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3655457"/>
              </p:ext>
            </p:extLst>
          </p:nvPr>
        </p:nvGraphicFramePr>
        <p:xfrm>
          <a:off x="812800" y="1854200"/>
          <a:ext cx="10566400" cy="3632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3726121323"/>
                    </a:ext>
                  </a:extLst>
                </a:gridCol>
                <a:gridCol w="7366000">
                  <a:extLst>
                    <a:ext uri="{9D8B030D-6E8A-4147-A177-3AD203B41FA5}">
                      <a16:colId xmlns:a16="http://schemas.microsoft.com/office/drawing/2014/main" val="32315953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設定項目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2563EB"/>
                      </a:solidFill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説明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2563EB"/>
                      </a:solidFill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4354638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監視フォルダ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2563EB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コンテンツを置くフォルダのパス。「参照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…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」から選択も可能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2563EB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233437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デフォルト表示秒数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画像・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PDF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の標準表示時間（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5〜300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秒）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299571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Windows </a:t>
                      </a: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起動時に自動起動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ON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にすると 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PC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起動・ログオン後にアプリが自動で立ち上がる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035437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アプリ終了時刻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毎日、指定時刻にアプリを終了する（例：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18:00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）。無効にすれば終了しない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6616657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PC </a:t>
                      </a: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電源オフ時刻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毎日、指定時刻に 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PC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の電源を切る（例：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18:03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）。無効にすれば電源オフしない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6078577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復帰不能時メッセージ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すべてのファイルが表示できないときに全画面へ出す文言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1116856"/>
                  </a:ext>
                </a:extLst>
              </a:tr>
            </a:tbl>
          </a:graphicData>
        </a:graphic>
      </p:graphicFrame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3CCC02E8-5008-B9C0-04BB-E6FB81F987F9}"/>
              </a:ext>
            </a:extLst>
          </p:cNvPr>
          <p:cNvSpPr/>
          <p:nvPr/>
        </p:nvSpPr>
        <p:spPr>
          <a:xfrm>
            <a:off x="812800" y="5638800"/>
            <a:ext cx="10566400" cy="635000"/>
          </a:xfrm>
          <a:prstGeom prst="roundRect">
            <a:avLst>
              <a:gd name="adj" fmla="val 12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4BD9EDC-69A2-8602-1B16-C0C4C7A90796}"/>
              </a:ext>
            </a:extLst>
          </p:cNvPr>
          <p:cNvSpPr/>
          <p:nvPr/>
        </p:nvSpPr>
        <p:spPr>
          <a:xfrm>
            <a:off x="812800" y="5638800"/>
            <a:ext cx="50800" cy="6350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3E2C3EFF-EAF5-761E-0D4C-D3038D8DC841}"/>
              </a:ext>
            </a:extLst>
          </p:cNvPr>
          <p:cNvSpPr txBox="1"/>
          <p:nvPr/>
        </p:nvSpPr>
        <p:spPr>
          <a:xfrm>
            <a:off x="1092200" y="5638800"/>
            <a:ext cx="1342136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時刻の入力形式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0C0B1A5-C3E5-3186-EACB-65979EDC543C}"/>
              </a:ext>
            </a:extLst>
          </p:cNvPr>
          <p:cNvSpPr txBox="1"/>
          <p:nvPr/>
        </p:nvSpPr>
        <p:spPr>
          <a:xfrm>
            <a:off x="2434336" y="5638800"/>
            <a:ext cx="8665464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HH:mm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（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24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時間制）で入力します。午後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6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時は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18:00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、午前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9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時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30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分は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09:30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。ライセンス・アクセスキー・ログフォルダは次のスライド。</a:t>
            </a:r>
          </a:p>
        </p:txBody>
      </p:sp>
    </p:spTree>
    <p:extLst>
      <p:ext uri="{BB962C8B-B14F-4D97-AF65-F5344CB8AC3E}">
        <p14:creationId xmlns:p14="http://schemas.microsoft.com/office/powerpoint/2010/main" val="39082991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1E787CB-31E6-0D81-68D8-98AB6AF42D7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5FB2ABE-50B8-3B51-74D8-B7ACE88B18BB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C3409A-8969-A6B1-FB1C-1827017A1EB7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ADMINISTRATOR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EE3B702-5382-90AC-D5C4-BA3902037552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ライセンスとアクセスキー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8670BC3-8A6A-E802-550A-6CDAB7C8C322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909087E2-B00B-4AAA-4D6E-7AE60C002523}"/>
              </a:ext>
            </a:extLst>
          </p:cNvPr>
          <p:cNvSpPr/>
          <p:nvPr/>
        </p:nvSpPr>
        <p:spPr>
          <a:xfrm>
            <a:off x="10006203" y="736600"/>
            <a:ext cx="1372997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BC1B412-A593-DFEA-2865-494CF73F742D}"/>
              </a:ext>
            </a:extLst>
          </p:cNvPr>
          <p:cNvSpPr txBox="1"/>
          <p:nvPr/>
        </p:nvSpPr>
        <p:spPr>
          <a:xfrm>
            <a:off x="10006203" y="736600"/>
            <a:ext cx="1372997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E2D9EB5-2981-3033-4FD8-909D022D0940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BD0E3CB-CD25-19DE-48A6-A80899AC12B8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12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C3ED693-AC23-AFB7-F3A9-E76F6649F376}"/>
              </a:ext>
            </a:extLst>
          </p:cNvPr>
          <p:cNvSpPr/>
          <p:nvPr/>
        </p:nvSpPr>
        <p:spPr>
          <a:xfrm>
            <a:off x="812800" y="1905000"/>
            <a:ext cx="5130800" cy="2946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39044CD9-828F-7E8A-2CA4-C2247390FCCE}"/>
              </a:ext>
            </a:extLst>
          </p:cNvPr>
          <p:cNvSpPr/>
          <p:nvPr/>
        </p:nvSpPr>
        <p:spPr>
          <a:xfrm>
            <a:off x="1143000" y="2209800"/>
            <a:ext cx="685800" cy="279400"/>
          </a:xfrm>
          <a:prstGeom prst="roundRect">
            <a:avLst>
              <a:gd name="adj" fmla="val 50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AB12D88-60E6-FFD0-90C1-4ACE6A2F04A0}"/>
              </a:ext>
            </a:extLst>
          </p:cNvPr>
          <p:cNvSpPr txBox="1"/>
          <p:nvPr/>
        </p:nvSpPr>
        <p:spPr>
          <a:xfrm>
            <a:off x="1143000" y="2209800"/>
            <a:ext cx="685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TRIAL</a:t>
            </a:r>
            <a:endParaRPr kumimoji="1" lang="ja-JP" altLang="en-US" sz="100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B8F56DFC-A89B-BAA7-B9E3-DDF48184F0CD}"/>
              </a:ext>
            </a:extLst>
          </p:cNvPr>
          <p:cNvSpPr txBox="1"/>
          <p:nvPr/>
        </p:nvSpPr>
        <p:spPr>
          <a:xfrm>
            <a:off x="1143000" y="26416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初回起動から </a:t>
            </a:r>
            <a:r>
              <a:rPr kumimoji="1" lang="en-US" altLang="ja-JP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60 </a:t>
            </a:r>
            <a:r>
              <a:rPr kumimoji="1" lang="ja-JP" altLang="en-US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3599E82-30B9-42F3-D76A-D7367FE80B2E}"/>
              </a:ext>
            </a:extLst>
          </p:cNvPr>
          <p:cNvSpPr txBox="1"/>
          <p:nvPr/>
        </p:nvSpPr>
        <p:spPr>
          <a:xfrm>
            <a:off x="1143000" y="3175000"/>
            <a:ext cx="4470400" cy="1397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この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Windows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ユーザーで初めて起動した日から、暦日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60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日は無料です（当日を含む）。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フォルダや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settings.json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を消しても、同じユーザーでは試用は延びません。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8B2F9673-8EAD-68FE-938D-1CC178B8DBEC}"/>
              </a:ext>
            </a:extLst>
          </p:cNvPr>
          <p:cNvSpPr/>
          <p:nvPr/>
        </p:nvSpPr>
        <p:spPr>
          <a:xfrm>
            <a:off x="6248400" y="1905000"/>
            <a:ext cx="5130800" cy="2946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2A582FFA-53FD-4CB2-BD34-F7E7679C3553}"/>
              </a:ext>
            </a:extLst>
          </p:cNvPr>
          <p:cNvSpPr/>
          <p:nvPr/>
        </p:nvSpPr>
        <p:spPr>
          <a:xfrm>
            <a:off x="6578600" y="2209800"/>
            <a:ext cx="1041400" cy="279400"/>
          </a:xfrm>
          <a:prstGeom prst="roundRect">
            <a:avLst>
              <a:gd name="adj" fmla="val 50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9B0C9890-3193-87B9-F0E5-F8A9F0F5C220}"/>
              </a:ext>
            </a:extLst>
          </p:cNvPr>
          <p:cNvSpPr txBox="1"/>
          <p:nvPr/>
        </p:nvSpPr>
        <p:spPr>
          <a:xfrm>
            <a:off x="6578600" y="2209800"/>
            <a:ext cx="1041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ACCESS KEY</a:t>
            </a:r>
            <a:endParaRPr kumimoji="1" lang="ja-JP" altLang="en-US" sz="10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8731A13-B041-7715-4B76-DA723BD9EA5D}"/>
              </a:ext>
            </a:extLst>
          </p:cNvPr>
          <p:cNvSpPr txBox="1"/>
          <p:nvPr/>
        </p:nvSpPr>
        <p:spPr>
          <a:xfrm>
            <a:off x="6578600" y="26416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届いた文字列を貼る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35A5B51-73E5-7F30-F320-5598B7A4F366}"/>
              </a:ext>
            </a:extLst>
          </p:cNvPr>
          <p:cNvSpPr txBox="1"/>
          <p:nvPr/>
        </p:nvSpPr>
        <p:spPr>
          <a:xfrm>
            <a:off x="6578600" y="3175000"/>
            <a:ext cx="4470400" cy="1397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1.  Ctrl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で管理画面を開く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2. 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メールのアクセスキーをそのまま貼る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3. 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「アクセスキーを適用」を押す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8468CE74-F9F1-8CB5-6497-E37824B3B3E7}"/>
              </a:ext>
            </a:extLst>
          </p:cNvPr>
          <p:cNvSpPr/>
          <p:nvPr/>
        </p:nvSpPr>
        <p:spPr>
          <a:xfrm>
            <a:off x="812800" y="5029200"/>
            <a:ext cx="10566400" cy="990600"/>
          </a:xfrm>
          <a:prstGeom prst="roundRect">
            <a:avLst>
              <a:gd name="adj" fmla="val 12000"/>
            </a:avLst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470297C9-DB62-E6AF-9060-C2439DD24EF2}"/>
              </a:ext>
            </a:extLst>
          </p:cNvPr>
          <p:cNvSpPr/>
          <p:nvPr/>
        </p:nvSpPr>
        <p:spPr>
          <a:xfrm>
            <a:off x="812800" y="5029200"/>
            <a:ext cx="50800" cy="9906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BD5E880A-C69C-2661-DD16-DB4EA9DBC684}"/>
              </a:ext>
            </a:extLst>
          </p:cNvPr>
          <p:cNvSpPr txBox="1"/>
          <p:nvPr/>
        </p:nvSpPr>
        <p:spPr>
          <a:xfrm>
            <a:off x="1092200" y="5029200"/>
            <a:ext cx="1497584" cy="990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期限が切れたとき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6D9D47EF-906C-5346-FE75-AEAB986CAB36}"/>
              </a:ext>
            </a:extLst>
          </p:cNvPr>
          <p:cNvSpPr txBox="1"/>
          <p:nvPr/>
        </p:nvSpPr>
        <p:spPr>
          <a:xfrm>
            <a:off x="2589784" y="5029200"/>
            <a:ext cx="8510016" cy="990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映像は止まりません。画面の下端に「契約期限が切れています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…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」と出ます。正しいキーを適用すると案内は消えます。誤ったキーでは以前の状態のままです。ログの場所も管理画面に出ます。</a:t>
            </a:r>
          </a:p>
        </p:txBody>
      </p:sp>
    </p:spTree>
    <p:extLst>
      <p:ext uri="{BB962C8B-B14F-4D97-AF65-F5344CB8AC3E}">
        <p14:creationId xmlns:p14="http://schemas.microsoft.com/office/powerpoint/2010/main" val="1045158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8826942-8818-DA2E-E135-1401B5DF42D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84CFB2C-53AB-42C9-1A40-A6C1B58BDF73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C49774B-29C1-E9D5-853E-CB1F314AF8C9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ADMINISTRATOR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AFAE383-4434-8697-BD3E-3585ECBE2AFA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夜に止めて、朝は自動で始める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9E1E1E-DF7A-756B-A1A0-8B99EB7777E7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BF014161-3FDD-E8A2-43FF-DED3632DDF29}"/>
              </a:ext>
            </a:extLst>
          </p:cNvPr>
          <p:cNvSpPr/>
          <p:nvPr/>
        </p:nvSpPr>
        <p:spPr>
          <a:xfrm>
            <a:off x="10006203" y="736600"/>
            <a:ext cx="1372997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3E48177-CC1A-9392-DB98-7129F13E161A}"/>
              </a:ext>
            </a:extLst>
          </p:cNvPr>
          <p:cNvSpPr txBox="1"/>
          <p:nvPr/>
        </p:nvSpPr>
        <p:spPr>
          <a:xfrm>
            <a:off x="10006203" y="736600"/>
            <a:ext cx="1372997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F3C1BF7-6CAD-E4B3-A2E3-183E7754062F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BD3D417-D36B-26C8-6D9A-ABFBA38DCE5A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13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D566E2F-7082-3FC9-AF0B-3D9876069645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スケジュール設定と 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Windows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自動起動を組み合わせると、毎日の入切が不要になります。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0ADF375-6843-A51D-6B3A-E589A8D715BE}"/>
              </a:ext>
            </a:extLst>
          </p:cNvPr>
          <p:cNvSpPr/>
          <p:nvPr/>
        </p:nvSpPr>
        <p:spPr>
          <a:xfrm>
            <a:off x="1320800" y="3556000"/>
            <a:ext cx="9550400" cy="254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2957497-3396-BA9C-4170-3C7A58EDC54B}"/>
              </a:ext>
            </a:extLst>
          </p:cNvPr>
          <p:cNvSpPr txBox="1"/>
          <p:nvPr/>
        </p:nvSpPr>
        <p:spPr>
          <a:xfrm>
            <a:off x="812800" y="2743200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7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18:00</a:t>
            </a:r>
            <a:endParaRPr kumimoji="1" lang="ja-JP" altLang="en-US" sz="17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857ABE6C-0959-149C-3955-91A749C085A6}"/>
              </a:ext>
            </a:extLst>
          </p:cNvPr>
          <p:cNvSpPr/>
          <p:nvPr/>
        </p:nvSpPr>
        <p:spPr>
          <a:xfrm>
            <a:off x="1943100" y="3454400"/>
            <a:ext cx="228600" cy="228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563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1AC91A7-15FD-905C-C78D-3CC33F336E6D}"/>
              </a:ext>
            </a:extLst>
          </p:cNvPr>
          <p:cNvSpPr/>
          <p:nvPr/>
        </p:nvSpPr>
        <p:spPr>
          <a:xfrm>
            <a:off x="812800" y="3937000"/>
            <a:ext cx="2489200" cy="1219200"/>
          </a:xfrm>
          <a:prstGeom prst="roundRect">
            <a:avLst>
              <a:gd name="adj" fmla="val 10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C114068-732B-63BC-AD3D-F145B12EAC07}"/>
              </a:ext>
            </a:extLst>
          </p:cNvPr>
          <p:cNvSpPr txBox="1"/>
          <p:nvPr/>
        </p:nvSpPr>
        <p:spPr>
          <a:xfrm>
            <a:off x="1016000" y="4165600"/>
            <a:ext cx="208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アプリ終了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E195D56-3FAE-5F64-FBE6-E48F58772194}"/>
              </a:ext>
            </a:extLst>
          </p:cNvPr>
          <p:cNvSpPr txBox="1"/>
          <p:nvPr/>
        </p:nvSpPr>
        <p:spPr>
          <a:xfrm>
            <a:off x="1016000" y="45212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サイネージ表示を終了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7E1B1F42-0248-7E0D-FB14-2A5CBBA9BC5D}"/>
              </a:ext>
            </a:extLst>
          </p:cNvPr>
          <p:cNvSpPr txBox="1"/>
          <p:nvPr/>
        </p:nvSpPr>
        <p:spPr>
          <a:xfrm>
            <a:off x="3505200" y="2743200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7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18:03</a:t>
            </a:r>
            <a:endParaRPr kumimoji="1" lang="ja-JP" altLang="en-US" sz="17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850A5719-81A6-B95D-9D4A-D63699013D73}"/>
              </a:ext>
            </a:extLst>
          </p:cNvPr>
          <p:cNvSpPr/>
          <p:nvPr/>
        </p:nvSpPr>
        <p:spPr>
          <a:xfrm>
            <a:off x="4635500" y="3454400"/>
            <a:ext cx="228600" cy="228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563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1D63765A-0FE7-976E-9E4D-43C4925A58E0}"/>
              </a:ext>
            </a:extLst>
          </p:cNvPr>
          <p:cNvSpPr/>
          <p:nvPr/>
        </p:nvSpPr>
        <p:spPr>
          <a:xfrm>
            <a:off x="3505200" y="3937000"/>
            <a:ext cx="2489200" cy="1219200"/>
          </a:xfrm>
          <a:prstGeom prst="roundRect">
            <a:avLst>
              <a:gd name="adj" fmla="val 10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AB77903F-3D53-93B4-AB13-A38C4FCE7CBF}"/>
              </a:ext>
            </a:extLst>
          </p:cNvPr>
          <p:cNvSpPr txBox="1"/>
          <p:nvPr/>
        </p:nvSpPr>
        <p:spPr>
          <a:xfrm>
            <a:off x="3708400" y="4165600"/>
            <a:ext cx="208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電源オフ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596C807F-8A94-B28B-7917-884263BE5C1D}"/>
              </a:ext>
            </a:extLst>
          </p:cNvPr>
          <p:cNvSpPr txBox="1"/>
          <p:nvPr/>
        </p:nvSpPr>
        <p:spPr>
          <a:xfrm>
            <a:off x="3708400" y="45212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任意。無効にもできる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11B598E-493F-4076-F5C2-36ECA1B1A123}"/>
              </a:ext>
            </a:extLst>
          </p:cNvPr>
          <p:cNvSpPr txBox="1"/>
          <p:nvPr/>
        </p:nvSpPr>
        <p:spPr>
          <a:xfrm>
            <a:off x="6197600" y="2743200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7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翌朝</a:t>
            </a:r>
          </a:p>
        </p:txBody>
      </p:sp>
      <p:sp>
        <p:nvSpPr>
          <p:cNvPr id="24" name="楕円 23">
            <a:extLst>
              <a:ext uri="{FF2B5EF4-FFF2-40B4-BE49-F238E27FC236}">
                <a16:creationId xmlns:a16="http://schemas.microsoft.com/office/drawing/2014/main" id="{41A9F633-F289-BB5A-AF9B-D565B8A12E2D}"/>
              </a:ext>
            </a:extLst>
          </p:cNvPr>
          <p:cNvSpPr/>
          <p:nvPr/>
        </p:nvSpPr>
        <p:spPr>
          <a:xfrm>
            <a:off x="7327900" y="3454400"/>
            <a:ext cx="228600" cy="228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F8E9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60744497-DCEA-C5DD-EEBE-DE1B107C638E}"/>
              </a:ext>
            </a:extLst>
          </p:cNvPr>
          <p:cNvSpPr/>
          <p:nvPr/>
        </p:nvSpPr>
        <p:spPr>
          <a:xfrm>
            <a:off x="6197600" y="3937000"/>
            <a:ext cx="2489200" cy="1219200"/>
          </a:xfrm>
          <a:prstGeom prst="roundRect">
            <a:avLst>
              <a:gd name="adj" fmla="val 10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FC9E7BC4-0363-FDC5-D8DB-EA75DDAABEBC}"/>
              </a:ext>
            </a:extLst>
          </p:cNvPr>
          <p:cNvSpPr txBox="1"/>
          <p:nvPr/>
        </p:nvSpPr>
        <p:spPr>
          <a:xfrm>
            <a:off x="6400800" y="4165600"/>
            <a:ext cx="208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起動・ログオン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A3A56C19-ADB1-478E-6C49-3875FE1D83A3}"/>
              </a:ext>
            </a:extLst>
          </p:cNvPr>
          <p:cNvSpPr txBox="1"/>
          <p:nvPr/>
        </p:nvSpPr>
        <p:spPr>
          <a:xfrm>
            <a:off x="6400800" y="45212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出勤時や電源スケジュールで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1013041F-912E-503D-142E-58DCC25F5FE1}"/>
              </a:ext>
            </a:extLst>
          </p:cNvPr>
          <p:cNvSpPr txBox="1"/>
          <p:nvPr/>
        </p:nvSpPr>
        <p:spPr>
          <a:xfrm>
            <a:off x="8890000" y="2743200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7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自動</a:t>
            </a:r>
          </a:p>
        </p:txBody>
      </p:sp>
      <p:sp>
        <p:nvSpPr>
          <p:cNvPr id="29" name="楕円 28">
            <a:extLst>
              <a:ext uri="{FF2B5EF4-FFF2-40B4-BE49-F238E27FC236}">
                <a16:creationId xmlns:a16="http://schemas.microsoft.com/office/drawing/2014/main" id="{2928CF10-6C63-7028-FBA4-4D49A287458F}"/>
              </a:ext>
            </a:extLst>
          </p:cNvPr>
          <p:cNvSpPr/>
          <p:nvPr/>
        </p:nvSpPr>
        <p:spPr>
          <a:xfrm>
            <a:off x="10020300" y="3454400"/>
            <a:ext cx="228600" cy="228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F8E9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A6ABBFDD-06AC-5AEF-4046-670981036811}"/>
              </a:ext>
            </a:extLst>
          </p:cNvPr>
          <p:cNvSpPr/>
          <p:nvPr/>
        </p:nvSpPr>
        <p:spPr>
          <a:xfrm>
            <a:off x="8890000" y="3937000"/>
            <a:ext cx="2489200" cy="1219200"/>
          </a:xfrm>
          <a:prstGeom prst="roundRect">
            <a:avLst>
              <a:gd name="adj" fmla="val 10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EB47A98F-7B82-4C5D-D7C0-DEAFE9D801F6}"/>
              </a:ext>
            </a:extLst>
          </p:cNvPr>
          <p:cNvSpPr txBox="1"/>
          <p:nvPr/>
        </p:nvSpPr>
        <p:spPr>
          <a:xfrm>
            <a:off x="9093200" y="4165600"/>
            <a:ext cx="208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サイネージ開始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6A9586AE-BAAD-D213-5319-35157CA1A4E7}"/>
              </a:ext>
            </a:extLst>
          </p:cNvPr>
          <p:cNvSpPr txBox="1"/>
          <p:nvPr/>
        </p:nvSpPr>
        <p:spPr>
          <a:xfrm>
            <a:off x="9093200" y="45212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kumimoji="1" lang="en-US" altLang="ja-JP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Windows </a:t>
            </a: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自動起動が </a:t>
            </a:r>
            <a:r>
              <a:rPr kumimoji="1" lang="en-US" altLang="ja-JP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ON </a:t>
            </a: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なら</a:t>
            </a:r>
          </a:p>
        </p:txBody>
      </p: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97960EF2-4A7F-2EE3-4030-5C9CCD8BDB60}"/>
              </a:ext>
            </a:extLst>
          </p:cNvPr>
          <p:cNvSpPr/>
          <p:nvPr/>
        </p:nvSpPr>
        <p:spPr>
          <a:xfrm>
            <a:off x="812800" y="5435600"/>
            <a:ext cx="10566400" cy="7620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2F84F9BA-F65E-3118-1CB8-97E5F47C4061}"/>
              </a:ext>
            </a:extLst>
          </p:cNvPr>
          <p:cNvSpPr/>
          <p:nvPr/>
        </p:nvSpPr>
        <p:spPr>
          <a:xfrm>
            <a:off x="812800" y="5435600"/>
            <a:ext cx="50800" cy="762000"/>
          </a:xfrm>
          <a:prstGeom prst="rect">
            <a:avLst/>
          </a:prstGeom>
          <a:solidFill>
            <a:srgbClr val="8794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02074C5-71E4-06A0-64F6-101FA1092FC1}"/>
              </a:ext>
            </a:extLst>
          </p:cNvPr>
          <p:cNvSpPr txBox="1"/>
          <p:nvPr/>
        </p:nvSpPr>
        <p:spPr>
          <a:xfrm>
            <a:off x="1092200" y="5435600"/>
            <a:ext cx="551942" cy="762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 b="1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補足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C91ABA4C-E398-4BF1-A688-EB79B921B7FD}"/>
              </a:ext>
            </a:extLst>
          </p:cNvPr>
          <p:cNvSpPr txBox="1"/>
          <p:nvPr/>
        </p:nvSpPr>
        <p:spPr>
          <a:xfrm>
            <a:off x="1644142" y="5435600"/>
            <a:ext cx="9455658" cy="762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アプリ終了時刻を有効にすると、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電源オフの初期値はその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分後になります（変更可）。電源オフに失敗した場合はログに記録されるため、社内の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管理ポリシーを確認してください。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3588125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135CBB9-6058-EBCA-2521-8CBFD55D9D6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403A0FE-490E-1BC6-92CD-74804FFA94F0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CF5E38A-3018-9B1D-BD62-FF0523270812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ADMINISTRATOR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BC9ADAF-14FE-FDEF-A5B9-C72ADDECCD4E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アプリの終了とログの場所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FD3A0E4-1B85-2555-6F20-A2D99FE0187A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D884FA6D-62D0-02FF-C800-E6A213791F97}"/>
              </a:ext>
            </a:extLst>
          </p:cNvPr>
          <p:cNvSpPr/>
          <p:nvPr/>
        </p:nvSpPr>
        <p:spPr>
          <a:xfrm>
            <a:off x="10006203" y="736600"/>
            <a:ext cx="1372997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78E72A5-11DC-218E-255F-6C90A39DA43E}"/>
              </a:ext>
            </a:extLst>
          </p:cNvPr>
          <p:cNvSpPr txBox="1"/>
          <p:nvPr/>
        </p:nvSpPr>
        <p:spPr>
          <a:xfrm>
            <a:off x="10006203" y="736600"/>
            <a:ext cx="1372997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C44050C-B815-F85D-8F68-0D48FB0A55BF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AD264DC-729F-6452-CD0B-98D4820867F2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14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5389E4CA-6BE5-DF89-A912-42FF96899F35}"/>
              </a:ext>
            </a:extLst>
          </p:cNvPr>
          <p:cNvSpPr/>
          <p:nvPr/>
        </p:nvSpPr>
        <p:spPr>
          <a:xfrm>
            <a:off x="812800" y="1905000"/>
            <a:ext cx="5130800" cy="3708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28460C3-8213-1884-8F97-2CF2520C2C08}"/>
              </a:ext>
            </a:extLst>
          </p:cNvPr>
          <p:cNvSpPr/>
          <p:nvPr/>
        </p:nvSpPr>
        <p:spPr>
          <a:xfrm>
            <a:off x="812800" y="1905000"/>
            <a:ext cx="5130800" cy="635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09E3422-295A-6059-A62D-EEAC65FAB8EE}"/>
              </a:ext>
            </a:extLst>
          </p:cNvPr>
          <p:cNvSpPr txBox="1"/>
          <p:nvPr/>
        </p:nvSpPr>
        <p:spPr>
          <a:xfrm>
            <a:off x="1143000" y="22860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アプリを終了する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F223A33-B99A-C9C2-4C70-2E27BF4CDB99}"/>
              </a:ext>
            </a:extLst>
          </p:cNvPr>
          <p:cNvSpPr txBox="1"/>
          <p:nvPr/>
        </p:nvSpPr>
        <p:spPr>
          <a:xfrm>
            <a:off x="1143000" y="28702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3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管理画面から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29B6951-664C-0A12-E7B3-9AE517990740}"/>
              </a:ext>
            </a:extLst>
          </p:cNvPr>
          <p:cNvSpPr txBox="1"/>
          <p:nvPr/>
        </p:nvSpPr>
        <p:spPr>
          <a:xfrm>
            <a:off x="1143000" y="3149600"/>
            <a:ext cx="44704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 →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「アプリを終了」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372FEE6-79B9-F6EF-155C-A3C18B00D6A9}"/>
              </a:ext>
            </a:extLst>
          </p:cNvPr>
          <p:cNvSpPr txBox="1"/>
          <p:nvPr/>
        </p:nvSpPr>
        <p:spPr>
          <a:xfrm>
            <a:off x="1143000" y="36830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3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管理画面を閉じる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1E66CB91-7E41-EC79-8559-6B0675CDF637}"/>
              </a:ext>
            </a:extLst>
          </p:cNvPr>
          <p:cNvSpPr txBox="1"/>
          <p:nvPr/>
        </p:nvSpPr>
        <p:spPr>
          <a:xfrm>
            <a:off x="1143000" y="3962400"/>
            <a:ext cx="44704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管理画面の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×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ボタンで閉じるとアプリも終了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58CD8E7-99E7-E773-711A-1B2F00EEF1D9}"/>
              </a:ext>
            </a:extLst>
          </p:cNvPr>
          <p:cNvSpPr txBox="1"/>
          <p:nvPr/>
        </p:nvSpPr>
        <p:spPr>
          <a:xfrm>
            <a:off x="1143000" y="44958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3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スケジュール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1B7C435-3867-46B9-8B3F-464B69978FDF}"/>
              </a:ext>
            </a:extLst>
          </p:cNvPr>
          <p:cNvSpPr txBox="1"/>
          <p:nvPr/>
        </p:nvSpPr>
        <p:spPr>
          <a:xfrm>
            <a:off x="1143000" y="4775200"/>
            <a:ext cx="44704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設定した終了時刻に到達すると自動で終了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EBC49895-2812-CB4C-1737-3D977BDC1004}"/>
              </a:ext>
            </a:extLst>
          </p:cNvPr>
          <p:cNvSpPr/>
          <p:nvPr/>
        </p:nvSpPr>
        <p:spPr>
          <a:xfrm>
            <a:off x="6248400" y="1905000"/>
            <a:ext cx="5130800" cy="3708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8D51F2A8-31EC-5999-4D45-2FB708C7C3E1}"/>
              </a:ext>
            </a:extLst>
          </p:cNvPr>
          <p:cNvSpPr/>
          <p:nvPr/>
        </p:nvSpPr>
        <p:spPr>
          <a:xfrm>
            <a:off x="6248400" y="1905000"/>
            <a:ext cx="5130800" cy="635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9D8BC1B-C88D-696B-0822-94A3F64EA1D1}"/>
              </a:ext>
            </a:extLst>
          </p:cNvPr>
          <p:cNvSpPr txBox="1"/>
          <p:nvPr/>
        </p:nvSpPr>
        <p:spPr>
          <a:xfrm>
            <a:off x="6578600" y="22860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ログを確認する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2F268ADF-3580-B279-A091-11185D1D6D53}"/>
              </a:ext>
            </a:extLst>
          </p:cNvPr>
          <p:cNvSpPr txBox="1"/>
          <p:nvPr/>
        </p:nvSpPr>
        <p:spPr>
          <a:xfrm>
            <a:off x="6578600" y="27432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表示に問題があるときは、管理者がログを確認できます。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C511E36D-A092-005B-12D2-947D9EB9FCAF}"/>
              </a:ext>
            </a:extLst>
          </p:cNvPr>
          <p:cNvSpPr/>
          <p:nvPr/>
        </p:nvSpPr>
        <p:spPr>
          <a:xfrm>
            <a:off x="6578600" y="3175000"/>
            <a:ext cx="38100" cy="508000"/>
          </a:xfrm>
          <a:prstGeom prst="rect">
            <a:avLst/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9E303ED4-3FC5-6926-72C1-28FBCE21B6DF}"/>
              </a:ext>
            </a:extLst>
          </p:cNvPr>
          <p:cNvSpPr txBox="1"/>
          <p:nvPr/>
        </p:nvSpPr>
        <p:spPr>
          <a:xfrm>
            <a:off x="6781800" y="3124200"/>
            <a:ext cx="44704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場所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89F7F235-AE19-A732-77D1-40F71D084DB1}"/>
              </a:ext>
            </a:extLst>
          </p:cNvPr>
          <p:cNvSpPr txBox="1"/>
          <p:nvPr/>
        </p:nvSpPr>
        <p:spPr>
          <a:xfrm>
            <a:off x="6781800" y="3378200"/>
            <a:ext cx="42672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この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の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LocalAppData\PdfSignage\logs</a:t>
            </a:r>
            <a:endParaRPr kumimoji="1" lang="ja-JP" altLang="en-US" sz="1250">
              <a:solidFill>
                <a:srgbClr val="465263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0E88BE69-3DDA-D87B-D610-39014ED3C281}"/>
              </a:ext>
            </a:extLst>
          </p:cNvPr>
          <p:cNvSpPr/>
          <p:nvPr/>
        </p:nvSpPr>
        <p:spPr>
          <a:xfrm>
            <a:off x="6578600" y="3886200"/>
            <a:ext cx="38100" cy="508000"/>
          </a:xfrm>
          <a:prstGeom prst="rect">
            <a:avLst/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16D8649E-08B3-ECD5-5D4D-726C939BF58F}"/>
              </a:ext>
            </a:extLst>
          </p:cNvPr>
          <p:cNvSpPr txBox="1"/>
          <p:nvPr/>
        </p:nvSpPr>
        <p:spPr>
          <a:xfrm>
            <a:off x="6781800" y="3835400"/>
            <a:ext cx="44704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確認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FA6953D1-68A2-1599-2CF7-BC50F3327F7E}"/>
              </a:ext>
            </a:extLst>
          </p:cNvPr>
          <p:cNvSpPr txBox="1"/>
          <p:nvPr/>
        </p:nvSpPr>
        <p:spPr>
          <a:xfrm>
            <a:off x="6781800" y="4089400"/>
            <a:ext cx="42672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管理画面の「ログフォルダ」に実パスが出る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299F3156-380B-EF83-34D2-D4DB27AA4EDF}"/>
              </a:ext>
            </a:extLst>
          </p:cNvPr>
          <p:cNvSpPr/>
          <p:nvPr/>
        </p:nvSpPr>
        <p:spPr>
          <a:xfrm>
            <a:off x="6578600" y="4597400"/>
            <a:ext cx="38100" cy="508000"/>
          </a:xfrm>
          <a:prstGeom prst="rect">
            <a:avLst/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8EF9516B-226D-CACC-411D-A75180E272AC}"/>
              </a:ext>
            </a:extLst>
          </p:cNvPr>
          <p:cNvSpPr txBox="1"/>
          <p:nvPr/>
        </p:nvSpPr>
        <p:spPr>
          <a:xfrm>
            <a:off x="6781800" y="4546600"/>
            <a:ext cx="44704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保存期間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B835DB39-FCE9-5B9E-871E-F0A95670769D}"/>
              </a:ext>
            </a:extLst>
          </p:cNvPr>
          <p:cNvSpPr txBox="1"/>
          <p:nvPr/>
        </p:nvSpPr>
        <p:spPr>
          <a:xfrm>
            <a:off x="6781800" y="4800600"/>
            <a:ext cx="42672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7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日間（古いログは自動削除）</a:t>
            </a:r>
          </a:p>
        </p:txBody>
      </p:sp>
    </p:spTree>
    <p:extLst>
      <p:ext uri="{BB962C8B-B14F-4D97-AF65-F5344CB8AC3E}">
        <p14:creationId xmlns:p14="http://schemas.microsoft.com/office/powerpoint/2010/main" val="35867855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1B70D17-1F05-7FCE-1002-8D4C4C7D825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B8B0344-984B-BAF0-86C9-1023E4548189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7F20258-E4A1-CD61-D5FD-1076590290CB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FAQ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C34BB9D-9EC1-E3BA-65A4-35ADD0F8E2DA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よくある質問（</a:t>
            </a:r>
            <a:r>
              <a:rPr kumimoji="1" lang="en-US" altLang="ja-JP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1/3</a:t>
            </a: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5306FEA-CA94-3F2D-4C04-8F693A335938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F34EC6D-54FE-3F24-99C6-99C03D06C635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9F00C5C-5CFE-9ED6-9D87-53D1E2EA80CF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15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454C38B8-86F6-8C98-2F7D-32D8A0D61AC7}"/>
              </a:ext>
            </a:extLst>
          </p:cNvPr>
          <p:cNvSpPr/>
          <p:nvPr/>
        </p:nvSpPr>
        <p:spPr>
          <a:xfrm>
            <a:off x="812800" y="19304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E2DF222E-1348-208F-227D-F8823FB74291}"/>
              </a:ext>
            </a:extLst>
          </p:cNvPr>
          <p:cNvSpPr/>
          <p:nvPr/>
        </p:nvSpPr>
        <p:spPr>
          <a:xfrm>
            <a:off x="1092200" y="21844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BBD20BC-DAEC-34E4-D05E-8C1BFE473128}"/>
              </a:ext>
            </a:extLst>
          </p:cNvPr>
          <p:cNvSpPr txBox="1"/>
          <p:nvPr/>
        </p:nvSpPr>
        <p:spPr>
          <a:xfrm>
            <a:off x="1092200" y="21844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9BCCE889-A1D6-7104-80BF-E7369C40BF35}"/>
              </a:ext>
            </a:extLst>
          </p:cNvPr>
          <p:cNvSpPr txBox="1"/>
          <p:nvPr/>
        </p:nvSpPr>
        <p:spPr>
          <a:xfrm>
            <a:off x="1651000" y="21590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ファイルを入れたのに、すぐ変わりません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8D516E6-DCAF-9666-6107-9E7F7EBD6C7B}"/>
              </a:ext>
            </a:extLst>
          </p:cNvPr>
          <p:cNvSpPr txBox="1"/>
          <p:nvPr/>
        </p:nvSpPr>
        <p:spPr>
          <a:xfrm>
            <a:off x="1651000" y="25019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いま表示中のスライドが終わるまで待ちます。動画の場合は再生が完了するまで切り替わりません。</a:t>
            </a: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524CAD98-20E7-7F51-EB6E-5A64AD9A69C3}"/>
              </a:ext>
            </a:extLst>
          </p:cNvPr>
          <p:cNvSpPr/>
          <p:nvPr/>
        </p:nvSpPr>
        <p:spPr>
          <a:xfrm>
            <a:off x="812800" y="32512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DFDCF01F-12DE-C50B-CD65-29326B8CE560}"/>
              </a:ext>
            </a:extLst>
          </p:cNvPr>
          <p:cNvSpPr/>
          <p:nvPr/>
        </p:nvSpPr>
        <p:spPr>
          <a:xfrm>
            <a:off x="1092200" y="35052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5F75B3BC-63DA-6869-7E7A-FDBA1B4F52B6}"/>
              </a:ext>
            </a:extLst>
          </p:cNvPr>
          <p:cNvSpPr txBox="1"/>
          <p:nvPr/>
        </p:nvSpPr>
        <p:spPr>
          <a:xfrm>
            <a:off x="1092200" y="35052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8A8A0C87-92D8-16FA-EC0C-DBD74F1D981B}"/>
              </a:ext>
            </a:extLst>
          </p:cNvPr>
          <p:cNvSpPr txBox="1"/>
          <p:nvPr/>
        </p:nvSpPr>
        <p:spPr>
          <a:xfrm>
            <a:off x="1651000" y="34798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サブフォルダに入れたファイルが表示されません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FAB6939-0D4B-3223-CB0B-8EACE90EACE6}"/>
              </a:ext>
            </a:extLst>
          </p:cNvPr>
          <p:cNvSpPr txBox="1"/>
          <p:nvPr/>
        </p:nvSpPr>
        <p:spPr>
          <a:xfrm>
            <a:off x="1651000" y="38227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監視フォルダの直下だけが対象です。ファイルを一つ上のフォルダへ移動してください。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26CA4C35-F2AF-9FB1-F319-89B68441091B}"/>
              </a:ext>
            </a:extLst>
          </p:cNvPr>
          <p:cNvSpPr/>
          <p:nvPr/>
        </p:nvSpPr>
        <p:spPr>
          <a:xfrm>
            <a:off x="812800" y="45720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402CAC67-4EF5-73EC-8FAE-32746804013E}"/>
              </a:ext>
            </a:extLst>
          </p:cNvPr>
          <p:cNvSpPr/>
          <p:nvPr/>
        </p:nvSpPr>
        <p:spPr>
          <a:xfrm>
            <a:off x="1092200" y="48260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2F5C214-9EA1-EC77-24E5-5E2B3BC0207B}"/>
              </a:ext>
            </a:extLst>
          </p:cNvPr>
          <p:cNvSpPr txBox="1"/>
          <p:nvPr/>
        </p:nvSpPr>
        <p:spPr>
          <a:xfrm>
            <a:off x="1092200" y="48260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69B8C97-0462-83CF-74BF-7BF750F3C3B1}"/>
              </a:ext>
            </a:extLst>
          </p:cNvPr>
          <p:cNvSpPr txBox="1"/>
          <p:nvPr/>
        </p:nvSpPr>
        <p:spPr>
          <a:xfrm>
            <a:off x="1651000" y="48006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管理画面が開けません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8C80828-0849-A8BA-2CB1-864BD54D231E}"/>
              </a:ext>
            </a:extLst>
          </p:cNvPr>
          <p:cNvSpPr txBox="1"/>
          <p:nvPr/>
        </p:nvSpPr>
        <p:spPr>
          <a:xfrm>
            <a:off x="1651000" y="51435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を同時に押してください。キオスク表示の画面がアクティブな状態で試すのがポイントです。</a:t>
            </a:r>
          </a:p>
        </p:txBody>
      </p:sp>
    </p:spTree>
    <p:extLst>
      <p:ext uri="{BB962C8B-B14F-4D97-AF65-F5344CB8AC3E}">
        <p14:creationId xmlns:p14="http://schemas.microsoft.com/office/powerpoint/2010/main" val="10730482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9033F73-C1F0-65BA-229E-686C06D4743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7F187AE-A8C0-5CB5-00B7-37BEE325AB83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19601D4-9DCD-EF72-827E-1B9C61EB4964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FAQ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AAB0AD9-146E-00E2-76E6-07752CA093BB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よくある質問（</a:t>
            </a:r>
            <a:r>
              <a:rPr kumimoji="1" lang="en-US" altLang="ja-JP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2/3</a:t>
            </a: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5EC1E80-BE6D-35DF-DCBF-2F717EB1E09C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6C80746-A88B-0EED-F084-E1800C1864BF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2A63906-BBA4-CC6F-EC13-7215F29BA1AA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16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11E6EEA-2C7A-0323-D76D-ADE8613C2C35}"/>
              </a:ext>
            </a:extLst>
          </p:cNvPr>
          <p:cNvSpPr/>
          <p:nvPr/>
        </p:nvSpPr>
        <p:spPr>
          <a:xfrm>
            <a:off x="812800" y="1930400"/>
            <a:ext cx="10566400" cy="12700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7D29F801-3A92-4B88-C30B-576ADDDF9A0C}"/>
              </a:ext>
            </a:extLst>
          </p:cNvPr>
          <p:cNvSpPr/>
          <p:nvPr/>
        </p:nvSpPr>
        <p:spPr>
          <a:xfrm>
            <a:off x="1092200" y="21844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AEBCEF8-8151-C70D-0FED-C6FCD2429DAC}"/>
              </a:ext>
            </a:extLst>
          </p:cNvPr>
          <p:cNvSpPr txBox="1"/>
          <p:nvPr/>
        </p:nvSpPr>
        <p:spPr>
          <a:xfrm>
            <a:off x="1092200" y="21844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AEDE163-E0BD-9A21-A496-902BF221ADEF}"/>
              </a:ext>
            </a:extLst>
          </p:cNvPr>
          <p:cNvSpPr txBox="1"/>
          <p:nvPr/>
        </p:nvSpPr>
        <p:spPr>
          <a:xfrm>
            <a:off x="1651000" y="21590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画面に「表示を復旧しています」と出ます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1CB7DC1-D8D5-073C-63DB-4F403315D70E}"/>
              </a:ext>
            </a:extLst>
          </p:cNvPr>
          <p:cNvSpPr txBox="1"/>
          <p:nvPr/>
        </p:nvSpPr>
        <p:spPr>
          <a:xfrm>
            <a:off x="1651000" y="2501900"/>
            <a:ext cx="93472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フォルダ内のファイルがすべて読み込めない状態です。管理画面を開くと「壊れたファイル」ダイアログで対象ファイル名が出ます。文言は「復帰不能時メッセージ」で変更できます。</a:t>
            </a: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05F646E4-6400-3FA1-F4B1-A5C0EB7C9F09}"/>
              </a:ext>
            </a:extLst>
          </p:cNvPr>
          <p:cNvSpPr/>
          <p:nvPr/>
        </p:nvSpPr>
        <p:spPr>
          <a:xfrm>
            <a:off x="812800" y="33528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A9249339-B907-433A-0DF9-9CAA9BC8E77A}"/>
              </a:ext>
            </a:extLst>
          </p:cNvPr>
          <p:cNvSpPr/>
          <p:nvPr/>
        </p:nvSpPr>
        <p:spPr>
          <a:xfrm>
            <a:off x="1092200" y="36068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29F091C-5305-BBC5-31DF-8DFCD0FCB7DB}"/>
              </a:ext>
            </a:extLst>
          </p:cNvPr>
          <p:cNvSpPr txBox="1"/>
          <p:nvPr/>
        </p:nvSpPr>
        <p:spPr>
          <a:xfrm>
            <a:off x="1092200" y="36068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43EA77B-3870-74AB-EF4B-AE9CD1820327}"/>
              </a:ext>
            </a:extLst>
          </p:cNvPr>
          <p:cNvSpPr txBox="1"/>
          <p:nvPr/>
        </p:nvSpPr>
        <p:spPr>
          <a:xfrm>
            <a:off x="1651000" y="35814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壊れたファイルがあるか知りたい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7B25D6DC-A6D3-ED75-D73A-D7086BC6833E}"/>
              </a:ext>
            </a:extLst>
          </p:cNvPr>
          <p:cNvSpPr txBox="1"/>
          <p:nvPr/>
        </p:nvSpPr>
        <p:spPr>
          <a:xfrm>
            <a:off x="1651000" y="39243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管理画面（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）を開くたびに、「壊れたファイル」ダイアログで対象ファイル名が出ます。再生は続き、壊れたファイルだけ飛ばします。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799A478D-D68B-5A3A-F898-C1AF0E58F796}"/>
              </a:ext>
            </a:extLst>
          </p:cNvPr>
          <p:cNvSpPr/>
          <p:nvPr/>
        </p:nvSpPr>
        <p:spPr>
          <a:xfrm>
            <a:off x="812800" y="4673600"/>
            <a:ext cx="10566400" cy="12700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DA866A32-9DA2-EA6C-1C73-BC99A9328447}"/>
              </a:ext>
            </a:extLst>
          </p:cNvPr>
          <p:cNvSpPr/>
          <p:nvPr/>
        </p:nvSpPr>
        <p:spPr>
          <a:xfrm>
            <a:off x="1092200" y="49276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4553616-8560-10AF-5C06-BE189C100AA5}"/>
              </a:ext>
            </a:extLst>
          </p:cNvPr>
          <p:cNvSpPr txBox="1"/>
          <p:nvPr/>
        </p:nvSpPr>
        <p:spPr>
          <a:xfrm>
            <a:off x="1092200" y="49276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F50CB97-EDFE-66B8-1BF5-D65DEF236EA4}"/>
              </a:ext>
            </a:extLst>
          </p:cNvPr>
          <p:cNvSpPr txBox="1"/>
          <p:nvPr/>
        </p:nvSpPr>
        <p:spPr>
          <a:xfrm>
            <a:off x="1651000" y="49022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複数の </a:t>
            </a:r>
            <a:r>
              <a:rPr kumimoji="1" lang="en-US" altLang="ja-JP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で同じフォルダを見せたい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181AFFCE-1B35-E742-FFAE-A5938FD76568}"/>
              </a:ext>
            </a:extLst>
          </p:cNvPr>
          <p:cNvSpPr txBox="1"/>
          <p:nvPr/>
        </p:nvSpPr>
        <p:spPr>
          <a:xfrm>
            <a:off x="1651000" y="5245100"/>
            <a:ext cx="93472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各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にアプリを入れて同じ共有フォルダを指定する運用は可能ですが、ネットワーク共有パスの正式サポートは将来拡張です。まずはローカルフォルダを推奨します。アクセス制限は導入先の共有設定に任せ、アプリでは権限管理しません。</a:t>
            </a:r>
          </a:p>
        </p:txBody>
      </p:sp>
    </p:spTree>
    <p:extLst>
      <p:ext uri="{BB962C8B-B14F-4D97-AF65-F5344CB8AC3E}">
        <p14:creationId xmlns:p14="http://schemas.microsoft.com/office/powerpoint/2010/main" val="26572593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A2A5BDE-D5F3-9F46-1320-A23A1D1303F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A3ACA24-4A1D-2BDA-8CDE-FA3000F0810E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50839C0-0D8C-73CE-CDD5-EF67E2A14E85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FAQ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77B2E6C-1B36-18D7-34A8-1FFF6B8AA2E5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よくある質問（</a:t>
            </a:r>
            <a:r>
              <a:rPr kumimoji="1" lang="en-US" altLang="ja-JP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3/3</a:t>
            </a: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7F54443-E8E5-7CFB-087E-282BD22F3F33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155F9B9-929B-A785-0010-470218EB4081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AB2A4BC-DD1A-1B5B-B4EB-DC57E3B7CC36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17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17114E96-9257-C768-0758-C82453B2C061}"/>
              </a:ext>
            </a:extLst>
          </p:cNvPr>
          <p:cNvSpPr/>
          <p:nvPr/>
        </p:nvSpPr>
        <p:spPr>
          <a:xfrm>
            <a:off x="812800" y="19304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BBEE65CC-C945-4874-FDD8-7E7A532BA00D}"/>
              </a:ext>
            </a:extLst>
          </p:cNvPr>
          <p:cNvSpPr/>
          <p:nvPr/>
        </p:nvSpPr>
        <p:spPr>
          <a:xfrm>
            <a:off x="1092200" y="21844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F533B3A-C648-81C3-A9E0-918212EBEB82}"/>
              </a:ext>
            </a:extLst>
          </p:cNvPr>
          <p:cNvSpPr txBox="1"/>
          <p:nvPr/>
        </p:nvSpPr>
        <p:spPr>
          <a:xfrm>
            <a:off x="1092200" y="21844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F17C627-9B73-A78E-7D39-979CE61C9D0A}"/>
              </a:ext>
            </a:extLst>
          </p:cNvPr>
          <p:cNvSpPr txBox="1"/>
          <p:nvPr/>
        </p:nvSpPr>
        <p:spPr>
          <a:xfrm>
            <a:off x="1651000" y="21590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画面の下に「契約期限が切れています」と出る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BE8A366-AA47-5B5F-73E4-978EB524684B}"/>
              </a:ext>
            </a:extLst>
          </p:cNvPr>
          <p:cNvSpPr txBox="1"/>
          <p:nvPr/>
        </p:nvSpPr>
        <p:spPr>
          <a:xfrm>
            <a:off x="1651000" y="25019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試用または契約の期限が切れています。表示はそのまま続きます。届いたアクセスキーを、管理画面（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）に貼り付けて「アクセスキーを適用」してください。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38774059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625DF34-59DC-9DAB-F02B-BA3C8E88DD3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005EED2-A6CF-BEEA-52D4-4C1F4DBE1B9C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FCC1559-7713-0717-7039-D2BC205FC8DE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CHEAT SHEET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76523C5-C463-9D52-F6F0-5A02523F3FA2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操作の早見表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EC17D29-B3D2-2A23-3B52-DE9EAC6D2BBC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C3B99CD-F1BB-3BDA-DB7F-05D1B8ED522D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7D2BB41-F5DD-2957-B0FC-C2C0277B19E7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18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FCF592C-3D77-E1CC-47D7-0AB905B97077}"/>
              </a:ext>
            </a:extLst>
          </p:cNvPr>
          <p:cNvSpPr txBox="1"/>
          <p:nvPr/>
        </p:nvSpPr>
        <p:spPr>
          <a:xfrm>
            <a:off x="812800" y="1930400"/>
            <a:ext cx="5130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graphicFrame>
        <p:nvGraphicFramePr>
          <p:cNvPr id="10" name="表 9">
            <a:extLst>
              <a:ext uri="{FF2B5EF4-FFF2-40B4-BE49-F238E27FC236}">
                <a16:creationId xmlns:a16="http://schemas.microsoft.com/office/drawing/2014/main" id="{1657DDB5-356D-11FB-99DE-D858B6FB9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4571974"/>
              </p:ext>
            </p:extLst>
          </p:nvPr>
        </p:nvGraphicFramePr>
        <p:xfrm>
          <a:off x="812800" y="2336800"/>
          <a:ext cx="5130800" cy="32004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2573741416"/>
                    </a:ext>
                  </a:extLst>
                </a:gridCol>
                <a:gridCol w="3225800">
                  <a:extLst>
                    <a:ext uri="{9D8B030D-6E8A-4147-A177-3AD203B41FA5}">
                      <a16:colId xmlns:a16="http://schemas.microsoft.com/office/drawing/2014/main" val="3916735040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やりたいこと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操作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0050605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表示を追加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監視フォルダ直下にファイルを保存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191484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表示を削除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監視フォルダからファイルを削除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58917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表示順を変える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ファイル名を変更（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001, 002 …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2954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表示時間を変える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末尾に 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_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秒数（動画を除く）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31879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再生期限を付ける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末尾に 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_20260904 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のような日付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6867235"/>
                  </a:ext>
                </a:extLst>
              </a:tr>
            </a:tbl>
          </a:graphicData>
        </a:graphic>
      </p:graphicFrame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33982E2-4DA6-1B31-3AA7-CB0224DA2DDF}"/>
              </a:ext>
            </a:extLst>
          </p:cNvPr>
          <p:cNvSpPr txBox="1"/>
          <p:nvPr/>
        </p:nvSpPr>
        <p:spPr>
          <a:xfrm>
            <a:off x="6248400" y="1930400"/>
            <a:ext cx="5130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graphicFrame>
        <p:nvGraphicFramePr>
          <p:cNvPr id="12" name="表 11">
            <a:extLst>
              <a:ext uri="{FF2B5EF4-FFF2-40B4-BE49-F238E27FC236}">
                <a16:creationId xmlns:a16="http://schemas.microsoft.com/office/drawing/2014/main" id="{0C0B8DD7-6FC1-C4FE-185F-F77EDC9DF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0512195"/>
              </p:ext>
            </p:extLst>
          </p:nvPr>
        </p:nvGraphicFramePr>
        <p:xfrm>
          <a:off x="6248400" y="2336800"/>
          <a:ext cx="5130800" cy="3149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1467100138"/>
                    </a:ext>
                  </a:extLst>
                </a:gridCol>
                <a:gridCol w="3225800">
                  <a:extLst>
                    <a:ext uri="{9D8B030D-6E8A-4147-A177-3AD203B41FA5}">
                      <a16:colId xmlns:a16="http://schemas.microsoft.com/office/drawing/2014/main" val="1649736606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やりたいこと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2563EB"/>
                      </a:solidFill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操作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2563EB"/>
                      </a:solidFill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315752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設定を変更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2563EB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Ctrl</a:t>
                      </a: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＋</a:t>
                      </a:r>
                      <a:r>
                        <a:rPr kumimoji="1" lang="en-US" altLang="ja-JP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Shift</a:t>
                      </a: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＋</a:t>
                      </a:r>
                      <a:r>
                        <a:rPr kumimoji="1" lang="en-US" altLang="ja-JP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M →</a:t>
                      </a: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変更→「保存して設定する」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2563EB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044279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キオスクに戻る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「通常モード（キオスク）に戻る」または </a:t>
                      </a:r>
                      <a:r>
                        <a:rPr kumimoji="1" lang="en-US" altLang="ja-JP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Ctrl</a:t>
                      </a: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＋</a:t>
                      </a:r>
                      <a:r>
                        <a:rPr kumimoji="1" lang="en-US" altLang="ja-JP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Shift</a:t>
                      </a: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＋</a:t>
                      </a:r>
                      <a:r>
                        <a:rPr kumimoji="1" lang="en-US" altLang="ja-JP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M</a:t>
                      </a:r>
                      <a:endParaRPr kumimoji="1" lang="ja-JP" altLang="en-US" sz="110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799248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アプリを終了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管理画面の「アプリを終了」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924491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夜に止めて朝始める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アプリ終了時刻・</a:t>
                      </a:r>
                      <a:r>
                        <a:rPr kumimoji="1" lang="en-US" altLang="ja-JP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PC </a:t>
                      </a: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電源オフ時刻＋自動起動を </a:t>
                      </a:r>
                      <a:r>
                        <a:rPr kumimoji="1" lang="en-US" altLang="ja-JP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ON</a:t>
                      </a:r>
                      <a:endParaRPr kumimoji="1" lang="ja-JP" altLang="en-US" sz="110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368393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アクセスキーを入れる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貼り付け →「アクセスキーを適用」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768769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ログの場所を確認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管理画面の「ログフォルダ」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8326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16620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C8AC3AE-EA76-1434-1887-F2B57369BE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82E7BFE-BF37-C230-00F8-C31E999595D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C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928769F1-5BFC-CA81-70B7-A5B480D85020}"/>
              </a:ext>
            </a:extLst>
          </p:cNvPr>
          <p:cNvSpPr/>
          <p:nvPr/>
        </p:nvSpPr>
        <p:spPr>
          <a:xfrm>
            <a:off x="-2032000" y="3810000"/>
            <a:ext cx="5842000" cy="5842000"/>
          </a:xfrm>
          <a:prstGeom prst="ellipse">
            <a:avLst/>
          </a:prstGeom>
          <a:solidFill>
            <a:srgbClr val="2563EB">
              <a:alpha val="1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2D59EE0-4E89-C0C9-835A-324CA353CE98}"/>
              </a:ext>
            </a:extLst>
          </p:cNvPr>
          <p:cNvSpPr/>
          <p:nvPr/>
        </p:nvSpPr>
        <p:spPr>
          <a:xfrm>
            <a:off x="812800" y="1219200"/>
            <a:ext cx="863600" cy="635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E29DC6C-8EDD-33F6-B299-BAC174E1FE6E}"/>
              </a:ext>
            </a:extLst>
          </p:cNvPr>
          <p:cNvSpPr txBox="1"/>
          <p:nvPr/>
        </p:nvSpPr>
        <p:spPr>
          <a:xfrm>
            <a:off x="812800" y="1574800"/>
            <a:ext cx="76200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38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困ったときは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6457AEA-2E17-2A16-AA9F-9F62A9347E83}"/>
              </a:ext>
            </a:extLst>
          </p:cNvPr>
          <p:cNvSpPr txBox="1"/>
          <p:nvPr/>
        </p:nvSpPr>
        <p:spPr>
          <a:xfrm>
            <a:off x="812800" y="2463800"/>
            <a:ext cx="8890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まずは「反映は次のスライドから」「フォルダ直下だけ」「</a:t>
            </a:r>
            <a:r>
              <a:rPr kumimoji="1" lang="en-US" altLang="ja-JP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</a:t>
            </a: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</a:t>
            </a: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」の </a:t>
            </a:r>
            <a:r>
              <a:rPr kumimoji="1" lang="en-US" altLang="ja-JP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 </a:t>
            </a: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つを確認。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330CFDDE-B1B3-BECE-6553-90B62E2FCA50}"/>
              </a:ext>
            </a:extLst>
          </p:cNvPr>
          <p:cNvSpPr/>
          <p:nvPr/>
        </p:nvSpPr>
        <p:spPr>
          <a:xfrm>
            <a:off x="812800" y="3225800"/>
            <a:ext cx="3352800" cy="1473200"/>
          </a:xfrm>
          <a:prstGeom prst="roundRect">
            <a:avLst>
              <a:gd name="adj" fmla="val 9000"/>
            </a:avLst>
          </a:prstGeom>
          <a:solidFill>
            <a:srgbClr val="1B2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3F6CDFD-6FD9-F196-AD16-2AD359B66336}"/>
              </a:ext>
            </a:extLst>
          </p:cNvPr>
          <p:cNvSpPr/>
          <p:nvPr/>
        </p:nvSpPr>
        <p:spPr>
          <a:xfrm>
            <a:off x="1117600" y="3530600"/>
            <a:ext cx="355600" cy="38100"/>
          </a:xfrm>
          <a:prstGeom prst="rect">
            <a:avLst/>
          </a:prstGeom>
          <a:solidFill>
            <a:srgbClr val="7FA6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D33C0BD-546B-F7C4-83DE-91E95BCFA99F}"/>
              </a:ext>
            </a:extLst>
          </p:cNvPr>
          <p:cNvSpPr txBox="1"/>
          <p:nvPr/>
        </p:nvSpPr>
        <p:spPr>
          <a:xfrm>
            <a:off x="1117600" y="3759200"/>
            <a:ext cx="27432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7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運用ガイド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71FB82A-3A04-E7C5-1DB4-4DB8CBCA8B9A}"/>
              </a:ext>
            </a:extLst>
          </p:cNvPr>
          <p:cNvSpPr txBox="1"/>
          <p:nvPr/>
        </p:nvSpPr>
        <p:spPr>
          <a:xfrm>
            <a:off x="1117600" y="4140200"/>
            <a:ext cx="27432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ログ・権限・技術的な制限事項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87CECC17-B96D-0152-4824-880D6016B682}"/>
              </a:ext>
            </a:extLst>
          </p:cNvPr>
          <p:cNvSpPr/>
          <p:nvPr/>
        </p:nvSpPr>
        <p:spPr>
          <a:xfrm>
            <a:off x="4419600" y="3225800"/>
            <a:ext cx="3352800" cy="1473200"/>
          </a:xfrm>
          <a:prstGeom prst="roundRect">
            <a:avLst>
              <a:gd name="adj" fmla="val 9000"/>
            </a:avLst>
          </a:prstGeom>
          <a:solidFill>
            <a:srgbClr val="1B2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DBB2F41-BDEE-5E4A-530D-DA60E242AF00}"/>
              </a:ext>
            </a:extLst>
          </p:cNvPr>
          <p:cNvSpPr/>
          <p:nvPr/>
        </p:nvSpPr>
        <p:spPr>
          <a:xfrm>
            <a:off x="4724400" y="3530600"/>
            <a:ext cx="355600" cy="38100"/>
          </a:xfrm>
          <a:prstGeom prst="rect">
            <a:avLst/>
          </a:prstGeom>
          <a:solidFill>
            <a:srgbClr val="7FA6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98B6FF66-426F-D865-65E4-87F768B74F15}"/>
              </a:ext>
            </a:extLst>
          </p:cNvPr>
          <p:cNvSpPr txBox="1"/>
          <p:nvPr/>
        </p:nvSpPr>
        <p:spPr>
          <a:xfrm>
            <a:off x="4724400" y="3759200"/>
            <a:ext cx="27432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7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受け入れテスト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D5819D5-014C-7044-76FE-AF8E47E2084C}"/>
              </a:ext>
            </a:extLst>
          </p:cNvPr>
          <p:cNvSpPr txBox="1"/>
          <p:nvPr/>
        </p:nvSpPr>
        <p:spPr>
          <a:xfrm>
            <a:off x="4724400" y="4140200"/>
            <a:ext cx="27432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導入時の確認チェックリスト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264DD5FD-22C2-14B0-8832-BEFCB9A5D4EA}"/>
              </a:ext>
            </a:extLst>
          </p:cNvPr>
          <p:cNvSpPr/>
          <p:nvPr/>
        </p:nvSpPr>
        <p:spPr>
          <a:xfrm>
            <a:off x="8026400" y="3225800"/>
            <a:ext cx="3352800" cy="1473200"/>
          </a:xfrm>
          <a:prstGeom prst="roundRect">
            <a:avLst>
              <a:gd name="adj" fmla="val 9000"/>
            </a:avLst>
          </a:prstGeom>
          <a:solidFill>
            <a:srgbClr val="1B2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9F1151E4-4CD3-8C8F-3078-878D679057A2}"/>
              </a:ext>
            </a:extLst>
          </p:cNvPr>
          <p:cNvSpPr/>
          <p:nvPr/>
        </p:nvSpPr>
        <p:spPr>
          <a:xfrm>
            <a:off x="8331200" y="3530600"/>
            <a:ext cx="355600" cy="38100"/>
          </a:xfrm>
          <a:prstGeom prst="rect">
            <a:avLst/>
          </a:prstGeom>
          <a:solidFill>
            <a:srgbClr val="7FA6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F56AB23-3E83-F630-C418-F5397BB43438}"/>
              </a:ext>
            </a:extLst>
          </p:cNvPr>
          <p:cNvSpPr txBox="1"/>
          <p:nvPr/>
        </p:nvSpPr>
        <p:spPr>
          <a:xfrm>
            <a:off x="8331200" y="3759200"/>
            <a:ext cx="27432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7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アプリ要件定義書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0A4FD70-047A-1F35-796D-769720C0371A}"/>
              </a:ext>
            </a:extLst>
          </p:cNvPr>
          <p:cNvSpPr txBox="1"/>
          <p:nvPr/>
        </p:nvSpPr>
        <p:spPr>
          <a:xfrm>
            <a:off x="8331200" y="4140200"/>
            <a:ext cx="27432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機能仕様の詳細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D10F00BE-C09C-DF77-9915-3EE81474D209}"/>
              </a:ext>
            </a:extLst>
          </p:cNvPr>
          <p:cNvSpPr/>
          <p:nvPr/>
        </p:nvSpPr>
        <p:spPr>
          <a:xfrm>
            <a:off x="812800" y="5308600"/>
            <a:ext cx="10566400" cy="12700"/>
          </a:xfrm>
          <a:prstGeom prst="rect">
            <a:avLst/>
          </a:prstGeom>
          <a:solidFill>
            <a:srgbClr val="2E405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AF322060-6CF0-13CB-20E9-01D7801673A9}"/>
              </a:ext>
            </a:extLst>
          </p:cNvPr>
          <p:cNvSpPr txBox="1"/>
          <p:nvPr/>
        </p:nvSpPr>
        <p:spPr>
          <a:xfrm>
            <a:off x="812800" y="5537200"/>
            <a:ext cx="7620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　（出典：操作ガイド</a:t>
            </a:r>
            <a:r>
              <a:rPr kumimoji="1" lang="en-US" altLang="ja-JP" sz="115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.md</a:t>
            </a:r>
            <a:r>
              <a:rPr kumimoji="1" lang="ja-JP" altLang="en-US" sz="115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1862983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2327</Words>
  <Application>Microsoft Office PowerPoint</Application>
  <PresentationFormat>ユーザー設定</PresentationFormat>
  <Paragraphs>317</Paragraphs>
  <Slides>19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19</vt:i4>
      </vt:variant>
    </vt:vector>
  </HeadingPairs>
  <TitlesOfParts>
    <vt:vector size="25" baseType="lpstr">
      <vt:lpstr>Yu Gothic UI</vt:lpstr>
      <vt:lpstr>游ゴシック</vt:lpstr>
      <vt:lpstr>游ゴシック Light</vt:lpstr>
      <vt:lpstr>Arial</vt:lpstr>
      <vt:lpstr>Consolas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Noriyuki Kamata</dc:creator>
  <cp:lastModifiedBy>Noriyuki Kamata</cp:lastModifiedBy>
  <cp:revision>1</cp:revision>
  <dcterms:created xsi:type="dcterms:W3CDTF">2026-09-12T08:33:13Z</dcterms:created>
  <dcterms:modified xsi:type="dcterms:W3CDTF">2026-09-12T08:33:13Z</dcterms:modified>
</cp:coreProperties>
</file>