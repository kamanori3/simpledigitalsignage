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ja-JP"/>
    </a:defPPr>
    <a:lvl1pPr marL="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kumimoji="1"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6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685877-0AD3-5630-1409-CA032C39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AB337EF-9348-D83F-0A87-CD6373E26D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E6738C-8764-353D-A02E-FAE97C830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989B81-5006-8E21-E604-BB9382804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583209-5F70-E62D-9BB0-6D36EE64C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5415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8C6C48-DAF0-880B-A73A-B9F4871D5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6958969-886A-17F4-DD76-374B35D8A1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B15BBA-D177-4C03-014D-558BFDCC3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580FCD-39CD-5CE9-FD48-D5908AE60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87C077-E57C-F89F-0FC9-151E75FCC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869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107CB6-32BC-4117-51BA-440BB297D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CC9724A-6D1F-67E7-D62C-3D4A31469F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390086-5943-B692-CD21-0F6710ECD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AB7B280-2205-D861-1A04-39AE6C30A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2671BE-B16B-EE3B-CCC6-B5E493544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754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9D5FF0-E3D6-16DA-F40B-91ED4AE53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EE188E4-96E3-F4FB-AFD1-3B0E5C6B05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EF4320-CCC1-2834-780A-E0B309035A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064FD4-495A-2318-C4BA-E327D4D49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539814-F645-BD06-740C-140EABC58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6F6E3D0-7F37-9D1A-499F-D212F4F7E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0777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15F866-8CF2-FACF-B754-49E8A7F52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9D93884-33AA-AC44-6ACB-37B670BBD1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1F263D0-07C9-7172-955B-ECF747D601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9B0AC56-2A60-DBC1-C156-5FFD58C33B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FE86CCD-2CB1-7389-E32A-EF699A6264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7A20F31-A4E8-4B3F-FF56-B7AFDDE54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B003CA0-3936-3FB8-E799-ABE406BC7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E060918-A322-9FAA-EE26-165F48476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5546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B63E54-A364-3CE1-36B2-0A8253F53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A2D9F12-7B85-C668-B926-3066212C6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6401127-6532-E316-721B-EF929A5B9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9E304F1-9CBA-525D-440B-3BA5C5F55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3744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4959C85-502B-9025-96F6-7AD95C224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7C09797-C769-F436-CAD7-DBC6186DD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98B3821-0B08-B0BC-A70E-5EEF10A01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6965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C19337-0044-9B09-AFAD-1B957132E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9584B6-5A3F-419E-73F8-BFB83298B8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3D4D7E5-3BBB-DBA9-3C52-5F606E06B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0D6CD79-589D-2D17-A9EE-19A3ADA95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72670C-FAD5-A8DF-A1F3-BA7146DFE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040D3F5-7E03-CFE5-512A-4943B3460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913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DE3E76-7137-818D-8058-7952E506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468306F-8DA3-9831-822E-30044F20E7F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A9D6B70-EE0F-01AF-B13B-795EB2D33B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E0C6B1-8640-8ADF-920F-0B4DD4F534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8732050-7A82-3608-8DBA-935B68EAC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93ADE47-EEE7-7553-ACA0-03A685431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18383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345035-2D55-DFCB-952E-7727228E0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D95A253-5356-051B-011A-D9B9C31FD0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620DC0-F54E-3387-C531-124D077BD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F71E7BB-D308-76E4-0DF3-B612AE118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95C5FA-82DE-D213-6AE6-5E4B4A064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1861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6E7C414-66E7-F906-6D05-CF0B1F90C0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EE3F832-1457-711D-CF03-F2AA31D9F3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30B729D-9749-4342-33BD-FD328AB86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AB3B45-4F81-FD78-44E5-0AE0ECDB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11E1A2-2609-6E79-37A5-E16AB7B81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9007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7A452FA-A080-8A25-5CB0-C61F6A6DD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B748C1-570F-D545-4B6E-0122C7CC22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A5988C9-3810-14D6-6600-3117396D0E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AF9151-B4D5-4853-B3DF-A49ABAA47EA4}" type="datetimeFigureOut">
              <a:rPr kumimoji="1" lang="ja-JP" altLang="en-US" smtClean="0"/>
              <a:t>2026/9/12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85187A-EC6D-77DD-DDBE-95288C08B7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B6B1F5-00C7-0376-EE4B-48C138B792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FC30E-8BFB-49C6-8EBE-0FD3875BE9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5630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C4CBA6C-D784-E793-7B18-0CA3BA1A0D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5A40F0-E5E0-48CF-C92A-1124C153FB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A47BC97-152F-168D-352C-43CA6B463774}"/>
              </a:ext>
            </a:extLst>
          </p:cNvPr>
          <p:cNvSpPr/>
          <p:nvPr/>
        </p:nvSpPr>
        <p:spPr>
          <a:xfrm>
            <a:off x="7747000" y="-1778000"/>
            <a:ext cx="6604000" cy="6604000"/>
          </a:xfrm>
          <a:prstGeom prst="ellipse">
            <a:avLst/>
          </a:prstGeom>
          <a:solidFill>
            <a:srgbClr val="2563EB">
              <a:alpha val="18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D7E6DAA6-F2EF-4578-34C9-900813133D06}"/>
              </a:ext>
            </a:extLst>
          </p:cNvPr>
          <p:cNvSpPr/>
          <p:nvPr/>
        </p:nvSpPr>
        <p:spPr>
          <a:xfrm>
            <a:off x="9271000" y="3175000"/>
            <a:ext cx="4826000" cy="4826000"/>
          </a:xfrm>
          <a:prstGeom prst="ellipse">
            <a:avLst/>
          </a:prstGeom>
          <a:solidFill>
            <a:srgbClr val="0F8E92">
              <a:alpha val="14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5DC962D-2979-3948-23CF-89FFB395E78F}"/>
              </a:ext>
            </a:extLst>
          </p:cNvPr>
          <p:cNvSpPr/>
          <p:nvPr/>
        </p:nvSpPr>
        <p:spPr>
          <a:xfrm>
            <a:off x="812800" y="19050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6507C30-A245-E55E-90A4-F01D8BDBCF45}"/>
              </a:ext>
            </a:extLst>
          </p:cNvPr>
          <p:cNvSpPr txBox="1"/>
          <p:nvPr/>
        </p:nvSpPr>
        <p:spPr>
          <a:xfrm>
            <a:off x="812800" y="1498600"/>
            <a:ext cx="635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SIMPLE DIGITAL SIGNAGE</a:t>
            </a:r>
            <a:endParaRPr kumimoji="1" lang="ja-JP" altLang="en-US" sz="125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9C6C911-8183-FE3B-43ED-4B9363D10E00}"/>
              </a:ext>
            </a:extLst>
          </p:cNvPr>
          <p:cNvSpPr txBox="1"/>
          <p:nvPr/>
        </p:nvSpPr>
        <p:spPr>
          <a:xfrm>
            <a:off x="812800" y="2286000"/>
            <a:ext cx="78740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52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操作ガイド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F910952-02F2-B9A2-1009-0F9F829425A1}"/>
              </a:ext>
            </a:extLst>
          </p:cNvPr>
          <p:cNvSpPr txBox="1"/>
          <p:nvPr/>
        </p:nvSpPr>
        <p:spPr>
          <a:xfrm>
            <a:off x="812800" y="3378200"/>
            <a:ext cx="7112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フォルダに入れるだけ。あとは全画面で自動ループ。</a:t>
            </a:r>
          </a:p>
          <a:p>
            <a:pPr>
              <a:lnSpc>
                <a:spcPct val="150000"/>
              </a:lnSpc>
            </a:pPr>
            <a:r>
              <a:rPr kumimoji="1" lang="en-US" altLang="ja-JP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5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・画像・動画をそのまま掲示できるサイネージアプリの使いかた。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EC134D26-3A1A-805A-0223-7F1DCBAA4BCE}"/>
              </a:ext>
            </a:extLst>
          </p:cNvPr>
          <p:cNvSpPr/>
          <p:nvPr/>
        </p:nvSpPr>
        <p:spPr>
          <a:xfrm>
            <a:off x="812800" y="4546600"/>
            <a:ext cx="1884680" cy="3810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B8209D9-6B4D-E786-9587-E76FEE1EF7B9}"/>
              </a:ext>
            </a:extLst>
          </p:cNvPr>
          <p:cNvSpPr txBox="1"/>
          <p:nvPr/>
        </p:nvSpPr>
        <p:spPr>
          <a:xfrm>
            <a:off x="812800" y="4546600"/>
            <a:ext cx="188468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コンテンツ担当者向け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472667-C64F-32B9-FB3F-344669226A5F}"/>
              </a:ext>
            </a:extLst>
          </p:cNvPr>
          <p:cNvSpPr/>
          <p:nvPr/>
        </p:nvSpPr>
        <p:spPr>
          <a:xfrm>
            <a:off x="2946400" y="4546600"/>
            <a:ext cx="1729232" cy="381000"/>
          </a:xfrm>
          <a:prstGeom prst="roundRect">
            <a:avLst>
              <a:gd name="adj" fmla="val 50000"/>
            </a:avLst>
          </a:prstGeom>
          <a:solidFill>
            <a:srgbClr val="17414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8A2BE9D-6D62-C5A8-D598-FDA2C4C43F82}"/>
              </a:ext>
            </a:extLst>
          </p:cNvPr>
          <p:cNvSpPr txBox="1"/>
          <p:nvPr/>
        </p:nvSpPr>
        <p:spPr>
          <a:xfrm>
            <a:off x="2946400" y="4546600"/>
            <a:ext cx="1729232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200" b="1">
                <a:solidFill>
                  <a:srgbClr val="A9DDD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システム管理者向け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9B9BBEA-D7C5-2335-D78E-E543141D202F}"/>
              </a:ext>
            </a:extLst>
          </p:cNvPr>
          <p:cNvSpPr/>
          <p:nvPr/>
        </p:nvSpPr>
        <p:spPr>
          <a:xfrm>
            <a:off x="812800" y="5486400"/>
            <a:ext cx="38100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2F2E9C1-B328-074D-CA3F-CC094A015CD0}"/>
              </a:ext>
            </a:extLst>
          </p:cNvPr>
          <p:cNvSpPr txBox="1"/>
          <p:nvPr/>
        </p:nvSpPr>
        <p:spPr>
          <a:xfrm>
            <a:off x="812800" y="5689600"/>
            <a:ext cx="609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2026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年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月版　｜　操作ガイド</a:t>
            </a:r>
            <a:r>
              <a:rPr kumimoji="1" lang="en-US" altLang="ja-JP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 </a:t>
            </a:r>
            <a:r>
              <a:rPr kumimoji="1" lang="ja-JP" altLang="en-US" sz="110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より作成</a:t>
            </a:r>
          </a:p>
        </p:txBody>
      </p:sp>
    </p:spTree>
    <p:extLst>
      <p:ext uri="{BB962C8B-B14F-4D97-AF65-F5344CB8AC3E}">
        <p14:creationId xmlns:p14="http://schemas.microsoft.com/office/powerpoint/2010/main" val="1631927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AA880BD-E19D-C546-C1ED-57B065F932B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75D2A0E-6C08-907C-EFC7-88012326469E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FC2915C-3E48-47FB-DEB8-7D40F14752CA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OVERVIEW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216B0E3-D358-A5E5-0805-4A2D9ED57CC7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このガイドの対象と役割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085AAF-D049-E762-0F10-3EF2B78908B7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1DD6026-5271-E1B7-AC61-E05534247306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3DA0607-EF85-1341-91F3-6EB7722AB520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B0C41FB-F88F-5784-0045-14BFA090820A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日常の運用は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つの役割に分かれます。自分の役割のページだけ読めば運用できます。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9DB045EF-2BFD-F625-1781-5BA3D9F0F993}"/>
              </a:ext>
            </a:extLst>
          </p:cNvPr>
          <p:cNvSpPr/>
          <p:nvPr/>
        </p:nvSpPr>
        <p:spPr>
          <a:xfrm>
            <a:off x="8128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E32601B-C270-6085-7DA7-6D52D8391C4E}"/>
              </a:ext>
            </a:extLst>
          </p:cNvPr>
          <p:cNvSpPr/>
          <p:nvPr/>
        </p:nvSpPr>
        <p:spPr>
          <a:xfrm>
            <a:off x="812800" y="2362200"/>
            <a:ext cx="5130800" cy="635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63649E4-F502-6CE1-B5CF-99247453E6E9}"/>
              </a:ext>
            </a:extLst>
          </p:cNvPr>
          <p:cNvSpPr/>
          <p:nvPr/>
        </p:nvSpPr>
        <p:spPr>
          <a:xfrm>
            <a:off x="11430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6A2B157-30C9-30DC-BF5B-CDBCC755AC6F}"/>
              </a:ext>
            </a:extLst>
          </p:cNvPr>
          <p:cNvSpPr txBox="1"/>
          <p:nvPr/>
        </p:nvSpPr>
        <p:spPr>
          <a:xfrm>
            <a:off x="11430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01</a:t>
            </a:r>
            <a:endParaRPr kumimoji="1" lang="ja-JP" altLang="en-US" sz="10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A4117C2-247D-9744-45A5-CD507DBFAB78}"/>
              </a:ext>
            </a:extLst>
          </p:cNvPr>
          <p:cNvSpPr txBox="1"/>
          <p:nvPr/>
        </p:nvSpPr>
        <p:spPr>
          <a:xfrm>
            <a:off x="11430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A83DFDC-843C-BC0F-C47B-D848DD97D870}"/>
              </a:ext>
            </a:extLst>
          </p:cNvPr>
          <p:cNvSpPr txBox="1"/>
          <p:nvPr/>
        </p:nvSpPr>
        <p:spPr>
          <a:xfrm>
            <a:off x="11430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表示するファイルを扱う人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C1ABD17-BB50-09A6-BC01-83BBDD9A9714}"/>
              </a:ext>
            </a:extLst>
          </p:cNvPr>
          <p:cNvSpPr txBox="1"/>
          <p:nvPr/>
        </p:nvSpPr>
        <p:spPr>
          <a:xfrm>
            <a:off x="11430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・表示したいファイルをフォルダに入れる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・不要になったファイルを削除する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・ファイル名で表示順・表示時間・再生期限を調整する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7AB1DF72-3D0C-B858-54C5-C465491F8443}"/>
              </a:ext>
            </a:extLst>
          </p:cNvPr>
          <p:cNvSpPr/>
          <p:nvPr/>
        </p:nvSpPr>
        <p:spPr>
          <a:xfrm>
            <a:off x="6248400" y="2362200"/>
            <a:ext cx="5130800" cy="299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B9BF57D-7B62-A459-7FDD-05D9182B76C6}"/>
              </a:ext>
            </a:extLst>
          </p:cNvPr>
          <p:cNvSpPr/>
          <p:nvPr/>
        </p:nvSpPr>
        <p:spPr>
          <a:xfrm>
            <a:off x="6248400" y="23622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5C6D2999-9FA5-96C4-8A9B-6BBB1F48A691}"/>
              </a:ext>
            </a:extLst>
          </p:cNvPr>
          <p:cNvSpPr/>
          <p:nvPr/>
        </p:nvSpPr>
        <p:spPr>
          <a:xfrm>
            <a:off x="6578600" y="2692400"/>
            <a:ext cx="82804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8A12847-4B8A-D199-BCB2-70339EEEED14}"/>
              </a:ext>
            </a:extLst>
          </p:cNvPr>
          <p:cNvSpPr txBox="1"/>
          <p:nvPr/>
        </p:nvSpPr>
        <p:spPr>
          <a:xfrm>
            <a:off x="6578600" y="2692400"/>
            <a:ext cx="82804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ROLE 02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D675B67-7C29-606C-2D97-E42E1268ACA6}"/>
              </a:ext>
            </a:extLst>
          </p:cNvPr>
          <p:cNvSpPr txBox="1"/>
          <p:nvPr/>
        </p:nvSpPr>
        <p:spPr>
          <a:xfrm>
            <a:off x="6578600" y="3098800"/>
            <a:ext cx="4470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1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31D03E4-DC3B-7C1B-283A-6C5303BF70F3}"/>
              </a:ext>
            </a:extLst>
          </p:cNvPr>
          <p:cNvSpPr txBox="1"/>
          <p:nvPr/>
        </p:nvSpPr>
        <p:spPr>
          <a:xfrm>
            <a:off x="6578600" y="3505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アプリと設定を扱う人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018EE19-D6F2-65E8-95A9-9565D180ECC3}"/>
              </a:ext>
            </a:extLst>
          </p:cNvPr>
          <p:cNvSpPr txBox="1"/>
          <p:nvPr/>
        </p:nvSpPr>
        <p:spPr>
          <a:xfrm>
            <a:off x="6578600" y="3937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・アプリの起動と管理画面の操作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・監視フォルダ・表示秒数などの設定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・夜間停止と朝の自動起動、ログの確認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2AF325EB-ECA2-6CBF-5FF9-6ACA75BF9EB3}"/>
              </a:ext>
            </a:extLst>
          </p:cNvPr>
          <p:cNvSpPr/>
          <p:nvPr/>
        </p:nvSpPr>
        <p:spPr>
          <a:xfrm>
            <a:off x="812800" y="5638800"/>
            <a:ext cx="10566400" cy="584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DD4E6EE6-E71B-B6E4-084F-34986E61989E}"/>
              </a:ext>
            </a:extLst>
          </p:cNvPr>
          <p:cNvSpPr/>
          <p:nvPr/>
        </p:nvSpPr>
        <p:spPr>
          <a:xfrm>
            <a:off x="812800" y="5638800"/>
            <a:ext cx="50800" cy="5842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1B11E72-07AC-7F6E-D092-DADF138A4EB8}"/>
              </a:ext>
            </a:extLst>
          </p:cNvPr>
          <p:cNvSpPr txBox="1"/>
          <p:nvPr/>
        </p:nvSpPr>
        <p:spPr>
          <a:xfrm>
            <a:off x="1092200" y="5638800"/>
            <a:ext cx="581152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MEMO</a:t>
            </a:r>
            <a:endParaRPr kumimoji="1" lang="ja-JP" altLang="en-US" sz="1150" b="1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460F9DE-D4D1-B414-49D2-C5D37CF2EFFB}"/>
              </a:ext>
            </a:extLst>
          </p:cNvPr>
          <p:cNvSpPr txBox="1"/>
          <p:nvPr/>
        </p:nvSpPr>
        <p:spPr>
          <a:xfrm>
            <a:off x="1673352" y="5638800"/>
            <a:ext cx="9426448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ログ・権限・技術的な制限事項などの詳細は「運用ガイド」を参照してください。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3129326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008C1E7-1E69-FD7B-6627-194CDC29DDA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E8B0532-CC09-FC18-EC2A-9A1B157C25BB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82D3CF7-8F05-8190-8784-F40586530C33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HOW IT WORKS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F445AF-04BD-DA36-ACAB-C06D8B1BFE07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表示のしくみ（全体像）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3FB8F2E-3499-CA84-E1F5-28020DFA5F08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FA3D1F0-448A-4F4A-6688-A45163D6927A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2188B5E-1EA4-5ED6-5095-BE857A244F1B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A1C294-A42D-3A56-1910-8D5A3C1FC7A5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操作はフォルダにファイルを置くだけ。検知も表示もアプリが自動で行います。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441BCD2C-C860-1472-50D4-93820328D2A8}"/>
              </a:ext>
            </a:extLst>
          </p:cNvPr>
          <p:cNvSpPr/>
          <p:nvPr/>
        </p:nvSpPr>
        <p:spPr>
          <a:xfrm>
            <a:off x="8128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7BD8B511-038A-AC09-723E-DF0483213DF9}"/>
              </a:ext>
            </a:extLst>
          </p:cNvPr>
          <p:cNvSpPr/>
          <p:nvPr/>
        </p:nvSpPr>
        <p:spPr>
          <a:xfrm>
            <a:off x="11176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D6C6142-9E3A-79D6-5B28-35F7126F5F6B}"/>
              </a:ext>
            </a:extLst>
          </p:cNvPr>
          <p:cNvSpPr txBox="1"/>
          <p:nvPr/>
        </p:nvSpPr>
        <p:spPr>
          <a:xfrm>
            <a:off x="11176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ED5E80C-3B38-C42E-2856-E8EFAFF3609A}"/>
              </a:ext>
            </a:extLst>
          </p:cNvPr>
          <p:cNvSpPr txBox="1"/>
          <p:nvPr/>
        </p:nvSpPr>
        <p:spPr>
          <a:xfrm>
            <a:off x="11176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ファイルを置く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D450DAF-2E8A-EAA4-BEF1-721150E86FCD}"/>
              </a:ext>
            </a:extLst>
          </p:cNvPr>
          <p:cNvSpPr txBox="1"/>
          <p:nvPr/>
        </p:nvSpPr>
        <p:spPr>
          <a:xfrm>
            <a:off x="11176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指定した監視フォルダの直下に</a:t>
            </a:r>
          </a:p>
          <a:p>
            <a:pPr>
              <a:lnSpc>
                <a:spcPct val="14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・画像・動画を保存します。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1E2C7CE7-984C-283D-4948-881C4A145FE8}"/>
              </a:ext>
            </a:extLst>
          </p:cNvPr>
          <p:cNvSpPr/>
          <p:nvPr/>
        </p:nvSpPr>
        <p:spPr>
          <a:xfrm>
            <a:off x="45085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楕円 15">
            <a:extLst>
              <a:ext uri="{FF2B5EF4-FFF2-40B4-BE49-F238E27FC236}">
                <a16:creationId xmlns:a16="http://schemas.microsoft.com/office/drawing/2014/main" id="{DC0AF2A8-FB35-FDBB-45A3-D4896D84AC0B}"/>
              </a:ext>
            </a:extLst>
          </p:cNvPr>
          <p:cNvSpPr/>
          <p:nvPr/>
        </p:nvSpPr>
        <p:spPr>
          <a:xfrm>
            <a:off x="48133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A494EF7-F297-5117-963A-32099F3310B4}"/>
              </a:ext>
            </a:extLst>
          </p:cNvPr>
          <p:cNvSpPr txBox="1"/>
          <p:nvPr/>
        </p:nvSpPr>
        <p:spPr>
          <a:xfrm>
            <a:off x="48133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E1FEFCE-1067-9142-DB2F-C95B18E34E4C}"/>
              </a:ext>
            </a:extLst>
          </p:cNvPr>
          <p:cNvSpPr txBox="1"/>
          <p:nvPr/>
        </p:nvSpPr>
        <p:spPr>
          <a:xfrm>
            <a:off x="48133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アプリが検知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F62C7DB-A558-2BA0-DE8E-F55C65FA8907}"/>
              </a:ext>
            </a:extLst>
          </p:cNvPr>
          <p:cNvSpPr txBox="1"/>
          <p:nvPr/>
        </p:nvSpPr>
        <p:spPr>
          <a:xfrm>
            <a:off x="48133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追加・削除を自動で見つけて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再生リストを作り直します。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8E6EC81-31DC-436E-65FB-084DB066A5A7}"/>
              </a:ext>
            </a:extLst>
          </p:cNvPr>
          <p:cNvSpPr/>
          <p:nvPr/>
        </p:nvSpPr>
        <p:spPr>
          <a:xfrm>
            <a:off x="8204200" y="2413000"/>
            <a:ext cx="31750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845A070E-3FFC-0FC8-ACF0-6D751FC56C20}"/>
              </a:ext>
            </a:extLst>
          </p:cNvPr>
          <p:cNvSpPr/>
          <p:nvPr/>
        </p:nvSpPr>
        <p:spPr>
          <a:xfrm>
            <a:off x="8509000" y="2717800"/>
            <a:ext cx="457200" cy="457200"/>
          </a:xfrm>
          <a:prstGeom prst="ellipse">
            <a:avLst/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8FECCF5-80B6-FE01-F80A-6176714FA75F}"/>
              </a:ext>
            </a:extLst>
          </p:cNvPr>
          <p:cNvSpPr txBox="1"/>
          <p:nvPr/>
        </p:nvSpPr>
        <p:spPr>
          <a:xfrm>
            <a:off x="8509000" y="2717800"/>
            <a:ext cx="457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5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2584974-DFF9-A59E-C37E-6E0A3C68799E}"/>
              </a:ext>
            </a:extLst>
          </p:cNvPr>
          <p:cNvSpPr txBox="1"/>
          <p:nvPr/>
        </p:nvSpPr>
        <p:spPr>
          <a:xfrm>
            <a:off x="8509000" y="3352800"/>
            <a:ext cx="25654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全画面でループ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8BCD02A-CE5F-44C2-E3C2-C17255499FAF}"/>
              </a:ext>
            </a:extLst>
          </p:cNvPr>
          <p:cNvSpPr txBox="1"/>
          <p:nvPr/>
        </p:nvSpPr>
        <p:spPr>
          <a:xfrm>
            <a:off x="8509000" y="3733800"/>
            <a:ext cx="2565400" cy="838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順番に全画面表示し、</a:t>
            </a:r>
          </a:p>
          <a:p>
            <a:pPr>
              <a:lnSpc>
                <a:spcPct val="14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最後まで行くと先頭へ戻ります。</a:t>
            </a:r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DB25DACF-80EB-B14F-47CC-F8D3168ABE7F}"/>
              </a:ext>
            </a:extLst>
          </p:cNvPr>
          <p:cNvSpPr/>
          <p:nvPr/>
        </p:nvSpPr>
        <p:spPr>
          <a:xfrm>
            <a:off x="40894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68B79AF7-CBE9-F32C-A404-5A82B1572467}"/>
              </a:ext>
            </a:extLst>
          </p:cNvPr>
          <p:cNvSpPr/>
          <p:nvPr/>
        </p:nvSpPr>
        <p:spPr>
          <a:xfrm>
            <a:off x="7785100" y="3327400"/>
            <a:ext cx="317500" cy="254000"/>
          </a:xfrm>
          <a:prstGeom prst="rightArrow">
            <a:avLst/>
          </a:prstGeom>
          <a:solidFill>
            <a:srgbClr val="BFD0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0103812C-B745-4B15-DF77-DEA070D01056}"/>
              </a:ext>
            </a:extLst>
          </p:cNvPr>
          <p:cNvSpPr/>
          <p:nvPr/>
        </p:nvSpPr>
        <p:spPr>
          <a:xfrm>
            <a:off x="812800" y="5130800"/>
            <a:ext cx="10566400" cy="7874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870DE8E1-E151-F31E-01FB-9550911669AC}"/>
              </a:ext>
            </a:extLst>
          </p:cNvPr>
          <p:cNvSpPr/>
          <p:nvPr/>
        </p:nvSpPr>
        <p:spPr>
          <a:xfrm>
            <a:off x="812800" y="5130800"/>
            <a:ext cx="50800" cy="7874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D05C8D5-20C3-1C1E-DEA7-8650C031A1FE}"/>
              </a:ext>
            </a:extLst>
          </p:cNvPr>
          <p:cNvSpPr txBox="1"/>
          <p:nvPr/>
        </p:nvSpPr>
        <p:spPr>
          <a:xfrm>
            <a:off x="1092200" y="5130800"/>
            <a:ext cx="1497584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反映のタイミング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A848F74-B0B9-190B-BD1D-23DA4CD68560}"/>
              </a:ext>
            </a:extLst>
          </p:cNvPr>
          <p:cNvSpPr txBox="1"/>
          <p:nvPr/>
        </p:nvSpPr>
        <p:spPr>
          <a:xfrm>
            <a:off x="2589784" y="5130800"/>
            <a:ext cx="8510016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ファイルを追加・削除しても、いま表示しているスライドが終わったあとに切り替わります。普段は全画面（キオスクモード）のまま運用します。</a:t>
            </a:r>
          </a:p>
        </p:txBody>
      </p:sp>
    </p:spTree>
    <p:extLst>
      <p:ext uri="{BB962C8B-B14F-4D97-AF65-F5344CB8AC3E}">
        <p14:creationId xmlns:p14="http://schemas.microsoft.com/office/powerpoint/2010/main" val="2456260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40B0EC9-0E10-0228-C2F2-06FDB5087AD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1E72BF-49D6-7274-C686-8384803AE8FD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0F1E958-A819-F31F-06A1-48F206C744ED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6C20B31-97CE-34EF-0923-C486E8C22C1C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ファイルを追加する・止める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5365E9D-2C99-6362-7F1A-BE7B0D58D5FA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EA37BB0-C511-871F-56B6-2D718F5B6A39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F2288F9-AF09-387E-81D1-79AE68FC41DD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387FBF9-8BAA-58A1-D209-A86BB8FE5B08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911C495-CB89-B8F2-A144-7F6CA9B5ADB6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8B4A0CD-B748-C38B-F85F-17EC9108F3E5}"/>
              </a:ext>
            </a:extLst>
          </p:cNvPr>
          <p:cNvSpPr/>
          <p:nvPr/>
        </p:nvSpPr>
        <p:spPr>
          <a:xfrm>
            <a:off x="812800" y="19304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楕円 11">
            <a:extLst>
              <a:ext uri="{FF2B5EF4-FFF2-40B4-BE49-F238E27FC236}">
                <a16:creationId xmlns:a16="http://schemas.microsoft.com/office/drawing/2014/main" id="{5DB2BAEA-0F50-437A-92B0-2918C45F5F62}"/>
              </a:ext>
            </a:extLst>
          </p:cNvPr>
          <p:cNvSpPr/>
          <p:nvPr/>
        </p:nvSpPr>
        <p:spPr>
          <a:xfrm>
            <a:off x="1066800" y="21336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0666595-5906-D1A9-E932-8C32CB392B7F}"/>
              </a:ext>
            </a:extLst>
          </p:cNvPr>
          <p:cNvSpPr txBox="1"/>
          <p:nvPr/>
        </p:nvSpPr>
        <p:spPr>
          <a:xfrm>
            <a:off x="1066800" y="2133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5B0C5C1-158B-46EB-1488-AC7040005B1B}"/>
              </a:ext>
            </a:extLst>
          </p:cNvPr>
          <p:cNvSpPr txBox="1"/>
          <p:nvPr/>
        </p:nvSpPr>
        <p:spPr>
          <a:xfrm>
            <a:off x="1625600" y="20828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監視フォルダを開く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64B67EC-4B31-CD1E-1247-434BDD4A585E}"/>
              </a:ext>
            </a:extLst>
          </p:cNvPr>
          <p:cNvSpPr txBox="1"/>
          <p:nvPr/>
        </p:nvSpPr>
        <p:spPr>
          <a:xfrm>
            <a:off x="1625600" y="23622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本番の例：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D:\Signage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（場所は管理者に確認）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533F5BE8-A9C0-4513-51F6-098AE8ADE183}"/>
              </a:ext>
            </a:extLst>
          </p:cNvPr>
          <p:cNvSpPr/>
          <p:nvPr/>
        </p:nvSpPr>
        <p:spPr>
          <a:xfrm>
            <a:off x="812800" y="28448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楕円 16">
            <a:extLst>
              <a:ext uri="{FF2B5EF4-FFF2-40B4-BE49-F238E27FC236}">
                <a16:creationId xmlns:a16="http://schemas.microsoft.com/office/drawing/2014/main" id="{4048D96C-CFB4-5689-6208-D2DBEA883F93}"/>
              </a:ext>
            </a:extLst>
          </p:cNvPr>
          <p:cNvSpPr/>
          <p:nvPr/>
        </p:nvSpPr>
        <p:spPr>
          <a:xfrm>
            <a:off x="1066800" y="30480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6F54C2D-0398-217F-CB51-C7117ED4CD44}"/>
              </a:ext>
            </a:extLst>
          </p:cNvPr>
          <p:cNvSpPr txBox="1"/>
          <p:nvPr/>
        </p:nvSpPr>
        <p:spPr>
          <a:xfrm>
            <a:off x="1066800" y="3048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72CE928-C192-74BC-6F73-3AEC77010524}"/>
              </a:ext>
            </a:extLst>
          </p:cNvPr>
          <p:cNvSpPr txBox="1"/>
          <p:nvPr/>
        </p:nvSpPr>
        <p:spPr>
          <a:xfrm>
            <a:off x="1625600" y="29972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ファイルをフォルダ直下にコピーする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8DCD792-C1D8-CA83-2354-7123D6A05A49}"/>
              </a:ext>
            </a:extLst>
          </p:cNvPr>
          <p:cNvSpPr txBox="1"/>
          <p:nvPr/>
        </p:nvSpPr>
        <p:spPr>
          <a:xfrm>
            <a:off x="1625600" y="32766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対応形式は 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JPG / JPEG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</a:t>
            </a:r>
            <a:endParaRPr kumimoji="1" lang="ja-JP" altLang="en-US" sz="12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8019E20D-0ED9-5124-8602-1CEE48BAFDFB}"/>
              </a:ext>
            </a:extLst>
          </p:cNvPr>
          <p:cNvSpPr/>
          <p:nvPr/>
        </p:nvSpPr>
        <p:spPr>
          <a:xfrm>
            <a:off x="812800" y="3759200"/>
            <a:ext cx="10566400" cy="762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C90F4DEE-416A-D6B6-86F5-C890CDA5CB55}"/>
              </a:ext>
            </a:extLst>
          </p:cNvPr>
          <p:cNvSpPr/>
          <p:nvPr/>
        </p:nvSpPr>
        <p:spPr>
          <a:xfrm>
            <a:off x="1066800" y="3962400"/>
            <a:ext cx="381000" cy="381000"/>
          </a:xfrm>
          <a:prstGeom prst="ellipse">
            <a:avLst/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285AFDB-BB4B-9408-D759-5DFF75A449B4}"/>
              </a:ext>
            </a:extLst>
          </p:cNvPr>
          <p:cNvSpPr txBox="1"/>
          <p:nvPr/>
        </p:nvSpPr>
        <p:spPr>
          <a:xfrm>
            <a:off x="1066800" y="3962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</a:t>
            </a:r>
            <a:endParaRPr kumimoji="1" lang="ja-JP" altLang="en-US" sz="140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E81C968-9B84-8353-2BF5-47D7964DA3F0}"/>
              </a:ext>
            </a:extLst>
          </p:cNvPr>
          <p:cNvSpPr txBox="1"/>
          <p:nvPr/>
        </p:nvSpPr>
        <p:spPr>
          <a:xfrm>
            <a:off x="1625600" y="3911600"/>
            <a:ext cx="508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自動で表示に反映される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834FD0E-C74D-97EE-3E31-4BED1F7B533A}"/>
              </a:ext>
            </a:extLst>
          </p:cNvPr>
          <p:cNvSpPr txBox="1"/>
          <p:nvPr/>
        </p:nvSpPr>
        <p:spPr>
          <a:xfrm>
            <a:off x="1625600" y="4191000"/>
            <a:ext cx="93472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現在のスライドが終わったタイミングで切り替わります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12599B3-CF88-73CC-7AB9-010BE0516E3F}"/>
              </a:ext>
            </a:extLst>
          </p:cNvPr>
          <p:cNvSpPr/>
          <p:nvPr/>
        </p:nvSpPr>
        <p:spPr>
          <a:xfrm>
            <a:off x="812800" y="47244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85AB048F-1130-9193-24D8-52AC12EABD3D}"/>
              </a:ext>
            </a:extLst>
          </p:cNvPr>
          <p:cNvSpPr/>
          <p:nvPr/>
        </p:nvSpPr>
        <p:spPr>
          <a:xfrm>
            <a:off x="812800" y="4724400"/>
            <a:ext cx="50800" cy="6350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251A024-FF3A-1B4E-AF38-68C4703CD14A}"/>
              </a:ext>
            </a:extLst>
          </p:cNvPr>
          <p:cNvSpPr txBox="1"/>
          <p:nvPr/>
        </p:nvSpPr>
        <p:spPr>
          <a:xfrm>
            <a:off x="1092200" y="4724400"/>
            <a:ext cx="56489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注意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F00BC8E-7F44-2620-0E15-A78A03341F47}"/>
              </a:ext>
            </a:extLst>
          </p:cNvPr>
          <p:cNvSpPr txBox="1"/>
          <p:nvPr/>
        </p:nvSpPr>
        <p:spPr>
          <a:xfrm>
            <a:off x="1657096" y="4724400"/>
            <a:ext cx="944270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サブフォルダの中のファイルは表示されません。必ずフォルダ直下に置いてください。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C3075D2-27C7-891E-D49E-5E6D728BC522}"/>
              </a:ext>
            </a:extLst>
          </p:cNvPr>
          <p:cNvSpPr/>
          <p:nvPr/>
        </p:nvSpPr>
        <p:spPr>
          <a:xfrm>
            <a:off x="812800" y="54610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B8ED16D-C42A-C607-525E-A1BA08FAD5C0}"/>
              </a:ext>
            </a:extLst>
          </p:cNvPr>
          <p:cNvSpPr/>
          <p:nvPr/>
        </p:nvSpPr>
        <p:spPr>
          <a:xfrm>
            <a:off x="812800" y="5461000"/>
            <a:ext cx="50800" cy="635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5E3909C0-2B45-A41D-FA5F-EEF33E46ABF3}"/>
              </a:ext>
            </a:extLst>
          </p:cNvPr>
          <p:cNvSpPr txBox="1"/>
          <p:nvPr/>
        </p:nvSpPr>
        <p:spPr>
          <a:xfrm>
            <a:off x="1092200" y="5461000"/>
            <a:ext cx="103124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止めるとき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74F3B9F-4BE5-9DAE-3439-EE7F3FB63082}"/>
              </a:ext>
            </a:extLst>
          </p:cNvPr>
          <p:cNvSpPr txBox="1"/>
          <p:nvPr/>
        </p:nvSpPr>
        <p:spPr>
          <a:xfrm>
            <a:off x="2123440" y="5461000"/>
            <a:ext cx="897636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監視フォルダから該当のファイルを削除するだけです。反映はやはり現在のスライドが終わったあとです。</a:t>
            </a:r>
          </a:p>
        </p:txBody>
      </p:sp>
    </p:spTree>
    <p:extLst>
      <p:ext uri="{BB962C8B-B14F-4D97-AF65-F5344CB8AC3E}">
        <p14:creationId xmlns:p14="http://schemas.microsoft.com/office/powerpoint/2010/main" val="3782659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A12C3CC-78AF-3B60-932B-982D872E3E8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CABC9B5-747D-2815-52A3-515A50C1A4B6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E72B79-1459-155B-7F41-1816F6C03733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36E21C1-A540-4B58-D09A-14D9D85E324A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使えるファイルの種類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7ED2455-3452-DFA6-41B0-0DA2654781DF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8920774-B1E6-91BC-9A21-45341BCEDD5F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E079B98-872D-2F5A-07FE-F52951C1B711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A101E2E-1CB9-A9BC-0F2A-A62596EE1DF3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51C8E6B-1811-7383-1BC6-5A40371EDB7C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04149E2-1D95-2BB4-EC7E-0780ECC6D702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次の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種類だけが表示対象です。それ以外の形式は無視されます。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EA787B85-747E-5834-D3EB-D1F18F020F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778240"/>
              </p:ext>
            </p:extLst>
          </p:nvPr>
        </p:nvGraphicFramePr>
        <p:xfrm>
          <a:off x="812800" y="2438400"/>
          <a:ext cx="10566400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4177119026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465840908"/>
                    </a:ext>
                  </a:extLst>
                </a:gridCol>
                <a:gridCol w="6248400">
                  <a:extLst>
                    <a:ext uri="{9D8B030D-6E8A-4147-A177-3AD203B41FA5}">
                      <a16:colId xmlns:a16="http://schemas.microsoft.com/office/drawing/2014/main" val="259518289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種類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拡張子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表示のしかた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4248738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.jpg / .jpeg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0489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</a:t>
                      </a:r>
                      <a:endParaRPr kumimoji="1" lang="ja-JP" altLang="en-US" sz="1250" b="1">
                        <a:solidFill>
                          <a:srgbClr val="1B2430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.pdf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ページ </a:t>
                      </a: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= 1 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枚のスライド（ページ順に表示）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213149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動画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.mp4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最後まで再生してから次のスライドへ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1924341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CA4984EF-41D0-DEB0-261B-181685C6A793}"/>
              </a:ext>
            </a:extLst>
          </p:cNvPr>
          <p:cNvSpPr/>
          <p:nvPr/>
        </p:nvSpPr>
        <p:spPr>
          <a:xfrm>
            <a:off x="812800" y="5207000"/>
            <a:ext cx="10566400" cy="6604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F18DB142-5AF5-7169-948F-304E0ABE3C61}"/>
              </a:ext>
            </a:extLst>
          </p:cNvPr>
          <p:cNvSpPr/>
          <p:nvPr/>
        </p:nvSpPr>
        <p:spPr>
          <a:xfrm>
            <a:off x="812800" y="5207000"/>
            <a:ext cx="50800" cy="6604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CB56F56-3BE4-E0EF-A756-DF6D05964F48}"/>
              </a:ext>
            </a:extLst>
          </p:cNvPr>
          <p:cNvSpPr txBox="1"/>
          <p:nvPr/>
        </p:nvSpPr>
        <p:spPr>
          <a:xfrm>
            <a:off x="1092200" y="5207000"/>
            <a:ext cx="1186688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使えない形式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54F6C13-7895-5672-5666-C12435E4C534}"/>
              </a:ext>
            </a:extLst>
          </p:cNvPr>
          <p:cNvSpPr txBox="1"/>
          <p:nvPr/>
        </p:nvSpPr>
        <p:spPr>
          <a:xfrm>
            <a:off x="2278888" y="5207000"/>
            <a:ext cx="8820912" cy="660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PNG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GIF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MOV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などは表示できません。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JPEG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に変換してから置いてください。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9663928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406A7E8-54D0-E7C3-74CC-FEE5A9B0312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F6B3B88-18E7-E480-B4CD-EADB180F15CA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CEDB7B8-FE9A-BC28-4EE7-269C12541054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954504-EC46-A80A-A7A0-C6E94AD54B0E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表示順はファイル名の昇順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435BC7A-5CFF-D833-FB3A-A959818127B0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C77C8DE3-68CC-136E-6871-6438011CD5DD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7F8034C-5142-E525-BEB0-B42969CB8EE9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90487B3-58FE-A4B9-A076-EC1F72110F39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CC71A4C-F8FC-C5EA-7F7E-910878485540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E296985-A7F6-67CD-8EC4-496E4D97B8B7}"/>
              </a:ext>
            </a:extLst>
          </p:cNvPr>
          <p:cNvSpPr txBox="1"/>
          <p:nvPr/>
        </p:nvSpPr>
        <p:spPr>
          <a:xfrm>
            <a:off x="812800" y="1905000"/>
            <a:ext cx="105664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ファイル名の昇順で表示します。数字の部分は数値として比べるので、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001 → 002 → 010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の順になります。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58509E2C-5438-CF6D-50B5-5EB29FF71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987824"/>
              </p:ext>
            </p:extLst>
          </p:nvPr>
        </p:nvGraphicFramePr>
        <p:xfrm>
          <a:off x="812800" y="2438400"/>
          <a:ext cx="10566400" cy="193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461000">
                  <a:extLst>
                    <a:ext uri="{9D8B030D-6E8A-4147-A177-3AD203B41FA5}">
                      <a16:colId xmlns:a16="http://schemas.microsoft.com/office/drawing/2014/main" val="3149660395"/>
                    </a:ext>
                  </a:extLst>
                </a:gridCol>
                <a:gridCol w="5105400">
                  <a:extLst>
                    <a:ext uri="{9D8B030D-6E8A-4147-A177-3AD203B41FA5}">
                      <a16:colId xmlns:a16="http://schemas.microsoft.com/office/drawing/2014/main" val="2699804949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ファイル名の例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実際の表示順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250644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001.jpg → 002.jpg → 010.jpg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 → 002 → 010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（昇順）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13789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1.jpg → 2.jpg → 10.jpg</a:t>
                      </a:r>
                      <a:endParaRPr kumimoji="1" lang="ja-JP" altLang="en-US" sz="12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 → 2 → 10</a:t>
                      </a:r>
                      <a:r>
                        <a:rPr kumimoji="1" lang="ja-JP" altLang="en-US" sz="12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（数値の昇順）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5249491"/>
                  </a:ext>
                </a:extLst>
              </a:tr>
            </a:tbl>
          </a:graphicData>
        </a:graphic>
      </p:graphicFrame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70818481-61D3-AE64-2E36-96FE85D3AFB6}"/>
              </a:ext>
            </a:extLst>
          </p:cNvPr>
          <p:cNvSpPr/>
          <p:nvPr/>
        </p:nvSpPr>
        <p:spPr>
          <a:xfrm>
            <a:off x="812800" y="47752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FFBEB05-A587-1903-66A2-9D4DA393E0AD}"/>
              </a:ext>
            </a:extLst>
          </p:cNvPr>
          <p:cNvSpPr/>
          <p:nvPr/>
        </p:nvSpPr>
        <p:spPr>
          <a:xfrm>
            <a:off x="812800" y="4775200"/>
            <a:ext cx="50800" cy="7620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3FC6DEF8-DEAF-E47A-6933-5BF3ACA778AE}"/>
              </a:ext>
            </a:extLst>
          </p:cNvPr>
          <p:cNvSpPr txBox="1"/>
          <p:nvPr/>
        </p:nvSpPr>
        <p:spPr>
          <a:xfrm>
            <a:off x="1092200" y="4775200"/>
            <a:ext cx="87579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おすすめ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DA50B8D3-9EF5-654B-12BC-DD31E266EC65}"/>
              </a:ext>
            </a:extLst>
          </p:cNvPr>
          <p:cNvSpPr txBox="1"/>
          <p:nvPr/>
        </p:nvSpPr>
        <p:spPr>
          <a:xfrm>
            <a:off x="1967992" y="4775200"/>
            <a:ext cx="913180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先頭を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001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002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003 …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のように桁を揃えておくと、意図どおりの昇順になり、並び替えも差し替えも管理しやすくなります。</a:t>
            </a:r>
          </a:p>
        </p:txBody>
      </p:sp>
    </p:spTree>
    <p:extLst>
      <p:ext uri="{BB962C8B-B14F-4D97-AF65-F5344CB8AC3E}">
        <p14:creationId xmlns:p14="http://schemas.microsoft.com/office/powerpoint/2010/main" val="1531615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A09D52E-FC8E-1242-E6FA-EA7AC094138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950D7B5-EA32-7101-6500-6703C3D6B50D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3820095-FBD6-0BB7-995C-973B536F76CF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2E8915F-271B-78E2-1D31-FADD42ABB941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表示時間はファイル名で変えられる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7F3A168-BA32-D32D-D005-60ED5D625C29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A63915A-40B4-E984-883D-74BA10C2FA12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7C0A4C4-58F2-FCCF-4154-15264D748E78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14A32F9-3EAE-42B4-0379-8C981D1CFA9C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934E0B7-0F2F-DE78-7D0F-B5287BC9B716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BDC7CF8-3E07-6663-5E4F-05010850B019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画像と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は、ファイル名の末尾（拡張子の直前）に「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秒数」を付けると、そのファイルだけ表示時間を変えられます（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5〜300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秒）。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8F87E38-B968-0D40-70D3-1D23DCB8948B}"/>
              </a:ext>
            </a:extLst>
          </p:cNvPr>
          <p:cNvSpPr/>
          <p:nvPr/>
        </p:nvSpPr>
        <p:spPr>
          <a:xfrm>
            <a:off x="812800" y="2362200"/>
            <a:ext cx="10566400" cy="1066800"/>
          </a:xfrm>
          <a:prstGeom prst="roundRect">
            <a:avLst>
              <a:gd name="adj" fmla="val 12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2B9B1983-ABBD-32C8-C33F-6D2FDF85ACBF}"/>
              </a:ext>
            </a:extLst>
          </p:cNvPr>
          <p:cNvSpPr txBox="1"/>
          <p:nvPr/>
        </p:nvSpPr>
        <p:spPr>
          <a:xfrm>
            <a:off x="1244600" y="2540000"/>
            <a:ext cx="508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600" b="1">
                <a:solidFill>
                  <a:srgbClr val="FFFFFF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2600" b="1">
                <a:solidFill>
                  <a:srgbClr val="FFFFFF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260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4864FEB-7821-8B33-08DF-C57FF2709E63}"/>
              </a:ext>
            </a:extLst>
          </p:cNvPr>
          <p:cNvSpPr txBox="1"/>
          <p:nvPr/>
        </p:nvSpPr>
        <p:spPr>
          <a:xfrm>
            <a:off x="1244600" y="2997200"/>
            <a:ext cx="9702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_120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」の部分が表示秒数。付けなければ管理者が決めた標準の秒数になります。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EA569915-36CC-54B7-6694-4141E5B52657}"/>
              </a:ext>
            </a:extLst>
          </p:cNvPr>
          <p:cNvSpPr/>
          <p:nvPr/>
        </p:nvSpPr>
        <p:spPr>
          <a:xfrm>
            <a:off x="8128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034CF13-488B-181B-41E8-56DC26DF4DD6}"/>
              </a:ext>
            </a:extLst>
          </p:cNvPr>
          <p:cNvSpPr txBox="1"/>
          <p:nvPr/>
        </p:nvSpPr>
        <p:spPr>
          <a:xfrm>
            <a:off x="10668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3310BA9-DD76-94C0-26B4-CF343A7F3C5F}"/>
              </a:ext>
            </a:extLst>
          </p:cNvPr>
          <p:cNvSpPr txBox="1"/>
          <p:nvPr/>
        </p:nvSpPr>
        <p:spPr>
          <a:xfrm>
            <a:off x="10668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標準の秒数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F3698B7-8739-2F41-C8C9-340033E2362D}"/>
              </a:ext>
            </a:extLst>
          </p:cNvPr>
          <p:cNvSpPr txBox="1"/>
          <p:nvPr/>
        </p:nvSpPr>
        <p:spPr>
          <a:xfrm>
            <a:off x="10668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管理画面の設定値（初期値 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秒）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6BD0EA1-5FA8-309B-3F68-ED24A5D9C699}"/>
              </a:ext>
            </a:extLst>
          </p:cNvPr>
          <p:cNvSpPr/>
          <p:nvPr/>
        </p:nvSpPr>
        <p:spPr>
          <a:xfrm>
            <a:off x="44196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805A61C-C86D-5C92-54EA-437252D3614D}"/>
              </a:ext>
            </a:extLst>
          </p:cNvPr>
          <p:cNvSpPr txBox="1"/>
          <p:nvPr/>
        </p:nvSpPr>
        <p:spPr>
          <a:xfrm>
            <a:off x="46736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_120.pdf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119F821-9FAD-1F65-B3C5-EF7A3111480F}"/>
              </a:ext>
            </a:extLst>
          </p:cNvPr>
          <p:cNvSpPr txBox="1"/>
          <p:nvPr/>
        </p:nvSpPr>
        <p:spPr>
          <a:xfrm>
            <a:off x="46736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2CA5C422-B259-A540-C588-4B890E0130AA}"/>
              </a:ext>
            </a:extLst>
          </p:cNvPr>
          <p:cNvSpPr txBox="1"/>
          <p:nvPr/>
        </p:nvSpPr>
        <p:spPr>
          <a:xfrm>
            <a:off x="46736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分間しっかり読ませたい掲示に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3FA89999-8E15-DEDE-1A23-839CA3388DCC}"/>
              </a:ext>
            </a:extLst>
          </p:cNvPr>
          <p:cNvSpPr/>
          <p:nvPr/>
        </p:nvSpPr>
        <p:spPr>
          <a:xfrm>
            <a:off x="80264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4DE70F0D-300C-F8F6-8362-490C48F8B824}"/>
              </a:ext>
            </a:extLst>
          </p:cNvPr>
          <p:cNvSpPr txBox="1"/>
          <p:nvPr/>
        </p:nvSpPr>
        <p:spPr>
          <a:xfrm>
            <a:off x="8280400" y="3937000"/>
            <a:ext cx="2844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 b="1">
                <a:solidFill>
                  <a:srgbClr val="1B2430"/>
                </a:solidFill>
                <a:latin typeface="Consolas" panose="020B0609020204030204" pitchFamily="49" charset="0"/>
              </a:rPr>
              <a:t>写真</a:t>
            </a:r>
            <a:r>
              <a:rPr kumimoji="1" lang="en-US" altLang="ja-JP" sz="1400" b="1">
                <a:solidFill>
                  <a:srgbClr val="1B2430"/>
                </a:solidFill>
                <a:latin typeface="Consolas" panose="020B0609020204030204" pitchFamily="49" charset="0"/>
              </a:rPr>
              <a:t>_30.jpg</a:t>
            </a:r>
            <a:endParaRPr kumimoji="1" lang="ja-JP" altLang="en-US" sz="14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17ED19CF-CF37-9A48-5BA9-68081EDAC36C}"/>
              </a:ext>
            </a:extLst>
          </p:cNvPr>
          <p:cNvSpPr txBox="1"/>
          <p:nvPr/>
        </p:nvSpPr>
        <p:spPr>
          <a:xfrm>
            <a:off x="8280400" y="4267200"/>
            <a:ext cx="28448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9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ADAEB22-F981-7DCB-55A7-E703A44A0C2D}"/>
              </a:ext>
            </a:extLst>
          </p:cNvPr>
          <p:cNvSpPr txBox="1"/>
          <p:nvPr/>
        </p:nvSpPr>
        <p:spPr>
          <a:xfrm>
            <a:off x="8280400" y="4648200"/>
            <a:ext cx="28448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短めに流したい写真に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296AF705-3971-6B9A-7D99-35462F409320}"/>
              </a:ext>
            </a:extLst>
          </p:cNvPr>
          <p:cNvSpPr/>
          <p:nvPr/>
        </p:nvSpPr>
        <p:spPr>
          <a:xfrm>
            <a:off x="812800" y="5334000"/>
            <a:ext cx="10566400" cy="609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9B616313-FF5E-043D-B56C-57DB3E6920EC}"/>
              </a:ext>
            </a:extLst>
          </p:cNvPr>
          <p:cNvSpPr/>
          <p:nvPr/>
        </p:nvSpPr>
        <p:spPr>
          <a:xfrm>
            <a:off x="812800" y="5334000"/>
            <a:ext cx="50800" cy="609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8226B15-80E6-720B-CEE8-AF8EC28C3605}"/>
              </a:ext>
            </a:extLst>
          </p:cNvPr>
          <p:cNvSpPr txBox="1"/>
          <p:nvPr/>
        </p:nvSpPr>
        <p:spPr>
          <a:xfrm>
            <a:off x="1092200" y="5334000"/>
            <a:ext cx="103124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動画は例外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680831C0-6FA2-AEE2-5B2B-AED95BC7DC3F}"/>
              </a:ext>
            </a:extLst>
          </p:cNvPr>
          <p:cNvSpPr txBox="1"/>
          <p:nvPr/>
        </p:nvSpPr>
        <p:spPr>
          <a:xfrm>
            <a:off x="2123440" y="5334000"/>
            <a:ext cx="897636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.mp4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は再生が終わるまで表示します。秒数指定は効きません。</a:t>
            </a:r>
          </a:p>
        </p:txBody>
      </p:sp>
    </p:spTree>
    <p:extLst>
      <p:ext uri="{BB962C8B-B14F-4D97-AF65-F5344CB8AC3E}">
        <p14:creationId xmlns:p14="http://schemas.microsoft.com/office/powerpoint/2010/main" val="2659222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75078B3-D88B-F42C-1B40-0C325754D5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8AD33EE-AC2B-94D0-6866-A7FC53D5E981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10EFCB0-22AE-D802-7ECB-84618D7D087B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F2C6ED-2167-F2A0-F857-DFF27D854E1C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再生期限もファイル名で付けられる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DFC04CA-07E3-EC26-C674-D4C26A2421FE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F429EBFD-6DE4-256A-CE9E-1C66DA14B19D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10DF56E-6F98-AB36-12EC-18392ADCB38C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EA1ED00-FE6E-BA2A-F461-54343220C393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1BEEE00-E77A-D035-E7EC-337A919C8669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FA69196-8808-8B11-E647-8F8EA8A1568C}"/>
              </a:ext>
            </a:extLst>
          </p:cNvPr>
          <p:cNvSpPr txBox="1"/>
          <p:nvPr/>
        </p:nvSpPr>
        <p:spPr>
          <a:xfrm>
            <a:off x="812800" y="1905000"/>
            <a:ext cx="105664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末尾に「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年月日」（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8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桁）を付けると、その日まで再生し、翌日から表示しなくなります。秒数との順番は問いません。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E0D0F8B8-0D85-49AA-1559-106F8E9CA170}"/>
              </a:ext>
            </a:extLst>
          </p:cNvPr>
          <p:cNvSpPr/>
          <p:nvPr/>
        </p:nvSpPr>
        <p:spPr>
          <a:xfrm>
            <a:off x="812800" y="2362200"/>
            <a:ext cx="10566400" cy="1066800"/>
          </a:xfrm>
          <a:prstGeom prst="roundRect">
            <a:avLst>
              <a:gd name="adj" fmla="val 12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164F143-EFCA-AC2B-96CA-5EC5838AAD25}"/>
              </a:ext>
            </a:extLst>
          </p:cNvPr>
          <p:cNvSpPr txBox="1"/>
          <p:nvPr/>
        </p:nvSpPr>
        <p:spPr>
          <a:xfrm>
            <a:off x="1244600" y="2540000"/>
            <a:ext cx="635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400" b="1">
                <a:solidFill>
                  <a:srgbClr val="FFFFFF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2400" b="1">
                <a:solidFill>
                  <a:srgbClr val="FFFFFF"/>
                </a:solidFill>
                <a:latin typeface="Consolas" panose="020B0609020204030204" pitchFamily="49" charset="0"/>
              </a:rPr>
              <a:t>_20_20260904.pdf</a:t>
            </a:r>
            <a:endParaRPr kumimoji="1" lang="ja-JP" altLang="en-US" sz="2400" b="1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9AA9559-243C-486D-5D89-3A509F2B477F}"/>
              </a:ext>
            </a:extLst>
          </p:cNvPr>
          <p:cNvSpPr txBox="1"/>
          <p:nvPr/>
        </p:nvSpPr>
        <p:spPr>
          <a:xfrm>
            <a:off x="1244600" y="2997200"/>
            <a:ext cx="9702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」が表示秒数、「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_20260904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」が期限。案内</a:t>
            </a:r>
            <a:r>
              <a:rPr kumimoji="1" lang="en-US" altLang="ja-JP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_20260904_20.pdf </a:t>
            </a:r>
            <a:r>
              <a:rPr kumimoji="1" lang="ja-JP" altLang="en-US" sz="12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でも同じです。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F2BAEDB-C6DC-928F-076F-355763BAAF6A}"/>
              </a:ext>
            </a:extLst>
          </p:cNvPr>
          <p:cNvSpPr/>
          <p:nvPr/>
        </p:nvSpPr>
        <p:spPr>
          <a:xfrm>
            <a:off x="8128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127C2FCE-2BB4-F820-FCB0-F04C6449F535}"/>
              </a:ext>
            </a:extLst>
          </p:cNvPr>
          <p:cNvSpPr txBox="1"/>
          <p:nvPr/>
        </p:nvSpPr>
        <p:spPr>
          <a:xfrm>
            <a:off x="10160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_20260904.pdf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A10FCB5-1689-5A84-301C-1D2F0FECFA66}"/>
              </a:ext>
            </a:extLst>
          </p:cNvPr>
          <p:cNvSpPr txBox="1"/>
          <p:nvPr/>
        </p:nvSpPr>
        <p:spPr>
          <a:xfrm>
            <a:off x="10160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期限のみ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E61A998-40FA-928C-E00A-FBAA3E919D4B}"/>
              </a:ext>
            </a:extLst>
          </p:cNvPr>
          <p:cNvSpPr txBox="1"/>
          <p:nvPr/>
        </p:nvSpPr>
        <p:spPr>
          <a:xfrm>
            <a:off x="10160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標準の秒数で 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4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日まで再生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9731C896-474A-8157-C980-B2818E2CB5F5}"/>
              </a:ext>
            </a:extLst>
          </p:cNvPr>
          <p:cNvSpPr/>
          <p:nvPr/>
        </p:nvSpPr>
        <p:spPr>
          <a:xfrm>
            <a:off x="44196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208AC0C-751F-B4D8-F20F-D270AEF603A7}"/>
              </a:ext>
            </a:extLst>
          </p:cNvPr>
          <p:cNvSpPr txBox="1"/>
          <p:nvPr/>
        </p:nvSpPr>
        <p:spPr>
          <a:xfrm>
            <a:off x="46228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_20_20260212.pdf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0BA2D55A-B26C-1F6E-8FE5-B1D9F593583B}"/>
              </a:ext>
            </a:extLst>
          </p:cNvPr>
          <p:cNvSpPr txBox="1"/>
          <p:nvPr/>
        </p:nvSpPr>
        <p:spPr>
          <a:xfrm>
            <a:off x="46228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秒数 → 期限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1B7D5FB-F96D-3E8C-6E8F-B7AF1773F0B5}"/>
              </a:ext>
            </a:extLst>
          </p:cNvPr>
          <p:cNvSpPr txBox="1"/>
          <p:nvPr/>
        </p:nvSpPr>
        <p:spPr>
          <a:xfrm>
            <a:off x="46228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20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秒表示、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</a:t>
            </a: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BEE921CE-7B81-53CF-EDB9-87F174BAD5A0}"/>
              </a:ext>
            </a:extLst>
          </p:cNvPr>
          <p:cNvSpPr/>
          <p:nvPr/>
        </p:nvSpPr>
        <p:spPr>
          <a:xfrm>
            <a:off x="8026400" y="3708400"/>
            <a:ext cx="3352800" cy="139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0AAAEF5-74EA-CAA3-E428-6BEE688BF0EE}"/>
              </a:ext>
            </a:extLst>
          </p:cNvPr>
          <p:cNvSpPr txBox="1"/>
          <p:nvPr/>
        </p:nvSpPr>
        <p:spPr>
          <a:xfrm>
            <a:off x="8229600" y="39116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1B2430"/>
                </a:solidFill>
                <a:latin typeface="Consolas" panose="020B0609020204030204" pitchFamily="49" charset="0"/>
              </a:rPr>
              <a:t>案内</a:t>
            </a:r>
            <a:r>
              <a:rPr kumimoji="1" lang="en-US" altLang="ja-JP" sz="1200" b="1">
                <a:solidFill>
                  <a:srgbClr val="1B2430"/>
                </a:solidFill>
                <a:latin typeface="Consolas" panose="020B0609020204030204" pitchFamily="49" charset="0"/>
              </a:rPr>
              <a:t>_20260102_30.pdf</a:t>
            </a:r>
            <a:endParaRPr kumimoji="1" lang="ja-JP" altLang="en-US" sz="1200" b="1">
              <a:solidFill>
                <a:srgbClr val="1B2430"/>
              </a:solidFill>
              <a:latin typeface="Consolas" panose="020B0609020204030204" pitchFamily="49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C8F4F83-DF9F-EF78-6608-888E49848A83}"/>
              </a:ext>
            </a:extLst>
          </p:cNvPr>
          <p:cNvSpPr txBox="1"/>
          <p:nvPr/>
        </p:nvSpPr>
        <p:spPr>
          <a:xfrm>
            <a:off x="8229600" y="4241800"/>
            <a:ext cx="294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期限 → 秒数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07775F3-4707-1751-8D3C-B713BB784053}"/>
              </a:ext>
            </a:extLst>
          </p:cNvPr>
          <p:cNvSpPr txBox="1"/>
          <p:nvPr/>
        </p:nvSpPr>
        <p:spPr>
          <a:xfrm>
            <a:off x="8229600" y="4597400"/>
            <a:ext cx="29464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秒表示、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月</a:t>
            </a:r>
            <a:r>
              <a:rPr kumimoji="1" lang="en-US" altLang="ja-JP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</a:t>
            </a:r>
            <a:r>
              <a:rPr kumimoji="1" lang="ja-JP" altLang="en-US" sz="115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日まで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417D899-03BD-5AAE-F40D-7F6EDAADF0D7}"/>
              </a:ext>
            </a:extLst>
          </p:cNvPr>
          <p:cNvSpPr/>
          <p:nvPr/>
        </p:nvSpPr>
        <p:spPr>
          <a:xfrm>
            <a:off x="812800" y="5334000"/>
            <a:ext cx="10566400" cy="609600"/>
          </a:xfrm>
          <a:prstGeom prst="roundRect">
            <a:avLst>
              <a:gd name="adj" fmla="val 12000"/>
            </a:avLst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A6E2C695-1711-E996-1A4B-3ACC72B7FFB0}"/>
              </a:ext>
            </a:extLst>
          </p:cNvPr>
          <p:cNvSpPr/>
          <p:nvPr/>
        </p:nvSpPr>
        <p:spPr>
          <a:xfrm>
            <a:off x="812800" y="5334000"/>
            <a:ext cx="50800" cy="6096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AC65CCBC-5715-4E92-19B6-C65FDB4E52C0}"/>
              </a:ext>
            </a:extLst>
          </p:cNvPr>
          <p:cNvSpPr txBox="1"/>
          <p:nvPr/>
        </p:nvSpPr>
        <p:spPr>
          <a:xfrm>
            <a:off x="1092200" y="5334000"/>
            <a:ext cx="103124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誤りと動画</a:t>
            </a: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45769C2-DDBC-0413-A833-2CBCECBBBD88}"/>
              </a:ext>
            </a:extLst>
          </p:cNvPr>
          <p:cNvSpPr txBox="1"/>
          <p:nvPr/>
        </p:nvSpPr>
        <p:spPr>
          <a:xfrm>
            <a:off x="2123440" y="5334000"/>
            <a:ext cx="8976360" cy="609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存在しない日付・桁不足（例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_2026923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）・秒数の重複などは再生を止めません。管理画面を開くたびに「表示期限の指定」ダイアログで、○○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_20261231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などの例と対象ファイル名を知らせます。動画も期限の対象です。</a:t>
            </a:r>
          </a:p>
        </p:txBody>
      </p:sp>
    </p:spTree>
    <p:extLst>
      <p:ext uri="{BB962C8B-B14F-4D97-AF65-F5344CB8AC3E}">
        <p14:creationId xmlns:p14="http://schemas.microsoft.com/office/powerpoint/2010/main" val="2414374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9F8212F-8CE1-F6A3-9EF4-5E0C7FDFBA4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3FC6A1B-2705-9037-C442-3E1826A4A792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E6D6901-244B-8694-AF67-1C70948250E3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CONTENT OWNER</a:t>
            </a:r>
            <a:endParaRPr kumimoji="1" lang="ja-JP" altLang="en-US" sz="1050" b="1">
              <a:solidFill>
                <a:srgbClr val="0F8E92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1B919D7-52EB-0503-B0B5-9EC376B67837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知っておきたい 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つのこと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32F1B0C-55A4-59FF-5562-DB0C25252FEB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5A60009-AC4B-F276-A24B-853AA6EBC4FF}"/>
              </a:ext>
            </a:extLst>
          </p:cNvPr>
          <p:cNvSpPr/>
          <p:nvPr/>
        </p:nvSpPr>
        <p:spPr>
          <a:xfrm>
            <a:off x="9857232" y="736600"/>
            <a:ext cx="1521968" cy="330200"/>
          </a:xfrm>
          <a:prstGeom prst="roundRect">
            <a:avLst>
              <a:gd name="adj" fmla="val 50000"/>
            </a:avLst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0095191-7594-AB0E-C7A7-6171CAF0C1EE}"/>
              </a:ext>
            </a:extLst>
          </p:cNvPr>
          <p:cNvSpPr txBox="1"/>
          <p:nvPr/>
        </p:nvSpPr>
        <p:spPr>
          <a:xfrm>
            <a:off x="9857232" y="736600"/>
            <a:ext cx="1521968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6D20D45-C6DF-46B4-D95E-98560ED1C622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0F0E2FA-73F9-3D40-DC92-43E92D363224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FA049CBC-CEFB-B448-009E-9BC01E7F967E}"/>
              </a:ext>
            </a:extLst>
          </p:cNvPr>
          <p:cNvSpPr/>
          <p:nvPr/>
        </p:nvSpPr>
        <p:spPr>
          <a:xfrm>
            <a:off x="812800" y="2133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C11D73D-974C-A239-7B53-345E18DE78D0}"/>
              </a:ext>
            </a:extLst>
          </p:cNvPr>
          <p:cNvSpPr/>
          <p:nvPr/>
        </p:nvSpPr>
        <p:spPr>
          <a:xfrm>
            <a:off x="812800" y="2133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C28CCC0-63D1-7CD0-EC3C-8096CAC3AEB2}"/>
              </a:ext>
            </a:extLst>
          </p:cNvPr>
          <p:cNvSpPr txBox="1"/>
          <p:nvPr/>
        </p:nvSpPr>
        <p:spPr>
          <a:xfrm>
            <a:off x="1168400" y="2413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コピー中は反映されない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88715A79-23CE-4125-1765-77FE9A50D996}"/>
              </a:ext>
            </a:extLst>
          </p:cNvPr>
          <p:cNvSpPr txBox="1"/>
          <p:nvPr/>
        </p:nvSpPr>
        <p:spPr>
          <a:xfrm>
            <a:off x="1168400" y="2768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ファイルのコピー途中だと読み込みに失敗することがあります。コピーが完了すれば自動で反映されます。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596B5932-7704-76F9-7578-E0E8B72E9A3E}"/>
              </a:ext>
            </a:extLst>
          </p:cNvPr>
          <p:cNvSpPr/>
          <p:nvPr/>
        </p:nvSpPr>
        <p:spPr>
          <a:xfrm>
            <a:off x="812800" y="3530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DEA00AE-87DD-8A0C-3B63-4F05B6B97C5B}"/>
              </a:ext>
            </a:extLst>
          </p:cNvPr>
          <p:cNvSpPr/>
          <p:nvPr/>
        </p:nvSpPr>
        <p:spPr>
          <a:xfrm>
            <a:off x="812800" y="3530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D4AF78D-3B7C-7323-CF12-C9064103EFE2}"/>
              </a:ext>
            </a:extLst>
          </p:cNvPr>
          <p:cNvSpPr txBox="1"/>
          <p:nvPr/>
        </p:nvSpPr>
        <p:spPr>
          <a:xfrm>
            <a:off x="1168400" y="3810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壊れたファイルはスキップ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E6A4FD1B-00AF-C051-046F-A12EBEC7E329}"/>
              </a:ext>
            </a:extLst>
          </p:cNvPr>
          <p:cNvSpPr txBox="1"/>
          <p:nvPr/>
        </p:nvSpPr>
        <p:spPr>
          <a:xfrm>
            <a:off x="1168400" y="4165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読めないファイルは自動で飛ばし、残りのファイルは続けて表示されます。管理画面を開くと、対象ファイル名を「壊れたファイル」ダイアログで知らせます。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7470757B-E787-925C-EBE2-A09BF54963DB}"/>
              </a:ext>
            </a:extLst>
          </p:cNvPr>
          <p:cNvSpPr/>
          <p:nvPr/>
        </p:nvSpPr>
        <p:spPr>
          <a:xfrm>
            <a:off x="812800" y="4927600"/>
            <a:ext cx="10566400" cy="1219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C3CE0E3-B8FD-EC75-314A-EE0B240EBA26}"/>
              </a:ext>
            </a:extLst>
          </p:cNvPr>
          <p:cNvSpPr/>
          <p:nvPr/>
        </p:nvSpPr>
        <p:spPr>
          <a:xfrm>
            <a:off x="812800" y="4927600"/>
            <a:ext cx="50800" cy="1219200"/>
          </a:xfrm>
          <a:prstGeom prst="rect">
            <a:avLst/>
          </a:prstGeom>
          <a:solidFill>
            <a:srgbClr val="0F8E9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EDC919B-4BF4-A57B-F863-043C36E0EC35}"/>
              </a:ext>
            </a:extLst>
          </p:cNvPr>
          <p:cNvSpPr txBox="1"/>
          <p:nvPr/>
        </p:nvSpPr>
        <p:spPr>
          <a:xfrm>
            <a:off x="1168400" y="5207000"/>
            <a:ext cx="9855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6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設定変更は管理者が行う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EC0729E-DB64-69F6-D816-56BB466CB1B4}"/>
              </a:ext>
            </a:extLst>
          </p:cNvPr>
          <p:cNvSpPr txBox="1"/>
          <p:nvPr/>
        </p:nvSpPr>
        <p:spPr>
          <a:xfrm>
            <a:off x="1168400" y="5562600"/>
            <a:ext cx="9855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フォルダの場所や標準の表示秒数などの変更は、管理者が管理画面で行います。</a:t>
            </a:r>
          </a:p>
        </p:txBody>
      </p:sp>
    </p:spTree>
    <p:extLst>
      <p:ext uri="{BB962C8B-B14F-4D97-AF65-F5344CB8AC3E}">
        <p14:creationId xmlns:p14="http://schemas.microsoft.com/office/powerpoint/2010/main" val="34976313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8D547CA-A85E-E7D9-06DC-EF81E236FA0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17FBD56-0A84-0864-8DFA-C28ACD8A01F1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7AF1EB2-C0A1-783F-96D3-0458297A4129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1B7E7B9-7C5C-1161-38A1-3EB7C571099C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アプリの起動と管理画面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6FF996E-E24B-CA55-13D1-D8CA04B0075A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9B9DA30C-A3FF-7F08-D43C-EC5E763EFE50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DA2E1BE-E7D7-5D45-9964-719699D4C5AA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B851457-0927-E349-0EB3-B625CBCF7E47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BD05C284-50D5-C1DC-6FA3-22A9230A457E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10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9EF45629-A1DC-4633-5B54-0012CF8AF5F6}"/>
              </a:ext>
            </a:extLst>
          </p:cNvPr>
          <p:cNvSpPr/>
          <p:nvPr/>
        </p:nvSpPr>
        <p:spPr>
          <a:xfrm>
            <a:off x="8128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348F1EA-A9BF-0A1D-331B-FFB3D6EB196F}"/>
              </a:ext>
            </a:extLst>
          </p:cNvPr>
          <p:cNvSpPr/>
          <p:nvPr/>
        </p:nvSpPr>
        <p:spPr>
          <a:xfrm>
            <a:off x="1143000" y="2209800"/>
            <a:ext cx="685800" cy="279400"/>
          </a:xfrm>
          <a:prstGeom prst="roundRect">
            <a:avLst>
              <a:gd name="adj" fmla="val 5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1BE511F-28D1-7DE6-8F47-2CC22627B343}"/>
              </a:ext>
            </a:extLst>
          </p:cNvPr>
          <p:cNvSpPr txBox="1"/>
          <p:nvPr/>
        </p:nvSpPr>
        <p:spPr>
          <a:xfrm>
            <a:off x="1143000" y="2209800"/>
            <a:ext cx="685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START</a:t>
            </a:r>
            <a:endParaRPr kumimoji="1" lang="ja-JP" altLang="en-US" sz="10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3BB52763-D834-FC62-A4F5-D5816D15CDF6}"/>
              </a:ext>
            </a:extLst>
          </p:cNvPr>
          <p:cNvSpPr txBox="1"/>
          <p:nvPr/>
        </p:nvSpPr>
        <p:spPr>
          <a:xfrm>
            <a:off x="11430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アプリを起動する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2FF7180-6BE0-D864-F618-30838921C5A5}"/>
              </a:ext>
            </a:extLst>
          </p:cNvPr>
          <p:cNvSpPr txBox="1"/>
          <p:nvPr/>
        </p:nvSpPr>
        <p:spPr>
          <a:xfrm>
            <a:off x="1143000" y="3175000"/>
            <a:ext cx="44704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配布フォルダの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PdfSignage.exe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をダブルクリック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全画面でサイネージ表示が始まる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3. 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初回起動時は設定ファイルが自動作成される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40E674CD-AD66-0A44-4CAB-EED99288377D}"/>
              </a:ext>
            </a:extLst>
          </p:cNvPr>
          <p:cNvSpPr/>
          <p:nvPr/>
        </p:nvSpPr>
        <p:spPr>
          <a:xfrm>
            <a:off x="6248400" y="1905000"/>
            <a:ext cx="5130800" cy="2692400"/>
          </a:xfrm>
          <a:prstGeom prst="roundRect">
            <a:avLst>
              <a:gd name="adj" fmla="val 7000"/>
            </a:avLst>
          </a:prstGeom>
          <a:solidFill>
            <a:srgbClr val="102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CFA5A0FD-17ED-EAA7-D06F-A936CEBFD378}"/>
              </a:ext>
            </a:extLst>
          </p:cNvPr>
          <p:cNvSpPr/>
          <p:nvPr/>
        </p:nvSpPr>
        <p:spPr>
          <a:xfrm>
            <a:off x="6578600" y="2209800"/>
            <a:ext cx="899160" cy="279400"/>
          </a:xfrm>
          <a:prstGeom prst="roundRect">
            <a:avLst>
              <a:gd name="adj" fmla="val 50000"/>
            </a:avLst>
          </a:prstGeom>
          <a:solidFill>
            <a:srgbClr val="1E3A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679FAAA-F40A-79CD-41AA-1D208BF0881F}"/>
              </a:ext>
            </a:extLst>
          </p:cNvPr>
          <p:cNvSpPr txBox="1"/>
          <p:nvPr/>
        </p:nvSpPr>
        <p:spPr>
          <a:xfrm>
            <a:off x="6578600" y="2209800"/>
            <a:ext cx="89916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000" b="1">
                <a:solidFill>
                  <a:srgbClr val="BBD1FA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SHORTCUT</a:t>
            </a:r>
            <a:endParaRPr kumimoji="1" lang="ja-JP" altLang="en-US" sz="1000" b="1">
              <a:solidFill>
                <a:srgbClr val="BBD1FA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C30EB4F-F917-F08D-0165-02E11E4CA1DA}"/>
              </a:ext>
            </a:extLst>
          </p:cNvPr>
          <p:cNvSpPr txBox="1"/>
          <p:nvPr/>
        </p:nvSpPr>
        <p:spPr>
          <a:xfrm>
            <a:off x="6578600" y="26416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管理画面を開く </a:t>
            </a:r>
            <a:r>
              <a:rPr kumimoji="1" lang="en-US" altLang="ja-JP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/ </a:t>
            </a:r>
            <a:r>
              <a:rPr kumimoji="1" lang="ja-JP" altLang="en-US" sz="19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閉じる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41CD9FE-C0BC-4DD8-447D-459754C43635}"/>
              </a:ext>
            </a:extLst>
          </p:cNvPr>
          <p:cNvSpPr/>
          <p:nvPr/>
        </p:nvSpPr>
        <p:spPr>
          <a:xfrm>
            <a:off x="6578600" y="3175000"/>
            <a:ext cx="85852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16793E5-7492-B0BB-CD55-314FDA55F54B}"/>
              </a:ext>
            </a:extLst>
          </p:cNvPr>
          <p:cNvSpPr txBox="1"/>
          <p:nvPr/>
        </p:nvSpPr>
        <p:spPr>
          <a:xfrm>
            <a:off x="6578600" y="3175000"/>
            <a:ext cx="85852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90C843B-720F-05F9-4BA4-84CA9D53B223}"/>
              </a:ext>
            </a:extLst>
          </p:cNvPr>
          <p:cNvSpPr txBox="1"/>
          <p:nvPr/>
        </p:nvSpPr>
        <p:spPr>
          <a:xfrm>
            <a:off x="74371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F349F7DA-B8DC-9F57-B2E1-C1F576351615}"/>
              </a:ext>
            </a:extLst>
          </p:cNvPr>
          <p:cNvSpPr/>
          <p:nvPr/>
        </p:nvSpPr>
        <p:spPr>
          <a:xfrm>
            <a:off x="7767320" y="3175000"/>
            <a:ext cx="96520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9699385-5D5E-9316-DF29-9B77F3006E40}"/>
              </a:ext>
            </a:extLst>
          </p:cNvPr>
          <p:cNvSpPr txBox="1"/>
          <p:nvPr/>
        </p:nvSpPr>
        <p:spPr>
          <a:xfrm>
            <a:off x="7767320" y="3175000"/>
            <a:ext cx="965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D6AAA33-2193-7E91-865C-D8AA09C8143D}"/>
              </a:ext>
            </a:extLst>
          </p:cNvPr>
          <p:cNvSpPr txBox="1"/>
          <p:nvPr/>
        </p:nvSpPr>
        <p:spPr>
          <a:xfrm>
            <a:off x="8732520" y="3175000"/>
            <a:ext cx="330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7FA6F5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+</a:t>
            </a:r>
            <a:endParaRPr kumimoji="1" lang="ja-JP" altLang="en-US" sz="1500" b="1">
              <a:solidFill>
                <a:srgbClr val="7FA6F5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37484D6F-5CAE-82FF-3F2E-86C9B0601918}"/>
              </a:ext>
            </a:extLst>
          </p:cNvPr>
          <p:cNvSpPr/>
          <p:nvPr/>
        </p:nvSpPr>
        <p:spPr>
          <a:xfrm>
            <a:off x="9062720" y="3175000"/>
            <a:ext cx="538480" cy="558800"/>
          </a:xfrm>
          <a:prstGeom prst="roundRect">
            <a:avLst>
              <a:gd name="adj" fmla="val 18000"/>
            </a:avLst>
          </a:prstGeom>
          <a:solidFill>
            <a:srgbClr val="25406E"/>
          </a:solidFill>
          <a:ln w="9525">
            <a:solidFill>
              <a:srgbClr val="3E5C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5838296F-4647-B18C-4692-99607A3D4B5B}"/>
              </a:ext>
            </a:extLst>
          </p:cNvPr>
          <p:cNvSpPr txBox="1"/>
          <p:nvPr/>
        </p:nvSpPr>
        <p:spPr>
          <a:xfrm>
            <a:off x="9062720" y="3175000"/>
            <a:ext cx="53848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5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endParaRPr kumimoji="1" lang="ja-JP" altLang="en-US" sz="15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BAEBA763-DA92-6E57-F4F3-CE1001DD5C83}"/>
              </a:ext>
            </a:extLst>
          </p:cNvPr>
          <p:cNvSpPr txBox="1"/>
          <p:nvPr/>
        </p:nvSpPr>
        <p:spPr>
          <a:xfrm>
            <a:off x="6578600" y="3886200"/>
            <a:ext cx="44704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同時に押すと管理画面が開きます。ファイル名の秒数・期限の誤りは「表示期限の指定」、壊れたファイルは「壊れたファイル」ダイアログで、開くたびに対象ファイルを知らせます。</a:t>
            </a: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1031F878-1166-3B11-97D9-D80073800261}"/>
              </a:ext>
            </a:extLst>
          </p:cNvPr>
          <p:cNvSpPr/>
          <p:nvPr/>
        </p:nvSpPr>
        <p:spPr>
          <a:xfrm>
            <a:off x="812800" y="5029200"/>
            <a:ext cx="10566400" cy="8382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716B561-E100-A561-9299-25497AF6AB56}"/>
              </a:ext>
            </a:extLst>
          </p:cNvPr>
          <p:cNvSpPr/>
          <p:nvPr/>
        </p:nvSpPr>
        <p:spPr>
          <a:xfrm>
            <a:off x="812800" y="5029200"/>
            <a:ext cx="50800" cy="838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BA7AAF3-5418-5FF2-86FB-8E1013DEEB65}"/>
              </a:ext>
            </a:extLst>
          </p:cNvPr>
          <p:cNvSpPr txBox="1"/>
          <p:nvPr/>
        </p:nvSpPr>
        <p:spPr>
          <a:xfrm>
            <a:off x="1092200" y="5029200"/>
            <a:ext cx="1342136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保存を忘れずに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E5774F15-B25C-C0F8-2B90-D266BC697378}"/>
              </a:ext>
            </a:extLst>
          </p:cNvPr>
          <p:cNvSpPr txBox="1"/>
          <p:nvPr/>
        </p:nvSpPr>
        <p:spPr>
          <a:xfrm>
            <a:off x="2434336" y="5029200"/>
            <a:ext cx="8665464" cy="838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値を変更したら「保存して設定する」をクリック。再起動なしで即時反映されます。画面下部が緑なら成功、赤なら入力内容を確認してください。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42417846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50041C5-1D54-E0A9-05AE-0D4F602D408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A4D9CFB-E64E-D6E3-03FB-BF3008224E2A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80EE3C-554C-FCC4-56A3-9EC1F7479A85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54E7645-67F4-26DD-1777-C090109F9258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管理画面の設定項目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CD410D-F80C-743F-11C4-E05E5BEC090F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7398771-904E-820E-07D7-2C7522688100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D995BD7-EB3B-91D8-A183-D47CBBB1A01D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F50BE0C-3161-4677-1D0C-1E17E46D558A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1114E2D-DE3F-D7F9-120A-E023587C6841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11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BA68ECFA-CBC9-12A7-BF43-EF1AAF2713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578106"/>
              </p:ext>
            </p:extLst>
          </p:nvPr>
        </p:nvGraphicFramePr>
        <p:xfrm>
          <a:off x="812800" y="1854200"/>
          <a:ext cx="10566400" cy="3632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373912898"/>
                    </a:ext>
                  </a:extLst>
                </a:gridCol>
                <a:gridCol w="7366000">
                  <a:extLst>
                    <a:ext uri="{9D8B030D-6E8A-4147-A177-3AD203B41FA5}">
                      <a16:colId xmlns:a16="http://schemas.microsoft.com/office/drawing/2014/main" val="237890613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設定項目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5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説明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179683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コンテンツを置くフォルダのパス。「参照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…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」から選択も可能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349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デフォルト表示秒数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画像・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PDF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の標準表示時間（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5〜300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005234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Windows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起動時に自動起動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にすると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起動・ログオン後にアプリが自動で立ち上がる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144353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毎日、指定時刻にアプリを終了する（例：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18:00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）。無効にすれば終了しない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61167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毎日、指定時刻に 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の電源を切る（例：</a:t>
                      </a:r>
                      <a:r>
                        <a:rPr kumimoji="1" lang="en-US" altLang="ja-JP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18:03</a:t>
                      </a: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）。無効にすれば電源オフしない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0010949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復帰不能時メッセージ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すべてのファイルが表示できないときに全画面へ出す文言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5625742"/>
                  </a:ext>
                </a:extLst>
              </a:tr>
            </a:tbl>
          </a:graphicData>
        </a:graphic>
      </p:graphicFrame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2C04151-FA09-9A02-2C47-922EF35990CB}"/>
              </a:ext>
            </a:extLst>
          </p:cNvPr>
          <p:cNvSpPr/>
          <p:nvPr/>
        </p:nvSpPr>
        <p:spPr>
          <a:xfrm>
            <a:off x="812800" y="5638800"/>
            <a:ext cx="10566400" cy="635000"/>
          </a:xfrm>
          <a:prstGeom prst="roundRect">
            <a:avLst>
              <a:gd name="adj" fmla="val 12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93476F4-51A4-BEDB-2A25-ECE472496040}"/>
              </a:ext>
            </a:extLst>
          </p:cNvPr>
          <p:cNvSpPr/>
          <p:nvPr/>
        </p:nvSpPr>
        <p:spPr>
          <a:xfrm>
            <a:off x="812800" y="5638800"/>
            <a:ext cx="50800" cy="6350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FC2420F-368D-1ADF-09DE-B9B164547986}"/>
              </a:ext>
            </a:extLst>
          </p:cNvPr>
          <p:cNvSpPr txBox="1"/>
          <p:nvPr/>
        </p:nvSpPr>
        <p:spPr>
          <a:xfrm>
            <a:off x="1092200" y="5638800"/>
            <a:ext cx="1342136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時刻の入力形式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DE4741D-4832-A142-407B-7922525A5A94}"/>
              </a:ext>
            </a:extLst>
          </p:cNvPr>
          <p:cNvSpPr txBox="1"/>
          <p:nvPr/>
        </p:nvSpPr>
        <p:spPr>
          <a:xfrm>
            <a:off x="2434336" y="5638800"/>
            <a:ext cx="8665464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HH:mm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（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24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時間制）で入力します。午後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6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、午前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9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時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30 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分は </a:t>
            </a:r>
            <a:r>
              <a:rPr kumimoji="1" lang="en-US" altLang="ja-JP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09:30</a:t>
            </a:r>
            <a:r>
              <a:rPr kumimoji="1" lang="ja-JP" altLang="en-US" sz="130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144752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7F00124-B71B-CEF3-904A-903E5AAB162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9630F53-D5EE-9D3D-9E3C-32E5AD50D5FA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DEB28B5-D9E4-319D-D67C-165800030570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89BAF4D-4871-7730-046F-22C5D8BDC3BB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夜に止めて、朝は自動で始める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FB759E5-85D9-DC2C-B831-58A607B31D36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AB878054-BBD5-1B68-A6E0-A7EC758B23D7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739728C-6C0E-1D2A-1C30-BF659F5E26C0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D4A2350-BCEA-5586-C7B3-27A4934F64CE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C32A158-CC6F-31E0-04C6-F4944A2D4878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12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143E0A4-5B09-509D-373E-6C57795E344E}"/>
              </a:ext>
            </a:extLst>
          </p:cNvPr>
          <p:cNvSpPr txBox="1"/>
          <p:nvPr/>
        </p:nvSpPr>
        <p:spPr>
          <a:xfrm>
            <a:off x="812800" y="1905000"/>
            <a:ext cx="10566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スケジュール設定と </a:t>
            </a:r>
            <a:r>
              <a:rPr kumimoji="1" lang="en-US" altLang="ja-JP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自動起動を組み合わせると、毎日の入切が不要になります。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780CA31-183C-D242-9450-8AC92FB020F1}"/>
              </a:ext>
            </a:extLst>
          </p:cNvPr>
          <p:cNvSpPr/>
          <p:nvPr/>
        </p:nvSpPr>
        <p:spPr>
          <a:xfrm>
            <a:off x="1320800" y="3556000"/>
            <a:ext cx="9550400" cy="254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324A2CA7-30B4-6FCB-4257-FF911D38EEA8}"/>
              </a:ext>
            </a:extLst>
          </p:cNvPr>
          <p:cNvSpPr txBox="1"/>
          <p:nvPr/>
        </p:nvSpPr>
        <p:spPr>
          <a:xfrm>
            <a:off x="8128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18:00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8FAAE59-EB71-A2EB-3261-131F0B004E83}"/>
              </a:ext>
            </a:extLst>
          </p:cNvPr>
          <p:cNvSpPr/>
          <p:nvPr/>
        </p:nvSpPr>
        <p:spPr>
          <a:xfrm>
            <a:off x="19431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A8FB8862-344B-7C73-6119-49805C9D8F51}"/>
              </a:ext>
            </a:extLst>
          </p:cNvPr>
          <p:cNvSpPr/>
          <p:nvPr/>
        </p:nvSpPr>
        <p:spPr>
          <a:xfrm>
            <a:off x="8128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9D3F172F-817F-4ED7-8279-0D787BD54122}"/>
              </a:ext>
            </a:extLst>
          </p:cNvPr>
          <p:cNvSpPr txBox="1"/>
          <p:nvPr/>
        </p:nvSpPr>
        <p:spPr>
          <a:xfrm>
            <a:off x="10160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9F174F3-B423-27ED-0D1F-A6935AFD5EB3}"/>
              </a:ext>
            </a:extLst>
          </p:cNvPr>
          <p:cNvSpPr txBox="1"/>
          <p:nvPr/>
        </p:nvSpPr>
        <p:spPr>
          <a:xfrm>
            <a:off x="10160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サイネージ表示を終了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1285755-ACBB-DD01-E467-135F925E1E73}"/>
              </a:ext>
            </a:extLst>
          </p:cNvPr>
          <p:cNvSpPr txBox="1"/>
          <p:nvPr/>
        </p:nvSpPr>
        <p:spPr>
          <a:xfrm>
            <a:off x="35052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7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18:03</a:t>
            </a:r>
            <a:endParaRPr kumimoji="1" lang="ja-JP" altLang="en-US" sz="170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1892D8D8-7BF4-47AE-0903-326AE8F7974C}"/>
              </a:ext>
            </a:extLst>
          </p:cNvPr>
          <p:cNvSpPr/>
          <p:nvPr/>
        </p:nvSpPr>
        <p:spPr>
          <a:xfrm>
            <a:off x="46355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563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21A5C6A7-E7C4-EF2A-3117-ABEC8AF1D24E}"/>
              </a:ext>
            </a:extLst>
          </p:cNvPr>
          <p:cNvSpPr/>
          <p:nvPr/>
        </p:nvSpPr>
        <p:spPr>
          <a:xfrm>
            <a:off x="35052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9F0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38134E3-CBB5-8769-1936-7FCD387E0A0B}"/>
              </a:ext>
            </a:extLst>
          </p:cNvPr>
          <p:cNvSpPr txBox="1"/>
          <p:nvPr/>
        </p:nvSpPr>
        <p:spPr>
          <a:xfrm>
            <a:off x="37084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</a:t>
            </a: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C4A2463A-C57A-6ECB-F98E-5188A4775593}"/>
              </a:ext>
            </a:extLst>
          </p:cNvPr>
          <p:cNvSpPr txBox="1"/>
          <p:nvPr/>
        </p:nvSpPr>
        <p:spPr>
          <a:xfrm>
            <a:off x="37084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任意。無効にもできる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62C7BBF3-58E9-BA28-9E50-3021D4F53A94}"/>
              </a:ext>
            </a:extLst>
          </p:cNvPr>
          <p:cNvSpPr txBox="1"/>
          <p:nvPr/>
        </p:nvSpPr>
        <p:spPr>
          <a:xfrm>
            <a:off x="61976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翌朝</a:t>
            </a:r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6C27A516-AE08-4626-10DD-F4F6401B18F7}"/>
              </a:ext>
            </a:extLst>
          </p:cNvPr>
          <p:cNvSpPr/>
          <p:nvPr/>
        </p:nvSpPr>
        <p:spPr>
          <a:xfrm>
            <a:off x="73279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405FF2C6-B9C6-169D-4433-CADE9B3BB774}"/>
              </a:ext>
            </a:extLst>
          </p:cNvPr>
          <p:cNvSpPr/>
          <p:nvPr/>
        </p:nvSpPr>
        <p:spPr>
          <a:xfrm>
            <a:off x="61976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ACC33E3-FA74-D53B-8E19-BE3AE04F81AD}"/>
              </a:ext>
            </a:extLst>
          </p:cNvPr>
          <p:cNvSpPr txBox="1"/>
          <p:nvPr/>
        </p:nvSpPr>
        <p:spPr>
          <a:xfrm>
            <a:off x="64008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起動・ログオン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284054D0-0A2C-8D9C-E4AB-E6E262435561}"/>
              </a:ext>
            </a:extLst>
          </p:cNvPr>
          <p:cNvSpPr txBox="1"/>
          <p:nvPr/>
        </p:nvSpPr>
        <p:spPr>
          <a:xfrm>
            <a:off x="64008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出勤時や電源スケジュールで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EFF584A-C38B-43BA-372E-0CBF5044A3E6}"/>
              </a:ext>
            </a:extLst>
          </p:cNvPr>
          <p:cNvSpPr txBox="1"/>
          <p:nvPr/>
        </p:nvSpPr>
        <p:spPr>
          <a:xfrm>
            <a:off x="8890000" y="2743200"/>
            <a:ext cx="2489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7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</a:t>
            </a:r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2333ED7E-6A88-DD96-CA57-44C5583EE464}"/>
              </a:ext>
            </a:extLst>
          </p:cNvPr>
          <p:cNvSpPr/>
          <p:nvPr/>
        </p:nvSpPr>
        <p:spPr>
          <a:xfrm>
            <a:off x="10020300" y="3454400"/>
            <a:ext cx="228600" cy="2286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0F8E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3F30BD8D-2C9D-D7D0-C446-A495DC17974C}"/>
              </a:ext>
            </a:extLst>
          </p:cNvPr>
          <p:cNvSpPr/>
          <p:nvPr/>
        </p:nvSpPr>
        <p:spPr>
          <a:xfrm>
            <a:off x="8890000" y="3937000"/>
            <a:ext cx="2489200" cy="1219200"/>
          </a:xfrm>
          <a:prstGeom prst="roundRect">
            <a:avLst>
              <a:gd name="adj" fmla="val 10000"/>
            </a:avLst>
          </a:prstGeom>
          <a:solidFill>
            <a:srgbClr val="E3F4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CC82696E-DDD2-2F29-4FEB-3EA9A4893BA1}"/>
              </a:ext>
            </a:extLst>
          </p:cNvPr>
          <p:cNvSpPr txBox="1"/>
          <p:nvPr/>
        </p:nvSpPr>
        <p:spPr>
          <a:xfrm>
            <a:off x="9093200" y="4165600"/>
            <a:ext cx="208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サイネージ開始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FC47499-5EEA-F476-1431-F4190E4423DA}"/>
              </a:ext>
            </a:extLst>
          </p:cNvPr>
          <p:cNvSpPr txBox="1"/>
          <p:nvPr/>
        </p:nvSpPr>
        <p:spPr>
          <a:xfrm>
            <a:off x="9093200" y="4521200"/>
            <a:ext cx="20828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Windows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自動起動が </a:t>
            </a:r>
            <a:r>
              <a:rPr kumimoji="1" lang="en-US" altLang="ja-JP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ON </a:t>
            </a:r>
            <a:r>
              <a:rPr kumimoji="1" lang="ja-JP" altLang="en-US" sz="11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なら</a:t>
            </a:r>
          </a:p>
        </p:txBody>
      </p: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5DDD4FB9-E9E6-60A1-73EE-381703C753F2}"/>
              </a:ext>
            </a:extLst>
          </p:cNvPr>
          <p:cNvSpPr/>
          <p:nvPr/>
        </p:nvSpPr>
        <p:spPr>
          <a:xfrm>
            <a:off x="812800" y="5435600"/>
            <a:ext cx="10566400" cy="7620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63C6BAA-512C-B69C-8D45-BD40C0C10257}"/>
              </a:ext>
            </a:extLst>
          </p:cNvPr>
          <p:cNvSpPr/>
          <p:nvPr/>
        </p:nvSpPr>
        <p:spPr>
          <a:xfrm>
            <a:off x="812800" y="5435600"/>
            <a:ext cx="50800" cy="762000"/>
          </a:xfrm>
          <a:prstGeom prst="rect">
            <a:avLst/>
          </a:prstGeom>
          <a:solidFill>
            <a:srgbClr val="8794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55BE978-8B04-F3C9-0920-2E9B76748A25}"/>
              </a:ext>
            </a:extLst>
          </p:cNvPr>
          <p:cNvSpPr txBox="1"/>
          <p:nvPr/>
        </p:nvSpPr>
        <p:spPr>
          <a:xfrm>
            <a:off x="1092200" y="5435600"/>
            <a:ext cx="551942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補足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C997D6B4-A06F-7008-6A28-A6A68C40D43D}"/>
              </a:ext>
            </a:extLst>
          </p:cNvPr>
          <p:cNvSpPr txBox="1"/>
          <p:nvPr/>
        </p:nvSpPr>
        <p:spPr>
          <a:xfrm>
            <a:off x="1644142" y="5435600"/>
            <a:ext cx="9455658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アプリ終了時刻を有効にすると、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電源オフの初期値はその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分後になります（変更可）。電源オフに失敗した場合はログに記録されるため、社内の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管理ポリシーを確認してください。</a:t>
            </a:r>
          </a:p>
        </p:txBody>
      </p:sp>
    </p:spTree>
    <p:extLst>
      <p:ext uri="{BB962C8B-B14F-4D97-AF65-F5344CB8AC3E}">
        <p14:creationId xmlns:p14="http://schemas.microsoft.com/office/powerpoint/2010/main" val="27748488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DED165-AB54-DDFA-3AE4-353FE477B6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5F21F8A-099F-CAD6-CFBC-6A0BF221D004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76A8ABB-BF74-5F87-3B1F-B03AB89B1DDF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FOR ADMINISTRATOR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52DAAF7-FAE6-2058-3744-6CDFF52DB87B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アプリの終了とログの場所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E5FFEC5-3116-8128-B4CD-5BA591EA1B84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1B5C1D3-9C25-BB48-A355-0BBAAA67D376}"/>
              </a:ext>
            </a:extLst>
          </p:cNvPr>
          <p:cNvSpPr/>
          <p:nvPr/>
        </p:nvSpPr>
        <p:spPr>
          <a:xfrm>
            <a:off x="10006203" y="736600"/>
            <a:ext cx="1372997" cy="330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07245C2-D8A1-18DC-0210-58EB634ADF17}"/>
              </a:ext>
            </a:extLst>
          </p:cNvPr>
          <p:cNvSpPr txBox="1"/>
          <p:nvPr/>
        </p:nvSpPr>
        <p:spPr>
          <a:xfrm>
            <a:off x="10006203" y="736600"/>
            <a:ext cx="1372997" cy="330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ja-JP" altLang="en-US" sz="115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407B692-16EF-D690-041D-747B37A166E7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5FDB20C-9CC8-704A-B290-CF23888118F0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13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4CA538B-DCC3-0911-0BB7-E1D68AED8A5F}"/>
              </a:ext>
            </a:extLst>
          </p:cNvPr>
          <p:cNvSpPr/>
          <p:nvPr/>
        </p:nvSpPr>
        <p:spPr>
          <a:xfrm>
            <a:off x="8128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00E6099-1694-969F-3B16-C51CFA890C4D}"/>
              </a:ext>
            </a:extLst>
          </p:cNvPr>
          <p:cNvSpPr/>
          <p:nvPr/>
        </p:nvSpPr>
        <p:spPr>
          <a:xfrm>
            <a:off x="812800" y="1905000"/>
            <a:ext cx="51308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6A7BDAC-DFF4-9A31-89E5-F626A093175A}"/>
              </a:ext>
            </a:extLst>
          </p:cNvPr>
          <p:cNvSpPr txBox="1"/>
          <p:nvPr/>
        </p:nvSpPr>
        <p:spPr>
          <a:xfrm>
            <a:off x="11430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アプリを終了する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1D21002-C6C5-55F1-D303-46C2CE391F9E}"/>
              </a:ext>
            </a:extLst>
          </p:cNvPr>
          <p:cNvSpPr txBox="1"/>
          <p:nvPr/>
        </p:nvSpPr>
        <p:spPr>
          <a:xfrm>
            <a:off x="1143000" y="2870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管理画面から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A87063D-6A00-FFCE-AFDF-2E8BD567AD66}"/>
              </a:ext>
            </a:extLst>
          </p:cNvPr>
          <p:cNvSpPr txBox="1"/>
          <p:nvPr/>
        </p:nvSpPr>
        <p:spPr>
          <a:xfrm>
            <a:off x="1143000" y="31496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→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「アプリを終了」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C03DDE7-9937-D998-EF15-E4D66F292153}"/>
              </a:ext>
            </a:extLst>
          </p:cNvPr>
          <p:cNvSpPr txBox="1"/>
          <p:nvPr/>
        </p:nvSpPr>
        <p:spPr>
          <a:xfrm>
            <a:off x="1143000" y="36830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管理画面を閉じる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6AD7480-3CF8-EBCA-6A84-6102113A0759}"/>
              </a:ext>
            </a:extLst>
          </p:cNvPr>
          <p:cNvSpPr txBox="1"/>
          <p:nvPr/>
        </p:nvSpPr>
        <p:spPr>
          <a:xfrm>
            <a:off x="1143000" y="39624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×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ボタンで閉じるとアプリも終了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8672D2F-9B4C-A860-9A69-5C2854635E07}"/>
              </a:ext>
            </a:extLst>
          </p:cNvPr>
          <p:cNvSpPr txBox="1"/>
          <p:nvPr/>
        </p:nvSpPr>
        <p:spPr>
          <a:xfrm>
            <a:off x="1143000" y="44958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3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スケジュール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60EBF01-8145-01F9-E9F8-10477651A312}"/>
              </a:ext>
            </a:extLst>
          </p:cNvPr>
          <p:cNvSpPr txBox="1"/>
          <p:nvPr/>
        </p:nvSpPr>
        <p:spPr>
          <a:xfrm>
            <a:off x="1143000" y="4775200"/>
            <a:ext cx="44704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設定した終了時刻に到達すると自動で終了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B78A8719-566E-DC7B-D0E6-3AB131AE1AF0}"/>
              </a:ext>
            </a:extLst>
          </p:cNvPr>
          <p:cNvSpPr/>
          <p:nvPr/>
        </p:nvSpPr>
        <p:spPr>
          <a:xfrm>
            <a:off x="6248400" y="1905000"/>
            <a:ext cx="5130800" cy="370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EE5E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7426FBC6-D611-4C12-4D22-2AF1BB4B42FF}"/>
              </a:ext>
            </a:extLst>
          </p:cNvPr>
          <p:cNvSpPr/>
          <p:nvPr/>
        </p:nvSpPr>
        <p:spPr>
          <a:xfrm>
            <a:off x="6248400" y="1905000"/>
            <a:ext cx="5130800" cy="63500"/>
          </a:xfrm>
          <a:prstGeom prst="rect">
            <a:avLst/>
          </a:prstGeom>
          <a:solidFill>
            <a:srgbClr val="B469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53AE4BA-88B5-EF56-692A-406AE02D6F3A}"/>
              </a:ext>
            </a:extLst>
          </p:cNvPr>
          <p:cNvSpPr txBox="1"/>
          <p:nvPr/>
        </p:nvSpPr>
        <p:spPr>
          <a:xfrm>
            <a:off x="6578600" y="2286000"/>
            <a:ext cx="4470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9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ログを確認する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EAC4C28-BC1C-85E5-6FFD-9FDEE83DEC5D}"/>
              </a:ext>
            </a:extLst>
          </p:cNvPr>
          <p:cNvSpPr txBox="1"/>
          <p:nvPr/>
        </p:nvSpPr>
        <p:spPr>
          <a:xfrm>
            <a:off x="6578600" y="2743200"/>
            <a:ext cx="4470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表示に問題があるときは、管理者がログを確認できます。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3E92E8F-51E6-FD9F-399C-B58ADDA928E2}"/>
              </a:ext>
            </a:extLst>
          </p:cNvPr>
          <p:cNvSpPr/>
          <p:nvPr/>
        </p:nvSpPr>
        <p:spPr>
          <a:xfrm>
            <a:off x="6578600" y="31750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54996EE-0137-293A-8F7A-7F4627E1F4F8}"/>
              </a:ext>
            </a:extLst>
          </p:cNvPr>
          <p:cNvSpPr txBox="1"/>
          <p:nvPr/>
        </p:nvSpPr>
        <p:spPr>
          <a:xfrm>
            <a:off x="6781800" y="31242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場所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D94A975-22A6-BC22-2810-B0C36A04DE82}"/>
              </a:ext>
            </a:extLst>
          </p:cNvPr>
          <p:cNvSpPr txBox="1"/>
          <p:nvPr/>
        </p:nvSpPr>
        <p:spPr>
          <a:xfrm>
            <a:off x="6781800" y="33782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監視フォルダと同じ階層の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logs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B48B4B5A-BF50-DE19-26F5-3F08F9A87B59}"/>
              </a:ext>
            </a:extLst>
          </p:cNvPr>
          <p:cNvSpPr/>
          <p:nvPr/>
        </p:nvSpPr>
        <p:spPr>
          <a:xfrm>
            <a:off x="6578600" y="38862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CE45C94-8224-6F99-D651-E63E4EA13A6B}"/>
              </a:ext>
            </a:extLst>
          </p:cNvPr>
          <p:cNvSpPr txBox="1"/>
          <p:nvPr/>
        </p:nvSpPr>
        <p:spPr>
          <a:xfrm>
            <a:off x="6781800" y="38354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例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A0D5F102-9818-9166-ABE5-7D2953E39406}"/>
              </a:ext>
            </a:extLst>
          </p:cNvPr>
          <p:cNvSpPr txBox="1"/>
          <p:nvPr/>
        </p:nvSpPr>
        <p:spPr>
          <a:xfrm>
            <a:off x="6781800" y="40894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監視フォルダが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D:\Signage →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ログは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D:\logs</a:t>
            </a:r>
            <a:endParaRPr kumimoji="1" lang="ja-JP" altLang="en-US" sz="1250">
              <a:solidFill>
                <a:srgbClr val="465263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1963C78D-3212-CE6A-FFEF-9CD1EE16B9AA}"/>
              </a:ext>
            </a:extLst>
          </p:cNvPr>
          <p:cNvSpPr/>
          <p:nvPr/>
        </p:nvSpPr>
        <p:spPr>
          <a:xfrm>
            <a:off x="6578600" y="4597400"/>
            <a:ext cx="38100" cy="508000"/>
          </a:xfrm>
          <a:prstGeom prst="rect">
            <a:avLst/>
          </a:prstGeom>
          <a:solidFill>
            <a:srgbClr val="FDF3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DD07F817-4FFB-9D07-FCF1-1A5C9D9D8D71}"/>
              </a:ext>
            </a:extLst>
          </p:cNvPr>
          <p:cNvSpPr txBox="1"/>
          <p:nvPr/>
        </p:nvSpPr>
        <p:spPr>
          <a:xfrm>
            <a:off x="6781800" y="4546600"/>
            <a:ext cx="44704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 b="1">
                <a:solidFill>
                  <a:srgbClr val="B4690E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保存期間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6973D142-1698-4FA5-D3A9-BA5B4A585639}"/>
              </a:ext>
            </a:extLst>
          </p:cNvPr>
          <p:cNvSpPr txBox="1"/>
          <p:nvPr/>
        </p:nvSpPr>
        <p:spPr>
          <a:xfrm>
            <a:off x="6781800" y="4800600"/>
            <a:ext cx="42672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7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日間（古いログは自動削除）</a:t>
            </a:r>
          </a:p>
        </p:txBody>
      </p:sp>
    </p:spTree>
    <p:extLst>
      <p:ext uri="{BB962C8B-B14F-4D97-AF65-F5344CB8AC3E}">
        <p14:creationId xmlns:p14="http://schemas.microsoft.com/office/powerpoint/2010/main" val="15929182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C96C96C-A80B-699B-CE05-A21DEC908C2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B7E03D2-410D-910B-BD58-0581DCDB6B79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6E466D1-FFAA-92C3-980E-58D292451E66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D66264A-1690-D138-1F50-02743182FC75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1/2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6B072F6-A24C-47C7-2AE3-BA50C1F183C1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65A4B70-D52C-4AE4-D056-A2BFED2DB583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3C127F4-7131-DD95-8BC9-D4D0E96E2A40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14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5399252A-2810-0309-1B33-495EB4A430CB}"/>
              </a:ext>
            </a:extLst>
          </p:cNvPr>
          <p:cNvSpPr/>
          <p:nvPr/>
        </p:nvSpPr>
        <p:spPr>
          <a:xfrm>
            <a:off x="812800" y="19304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23CFD5F2-C32C-9E2E-9692-558CA5873437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77F2F75-A670-BC5D-74B6-F122F4714A98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0BEFE2F-2343-CB46-8CCE-7F946873B143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ファイルを入れたのに、すぐ変わりません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E795210-C088-4680-5D01-BD8FC74A8ADE}"/>
              </a:ext>
            </a:extLst>
          </p:cNvPr>
          <p:cNvSpPr txBox="1"/>
          <p:nvPr/>
        </p:nvSpPr>
        <p:spPr>
          <a:xfrm>
            <a:off x="1651000" y="25019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いま表示中のスライドが終わるまで待ちます。動画の場合は再生が完了するまで切り替わりません。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64091AB-43E2-9C39-C588-95764508974B}"/>
              </a:ext>
            </a:extLst>
          </p:cNvPr>
          <p:cNvSpPr/>
          <p:nvPr/>
        </p:nvSpPr>
        <p:spPr>
          <a:xfrm>
            <a:off x="812800" y="32512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6BBA63C2-D063-1309-B276-0A3A0A7D7082}"/>
              </a:ext>
            </a:extLst>
          </p:cNvPr>
          <p:cNvSpPr/>
          <p:nvPr/>
        </p:nvSpPr>
        <p:spPr>
          <a:xfrm>
            <a:off x="1092200" y="35052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2CAE62D0-928F-5ACF-FCA2-3ED4106540B2}"/>
              </a:ext>
            </a:extLst>
          </p:cNvPr>
          <p:cNvSpPr txBox="1"/>
          <p:nvPr/>
        </p:nvSpPr>
        <p:spPr>
          <a:xfrm>
            <a:off x="1092200" y="35052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2C1F641-1371-2139-0F34-FA9F49B454C4}"/>
              </a:ext>
            </a:extLst>
          </p:cNvPr>
          <p:cNvSpPr txBox="1"/>
          <p:nvPr/>
        </p:nvSpPr>
        <p:spPr>
          <a:xfrm>
            <a:off x="1651000" y="34798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サブフォルダに入れたファイルが表示されません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FE88E3A-3017-2EE7-0706-1170CA536F85}"/>
              </a:ext>
            </a:extLst>
          </p:cNvPr>
          <p:cNvSpPr txBox="1"/>
          <p:nvPr/>
        </p:nvSpPr>
        <p:spPr>
          <a:xfrm>
            <a:off x="1651000" y="38227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監視フォルダの直下だけが対象です。ファイルを一つ上のフォルダへ移動してください。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58DB4A9C-1D8F-FC9F-D16A-F3232D67A7BF}"/>
              </a:ext>
            </a:extLst>
          </p:cNvPr>
          <p:cNvSpPr/>
          <p:nvPr/>
        </p:nvSpPr>
        <p:spPr>
          <a:xfrm>
            <a:off x="812800" y="45720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FAB0F870-554F-FCB3-068B-2E5A29DBB773}"/>
              </a:ext>
            </a:extLst>
          </p:cNvPr>
          <p:cNvSpPr/>
          <p:nvPr/>
        </p:nvSpPr>
        <p:spPr>
          <a:xfrm>
            <a:off x="1092200" y="48260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ADEA0F9-EDFB-04FE-0F6D-334F611C893B}"/>
              </a:ext>
            </a:extLst>
          </p:cNvPr>
          <p:cNvSpPr txBox="1"/>
          <p:nvPr/>
        </p:nvSpPr>
        <p:spPr>
          <a:xfrm>
            <a:off x="1092200" y="48260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2420FF2-C7DA-F1C8-8D8B-214F85740936}"/>
              </a:ext>
            </a:extLst>
          </p:cNvPr>
          <p:cNvSpPr txBox="1"/>
          <p:nvPr/>
        </p:nvSpPr>
        <p:spPr>
          <a:xfrm>
            <a:off x="1651000" y="48006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管理画面が開けません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550C29D-CDF9-2650-F15C-191BEB8B67B0}"/>
              </a:ext>
            </a:extLst>
          </p:cNvPr>
          <p:cNvSpPr txBox="1"/>
          <p:nvPr/>
        </p:nvSpPr>
        <p:spPr>
          <a:xfrm>
            <a:off x="1651000" y="51435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・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を同時に押してください。キオスク表示の画面がアクティブな状態で試すのがポイントです。</a:t>
            </a:r>
          </a:p>
        </p:txBody>
      </p:sp>
    </p:spTree>
    <p:extLst>
      <p:ext uri="{BB962C8B-B14F-4D97-AF65-F5344CB8AC3E}">
        <p14:creationId xmlns:p14="http://schemas.microsoft.com/office/powerpoint/2010/main" val="2779407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DB5F5CB-6EF8-C495-F925-34110A5D92C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8C883FC-DD91-CB3A-586D-8AB1716EED95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C2A2C24-2E5B-1F40-BF8A-441A0FAD55F3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FAQ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AC670A0-1F24-606D-7D0E-8D744C91A376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よくある質問（</a:t>
            </a:r>
            <a:r>
              <a:rPr kumimoji="1" lang="en-US" altLang="ja-JP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2/2</a:t>
            </a: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417CBC5-D6E6-FBA7-25FE-4C0C19D8C5D0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F54B5BF-E524-BB72-77A7-17BAF11D18F3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02B127B-A274-7DD9-B8BA-F61890C421A9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15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756E5A98-4647-E28E-A638-E6890934411B}"/>
              </a:ext>
            </a:extLst>
          </p:cNvPr>
          <p:cNvSpPr/>
          <p:nvPr/>
        </p:nvSpPr>
        <p:spPr>
          <a:xfrm>
            <a:off x="812800" y="19304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5772AA1F-6425-0721-FAFD-ED4EAE4FCC79}"/>
              </a:ext>
            </a:extLst>
          </p:cNvPr>
          <p:cNvSpPr/>
          <p:nvPr/>
        </p:nvSpPr>
        <p:spPr>
          <a:xfrm>
            <a:off x="1092200" y="21844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054B83F-7D6E-8503-E295-A721722C432A}"/>
              </a:ext>
            </a:extLst>
          </p:cNvPr>
          <p:cNvSpPr txBox="1"/>
          <p:nvPr/>
        </p:nvSpPr>
        <p:spPr>
          <a:xfrm>
            <a:off x="1092200" y="21844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0580CC9-EA0F-982D-E7D9-0CE43F9C2196}"/>
              </a:ext>
            </a:extLst>
          </p:cNvPr>
          <p:cNvSpPr txBox="1"/>
          <p:nvPr/>
        </p:nvSpPr>
        <p:spPr>
          <a:xfrm>
            <a:off x="1651000" y="21590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画面に「表示を復旧しています」と出ます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ECBBD54-DFB6-B236-127B-CF6A077D66B6}"/>
              </a:ext>
            </a:extLst>
          </p:cNvPr>
          <p:cNvSpPr txBox="1"/>
          <p:nvPr/>
        </p:nvSpPr>
        <p:spPr>
          <a:xfrm>
            <a:off x="1651000" y="25019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フォルダ内のファイルがすべて読み込めない状態です。管理画面を開くと「壊れたファイル」ダイアログで対象ファイル名が出ます。文言は「復帰不能時メッセージ」で変更できます。</a:t>
            </a: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5A8824FC-B3EC-A4D1-B15E-B09327CF5051}"/>
              </a:ext>
            </a:extLst>
          </p:cNvPr>
          <p:cNvSpPr/>
          <p:nvPr/>
        </p:nvSpPr>
        <p:spPr>
          <a:xfrm>
            <a:off x="812800" y="3352800"/>
            <a:ext cx="10566400" cy="11684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楕円 14">
            <a:extLst>
              <a:ext uri="{FF2B5EF4-FFF2-40B4-BE49-F238E27FC236}">
                <a16:creationId xmlns:a16="http://schemas.microsoft.com/office/drawing/2014/main" id="{A36272CB-48C7-0697-C7CC-45C0187DEEB5}"/>
              </a:ext>
            </a:extLst>
          </p:cNvPr>
          <p:cNvSpPr/>
          <p:nvPr/>
        </p:nvSpPr>
        <p:spPr>
          <a:xfrm>
            <a:off x="1092200" y="36068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A1B452A-1D03-9C15-1BFA-F770ABAC1BC5}"/>
              </a:ext>
            </a:extLst>
          </p:cNvPr>
          <p:cNvSpPr txBox="1"/>
          <p:nvPr/>
        </p:nvSpPr>
        <p:spPr>
          <a:xfrm>
            <a:off x="1092200" y="36068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2091C49-8CF7-7057-974D-4A67BFA83537}"/>
              </a:ext>
            </a:extLst>
          </p:cNvPr>
          <p:cNvSpPr txBox="1"/>
          <p:nvPr/>
        </p:nvSpPr>
        <p:spPr>
          <a:xfrm>
            <a:off x="1651000" y="35814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壊れたファイルがあるか知りたい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8766304-984E-CCF1-DEE0-69257B637685}"/>
              </a:ext>
            </a:extLst>
          </p:cNvPr>
          <p:cNvSpPr txBox="1"/>
          <p:nvPr/>
        </p:nvSpPr>
        <p:spPr>
          <a:xfrm>
            <a:off x="1651000" y="3924300"/>
            <a:ext cx="9347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管理画面（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）を開くたびに、「壊れたファイル」ダイアログで対象ファイル名が出ます。再生は続き、壊れたファイルだけ飛ばします。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9F4C1527-69BB-5E6B-8A96-96E92501BF4A}"/>
              </a:ext>
            </a:extLst>
          </p:cNvPr>
          <p:cNvSpPr/>
          <p:nvPr/>
        </p:nvSpPr>
        <p:spPr>
          <a:xfrm>
            <a:off x="812800" y="4673600"/>
            <a:ext cx="10566400" cy="1270000"/>
          </a:xfrm>
          <a:prstGeom prst="roundRect">
            <a:avLst>
              <a:gd name="adj" fmla="val 16000"/>
            </a:avLst>
          </a:prstGeom>
          <a:solidFill>
            <a:srgbClr val="F5F7F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B6F3A6AE-62BF-F71B-1530-59F6F0650B28}"/>
              </a:ext>
            </a:extLst>
          </p:cNvPr>
          <p:cNvSpPr/>
          <p:nvPr/>
        </p:nvSpPr>
        <p:spPr>
          <a:xfrm>
            <a:off x="1092200" y="4927600"/>
            <a:ext cx="381000" cy="381000"/>
          </a:xfrm>
          <a:prstGeom prst="ellipse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3509768B-DA04-1750-11F5-A6CAD5C3E075}"/>
              </a:ext>
            </a:extLst>
          </p:cNvPr>
          <p:cNvSpPr txBox="1"/>
          <p:nvPr/>
        </p:nvSpPr>
        <p:spPr>
          <a:xfrm>
            <a:off x="1092200" y="4927600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ja-JP" sz="14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Q</a:t>
            </a:r>
            <a:endParaRPr kumimoji="1" lang="ja-JP" altLang="en-US" sz="1400" b="1">
              <a:solidFill>
                <a:srgbClr val="FFFFFF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A68DD706-1C03-C0D8-E032-E3744F6B7873}"/>
              </a:ext>
            </a:extLst>
          </p:cNvPr>
          <p:cNvSpPr txBox="1"/>
          <p:nvPr/>
        </p:nvSpPr>
        <p:spPr>
          <a:xfrm>
            <a:off x="1651000" y="4902200"/>
            <a:ext cx="93472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複数の </a:t>
            </a:r>
            <a:r>
              <a:rPr kumimoji="1" lang="en-US" altLang="ja-JP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45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で同じフォルダを見せたい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E005D049-7691-4566-FAA4-471ACFA877F1}"/>
              </a:ext>
            </a:extLst>
          </p:cNvPr>
          <p:cNvSpPr txBox="1"/>
          <p:nvPr/>
        </p:nvSpPr>
        <p:spPr>
          <a:xfrm>
            <a:off x="1651000" y="5245100"/>
            <a:ext cx="93472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5000"/>
              </a:lnSpc>
            </a:pP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各 </a:t>
            </a:r>
            <a:r>
              <a:rPr kumimoji="1" lang="en-US" altLang="ja-JP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PC </a:t>
            </a:r>
            <a:r>
              <a:rPr kumimoji="1" lang="ja-JP" altLang="en-US" sz="1250">
                <a:solidFill>
                  <a:srgbClr val="465263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にアプリを入れて同じ共有フォルダを指定する運用は可能ですが、ネットワーク共有パスの正式サポートは将来拡張です。まずはローカルフォルダを推奨します。アクセス制限は導入先の共有設定に任せ、アプリでは権限管理しません。</a:t>
            </a:r>
          </a:p>
        </p:txBody>
      </p:sp>
    </p:spTree>
    <p:extLst>
      <p:ext uri="{BB962C8B-B14F-4D97-AF65-F5344CB8AC3E}">
        <p14:creationId xmlns:p14="http://schemas.microsoft.com/office/powerpoint/2010/main" val="34068829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AF681D4-3647-ECA1-ABB2-6699E599B59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255E4EF-699C-A2C1-05FA-83584BBC7C27}"/>
              </a:ext>
            </a:extLst>
          </p:cNvPr>
          <p:cNvSpPr/>
          <p:nvPr/>
        </p:nvSpPr>
        <p:spPr>
          <a:xfrm>
            <a:off x="812800" y="584200"/>
            <a:ext cx="63500" cy="5842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E39C8B0-31D3-711A-D9B0-57FE1E2AEE32}"/>
              </a:ext>
            </a:extLst>
          </p:cNvPr>
          <p:cNvSpPr txBox="1"/>
          <p:nvPr/>
        </p:nvSpPr>
        <p:spPr>
          <a:xfrm>
            <a:off x="1028700" y="5715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en-US" altLang="ja-JP" sz="105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CHEAT SHEET</a:t>
            </a:r>
            <a:endParaRPr kumimoji="1" lang="ja-JP" altLang="en-US" sz="1050" b="1">
              <a:solidFill>
                <a:srgbClr val="2563EB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E6A5CA-760D-1EFC-D3EB-CF37219C19E0}"/>
              </a:ext>
            </a:extLst>
          </p:cNvPr>
          <p:cNvSpPr txBox="1"/>
          <p:nvPr/>
        </p:nvSpPr>
        <p:spPr>
          <a:xfrm>
            <a:off x="1028700" y="774700"/>
            <a:ext cx="8128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2700" b="1">
                <a:solidFill>
                  <a:srgbClr val="1B2430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操作の早見表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7BBFC33-ADEA-BEDB-9E98-02F737CEC1D5}"/>
              </a:ext>
            </a:extLst>
          </p:cNvPr>
          <p:cNvSpPr/>
          <p:nvPr/>
        </p:nvSpPr>
        <p:spPr>
          <a:xfrm>
            <a:off x="812800" y="1498600"/>
            <a:ext cx="10566400" cy="12700"/>
          </a:xfrm>
          <a:prstGeom prst="rect">
            <a:avLst/>
          </a:prstGeom>
          <a:solidFill>
            <a:srgbClr val="DEE5E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E41E781-4061-0FC2-299B-76EC747785D1}"/>
              </a:ext>
            </a:extLst>
          </p:cNvPr>
          <p:cNvSpPr txBox="1"/>
          <p:nvPr/>
        </p:nvSpPr>
        <p:spPr>
          <a:xfrm>
            <a:off x="812800" y="63754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41380AD-9BFF-D763-DA01-60F8F7A6D25F}"/>
              </a:ext>
            </a:extLst>
          </p:cNvPr>
          <p:cNvSpPr txBox="1"/>
          <p:nvPr/>
        </p:nvSpPr>
        <p:spPr>
          <a:xfrm>
            <a:off x="10109200" y="6375400"/>
            <a:ext cx="127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>
              <a:lnSpc>
                <a:spcPct val="130000"/>
              </a:lnSpc>
            </a:pPr>
            <a:r>
              <a:rPr kumimoji="1" lang="en-US" altLang="ja-JP" sz="900">
                <a:solidFill>
                  <a:srgbClr val="8794A8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16</a:t>
            </a:r>
            <a:endParaRPr kumimoji="1" lang="ja-JP" altLang="en-US" sz="900">
              <a:solidFill>
                <a:srgbClr val="8794A8"/>
              </a:solidFill>
              <a:latin typeface="Yu Gothic UI" panose="020B0500000000000000" pitchFamily="50" charset="-128"/>
              <a:ea typeface="Yu Gothic UI" panose="020B05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B99BFED-FE64-DFB7-2A39-01ADB1ED46D9}"/>
              </a:ext>
            </a:extLst>
          </p:cNvPr>
          <p:cNvSpPr txBox="1"/>
          <p:nvPr/>
        </p:nvSpPr>
        <p:spPr>
          <a:xfrm>
            <a:off x="8128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0F8E92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コンテンツ担当者</a:t>
            </a: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7696644C-1626-4C1C-1CF9-9EDE64DE36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592971"/>
              </p:ext>
            </p:extLst>
          </p:nvPr>
        </p:nvGraphicFramePr>
        <p:xfrm>
          <a:off x="812800" y="2336800"/>
          <a:ext cx="5130800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247087124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272676051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0F8E92"/>
                      </a:solidFill>
                    </a:lnB>
                    <a:solidFill>
                      <a:srgbClr val="0F8E9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713510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表示を追加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監視フォルダ直下にファイルを保存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0F8E92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434008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監視フォルダからファイルを削除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51551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表示順を変える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ファイル名を変更（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001, 002 …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975300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表示時間を変える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末尾に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_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秒数（動画を除く）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1153309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再生期限を付ける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末尾に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_20260904 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のような日付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05816"/>
                  </a:ext>
                </a:extLst>
              </a:tr>
            </a:tbl>
          </a:graphicData>
        </a:graphic>
      </p:graphicFrame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55973D9-3026-44B1-B672-369280D4AFFE}"/>
              </a:ext>
            </a:extLst>
          </p:cNvPr>
          <p:cNvSpPr txBox="1"/>
          <p:nvPr/>
        </p:nvSpPr>
        <p:spPr>
          <a:xfrm>
            <a:off x="6248400" y="1930400"/>
            <a:ext cx="5130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500" b="1">
                <a:solidFill>
                  <a:srgbClr val="2563EB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システム管理者</a:t>
            </a: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43F089FA-55EC-BE8D-68F4-6D6DF6CF3C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2723336"/>
              </p:ext>
            </p:extLst>
          </p:nvPr>
        </p:nvGraphicFramePr>
        <p:xfrm>
          <a:off x="6248400" y="2336800"/>
          <a:ext cx="5130800" cy="2641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915819951"/>
                    </a:ext>
                  </a:extLst>
                </a:gridCol>
                <a:gridCol w="3225800">
                  <a:extLst>
                    <a:ext uri="{9D8B030D-6E8A-4147-A177-3AD203B41FA5}">
                      <a16:colId xmlns:a16="http://schemas.microsoft.com/office/drawing/2014/main" val="4109519610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やりたいこと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200" b="1">
                          <a:solidFill>
                            <a:srgbClr val="FFFFFF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操作</a:t>
                      </a:r>
                    </a:p>
                  </a:txBody>
                  <a:tcPr marL="152400" marR="152400" marT="63500" marB="63500" anchor="ctr">
                    <a:lnB w="19050">
                      <a:solidFill>
                        <a:srgbClr val="2563EB"/>
                      </a:solidFill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013470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設定を変更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 →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変更→「保存して設定する」</a:t>
                      </a:r>
                    </a:p>
                  </a:txBody>
                  <a:tcPr marL="152400" marR="152400" marT="63500" marB="63500" anchor="ctr">
                    <a:lnT w="19050">
                      <a:solidFill>
                        <a:srgbClr val="2563EB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122488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キオスクに戻る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「通常モード（キオスク）に戻る」または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Ctrl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Shift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＋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M</a:t>
                      </a:r>
                      <a:endParaRPr kumimoji="1" lang="ja-JP" altLang="en-US" sz="11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14965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アプリを終了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管理画面の「アプリを終了」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2252322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1">
                          <a:solidFill>
                            <a:srgbClr val="1B2430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夜に止めて朝始める</a:t>
                      </a: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アプリ終了時刻・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PC </a:t>
                      </a:r>
                      <a:r>
                        <a:rPr kumimoji="1" lang="ja-JP" altLang="en-US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電源オフ時刻＋自動起動を </a:t>
                      </a:r>
                      <a:r>
                        <a:rPr kumimoji="1" lang="en-US" altLang="ja-JP" sz="1150" b="0">
                          <a:solidFill>
                            <a:srgbClr val="465263"/>
                          </a:solidFill>
                          <a:latin typeface="Yu Gothic UI" panose="020B0500000000000000" pitchFamily="50" charset="-128"/>
                          <a:ea typeface="Yu Gothic UI" panose="020B0500000000000000" pitchFamily="50" charset="-128"/>
                        </a:rPr>
                        <a:t>ON</a:t>
                      </a:r>
                      <a:endParaRPr kumimoji="1" lang="ja-JP" altLang="en-US" sz="1150" b="0">
                        <a:solidFill>
                          <a:srgbClr val="465263"/>
                        </a:solidFill>
                        <a:latin typeface="Yu Gothic UI" panose="020B0500000000000000" pitchFamily="50" charset="-128"/>
                        <a:ea typeface="Yu Gothic UI" panose="020B0500000000000000" pitchFamily="50" charset="-128"/>
                      </a:endParaRPr>
                    </a:p>
                  </a:txBody>
                  <a:tcPr marL="152400" marR="152400" marT="63500" marB="63500" anchor="ctr">
                    <a:lnT w="9525">
                      <a:solidFill>
                        <a:srgbClr val="DEE5EF"/>
                      </a:solidFill>
                    </a:lnT>
                    <a:lnB w="9525">
                      <a:solidFill>
                        <a:srgbClr val="DEE5EF"/>
                      </a:solidFill>
                    </a:lnB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33268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0529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74551EC9-4BDA-018C-F492-573C824E335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34451F-EBE3-0F42-C38B-5EDAD438B8A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C2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9A9D5974-271B-2464-3E03-D5AA25755E46}"/>
              </a:ext>
            </a:extLst>
          </p:cNvPr>
          <p:cNvSpPr/>
          <p:nvPr/>
        </p:nvSpPr>
        <p:spPr>
          <a:xfrm>
            <a:off x="-2032000" y="3810000"/>
            <a:ext cx="5842000" cy="5842000"/>
          </a:xfrm>
          <a:prstGeom prst="ellipse">
            <a:avLst/>
          </a:prstGeom>
          <a:solidFill>
            <a:srgbClr val="2563EB">
              <a:alpha val="15000"/>
            </a:srgbClr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E80E8BB-8366-167E-6C03-DA50AFECF317}"/>
              </a:ext>
            </a:extLst>
          </p:cNvPr>
          <p:cNvSpPr/>
          <p:nvPr/>
        </p:nvSpPr>
        <p:spPr>
          <a:xfrm>
            <a:off x="812800" y="1219200"/>
            <a:ext cx="863600" cy="63500"/>
          </a:xfrm>
          <a:prstGeom prst="rect">
            <a:avLst/>
          </a:prstGeom>
          <a:solidFill>
            <a:srgbClr val="2563E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DD80807-3B99-63E0-BF26-19BF52126FEE}"/>
              </a:ext>
            </a:extLst>
          </p:cNvPr>
          <p:cNvSpPr txBox="1"/>
          <p:nvPr/>
        </p:nvSpPr>
        <p:spPr>
          <a:xfrm>
            <a:off x="812800" y="1574800"/>
            <a:ext cx="7620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38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困ったときは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9559692-6B60-D7F5-9F12-A594A2833773}"/>
              </a:ext>
            </a:extLst>
          </p:cNvPr>
          <p:cNvSpPr txBox="1"/>
          <p:nvPr/>
        </p:nvSpPr>
        <p:spPr>
          <a:xfrm>
            <a:off x="812800" y="2463800"/>
            <a:ext cx="889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まずは「反映は次のスライドから」「フォルダ直下だけ」「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Ctrl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Shift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＋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M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」の </a:t>
            </a:r>
            <a:r>
              <a:rPr kumimoji="1" lang="en-US" altLang="ja-JP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3 </a:t>
            </a:r>
            <a:r>
              <a:rPr kumimoji="1" lang="ja-JP" altLang="en-US" sz="1400">
                <a:solidFill>
                  <a:srgbClr val="C6D2E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つを確認。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6D739A0C-9A1C-809C-50A2-AA505077CEF6}"/>
              </a:ext>
            </a:extLst>
          </p:cNvPr>
          <p:cNvSpPr/>
          <p:nvPr/>
        </p:nvSpPr>
        <p:spPr>
          <a:xfrm>
            <a:off x="8128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4FB719C0-5BE5-7D3A-F115-274D2BE182EF}"/>
              </a:ext>
            </a:extLst>
          </p:cNvPr>
          <p:cNvSpPr/>
          <p:nvPr/>
        </p:nvSpPr>
        <p:spPr>
          <a:xfrm>
            <a:off x="11176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DD2DF7B-BDD8-EB34-5F4B-AD88AF54034B}"/>
              </a:ext>
            </a:extLst>
          </p:cNvPr>
          <p:cNvSpPr txBox="1"/>
          <p:nvPr/>
        </p:nvSpPr>
        <p:spPr>
          <a:xfrm>
            <a:off x="11176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運用ガイド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EF5D76B-8E16-0B92-CADF-30CD2C1DB7E5}"/>
              </a:ext>
            </a:extLst>
          </p:cNvPr>
          <p:cNvSpPr txBox="1"/>
          <p:nvPr/>
        </p:nvSpPr>
        <p:spPr>
          <a:xfrm>
            <a:off x="11176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ログ・権限・技術的な制限事項</a:t>
            </a: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08BEAE20-1952-13B3-4B11-69350D5AE62B}"/>
              </a:ext>
            </a:extLst>
          </p:cNvPr>
          <p:cNvSpPr/>
          <p:nvPr/>
        </p:nvSpPr>
        <p:spPr>
          <a:xfrm>
            <a:off x="44196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9809B05-297F-C84B-ABC4-2AB828AD7A7D}"/>
              </a:ext>
            </a:extLst>
          </p:cNvPr>
          <p:cNvSpPr/>
          <p:nvPr/>
        </p:nvSpPr>
        <p:spPr>
          <a:xfrm>
            <a:off x="47244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6D23D0A-9641-B1B3-838D-9D57071B221A}"/>
              </a:ext>
            </a:extLst>
          </p:cNvPr>
          <p:cNvSpPr txBox="1"/>
          <p:nvPr/>
        </p:nvSpPr>
        <p:spPr>
          <a:xfrm>
            <a:off x="47244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受け入れテスト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8FA846F-8D73-77FC-A1E5-F44E66020680}"/>
              </a:ext>
            </a:extLst>
          </p:cNvPr>
          <p:cNvSpPr txBox="1"/>
          <p:nvPr/>
        </p:nvSpPr>
        <p:spPr>
          <a:xfrm>
            <a:off x="47244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導入時の確認チェックリスト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400B55A7-6444-A43E-C2CB-0ECB512DE2A4}"/>
              </a:ext>
            </a:extLst>
          </p:cNvPr>
          <p:cNvSpPr/>
          <p:nvPr/>
        </p:nvSpPr>
        <p:spPr>
          <a:xfrm>
            <a:off x="8026400" y="3225800"/>
            <a:ext cx="3352800" cy="1473200"/>
          </a:xfrm>
          <a:prstGeom prst="roundRect">
            <a:avLst>
              <a:gd name="adj" fmla="val 9000"/>
            </a:avLst>
          </a:prstGeom>
          <a:solidFill>
            <a:srgbClr val="1B2C4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F8A405B-AF39-4465-5B0B-232572AF92FA}"/>
              </a:ext>
            </a:extLst>
          </p:cNvPr>
          <p:cNvSpPr/>
          <p:nvPr/>
        </p:nvSpPr>
        <p:spPr>
          <a:xfrm>
            <a:off x="8331200" y="3530600"/>
            <a:ext cx="355600" cy="38100"/>
          </a:xfrm>
          <a:prstGeom prst="rect">
            <a:avLst/>
          </a:prstGeom>
          <a:solidFill>
            <a:srgbClr val="7FA6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B8F5142-CB69-777A-7047-96816D45B613}"/>
              </a:ext>
            </a:extLst>
          </p:cNvPr>
          <p:cNvSpPr txBox="1"/>
          <p:nvPr/>
        </p:nvSpPr>
        <p:spPr>
          <a:xfrm>
            <a:off x="8331200" y="3759200"/>
            <a:ext cx="27432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700" b="1">
                <a:solidFill>
                  <a:srgbClr val="FFFFFF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アプリ要件定義書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78DDC8-88F2-85E6-78E4-0081AF1FAB6E}"/>
              </a:ext>
            </a:extLst>
          </p:cNvPr>
          <p:cNvSpPr txBox="1"/>
          <p:nvPr/>
        </p:nvSpPr>
        <p:spPr>
          <a:xfrm>
            <a:off x="8331200" y="4140200"/>
            <a:ext cx="27432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9FB4D4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機能仕様の詳細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D514C264-18DF-6EC9-3542-ABD2C51D6614}"/>
              </a:ext>
            </a:extLst>
          </p:cNvPr>
          <p:cNvSpPr/>
          <p:nvPr/>
        </p:nvSpPr>
        <p:spPr>
          <a:xfrm>
            <a:off x="812800" y="5308600"/>
            <a:ext cx="10566400" cy="12700"/>
          </a:xfrm>
          <a:prstGeom prst="rect">
            <a:avLst/>
          </a:prstGeom>
          <a:solidFill>
            <a:srgbClr val="2E405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BCBD3C3-A279-1DE3-311A-B4D4098B5E86}"/>
              </a:ext>
            </a:extLst>
          </p:cNvPr>
          <p:cNvSpPr txBox="1"/>
          <p:nvPr/>
        </p:nvSpPr>
        <p:spPr>
          <a:xfrm>
            <a:off x="812800" y="5537200"/>
            <a:ext cx="7620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lnSpc>
                <a:spcPct val="130000"/>
              </a:lnSpc>
            </a:pP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簡易デジタルサイネージ ｜ 操作ガイド　（出典：操作ガイド</a:t>
            </a:r>
            <a:r>
              <a:rPr kumimoji="1" lang="en-US" altLang="ja-JP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.md</a:t>
            </a:r>
            <a:r>
              <a:rPr kumimoji="1" lang="ja-JP" altLang="en-US" sz="1150">
                <a:solidFill>
                  <a:srgbClr val="7C8CA6"/>
                </a:solidFill>
                <a:latin typeface="Yu Gothic UI" panose="020B0500000000000000" pitchFamily="50" charset="-128"/>
                <a:ea typeface="Yu Gothic UI" panose="020B0500000000000000" pitchFamily="50" charset="-128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421096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2084</Words>
  <Application>Microsoft Office PowerPoint</Application>
  <PresentationFormat>ユーザー設定</PresentationFormat>
  <Paragraphs>290</Paragraphs>
  <Slides>17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17</vt:i4>
      </vt:variant>
    </vt:vector>
  </HeadingPairs>
  <TitlesOfParts>
    <vt:vector size="23" baseType="lpstr">
      <vt:lpstr>Yu Gothic UI</vt:lpstr>
      <vt:lpstr>游ゴシック</vt:lpstr>
      <vt:lpstr>游ゴシック Light</vt:lpstr>
      <vt:lpstr>Arial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Noriyuki Kamata</dc:creator>
  <cp:lastModifiedBy>Noriyuki Kamata</cp:lastModifiedBy>
  <cp:revision>1</cp:revision>
  <dcterms:created xsi:type="dcterms:W3CDTF">2026-09-12T00:50:52Z</dcterms:created>
  <dcterms:modified xsi:type="dcterms:W3CDTF">2026-09-12T00:50:52Z</dcterms:modified>
</cp:coreProperties>
</file>