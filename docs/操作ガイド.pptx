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9144000"/>
  <p:defaultTextStyle>
    <a:defPPr>
      <a:defRPr lang="ja-JP"/>
    </a:defPPr>
    <a:lvl1pPr marL="0" algn="l" defTabSz="685800" rtl="0" eaLnBrk="1" latinLnBrk="0" hangingPunct="1">
      <a:defRPr kumimoji="1" sz="135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kumimoji="1" sz="135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kumimoji="1" sz="135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kumimoji="1" sz="135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kumimoji="1" sz="135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kumimoji="1" sz="135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kumimoji="1" sz="135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kumimoji="1" sz="135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kumimoji="1" sz="135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28" d="100"/>
          <a:sy n="28" d="100"/>
        </p:scale>
        <p:origin x="1104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5AF0150-2413-D298-5D51-C681E5E8F8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A31895CC-E0E4-69B2-AA2B-350C8920A6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1655763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3C3022B-58A2-6F29-F132-AE1435E10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70CBC-C122-40DA-A9FA-F1018DF8E254}" type="datetimeFigureOut">
              <a:rPr kumimoji="1" lang="ja-JP" altLang="en-US" smtClean="0"/>
              <a:t>2026/9/12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B23B85D-0F41-81FF-C2ED-EF76DEF961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CDF1CCB-9D47-F3D7-65A6-5497E72180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B5449D-F0F2-430C-B147-4BDEDFCC4C1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765201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E19091F-0CF5-C1BE-A42D-FD4D78BBCF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B6B7FDE-5C03-EB42-2E36-FE9563BA5E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C862C18-5167-58E5-3C12-76460C0EEE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70CBC-C122-40DA-A9FA-F1018DF8E254}" type="datetimeFigureOut">
              <a:rPr kumimoji="1" lang="ja-JP" altLang="en-US" smtClean="0"/>
              <a:t>2026/9/12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0A7BB6A-D86E-694C-031B-3774BC2204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B78A9AC-49AB-6507-9BAF-20047402C7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B5449D-F0F2-430C-B147-4BDEDFCC4C1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858286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E189270-1775-0235-CCE5-22E0241BE5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1"/>
            <a:ext cx="105156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85D0929-0FC3-B90C-A533-3535AB17C9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AD9E4AC-46B9-D86B-2012-88E0ACC25A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70CBC-C122-40DA-A9FA-F1018DF8E254}" type="datetimeFigureOut">
              <a:rPr kumimoji="1" lang="ja-JP" altLang="en-US" smtClean="0"/>
              <a:t>2026/9/12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00E9D1D-E08D-15AE-67D5-12BDC56DA7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D518051-B686-08AB-E8C1-8F694D36F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B5449D-F0F2-430C-B147-4BDEDFCC4C1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599691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53A31FF-7CED-FC8B-B6C6-6414A57804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C651EBA-498F-DC43-8F63-5BD7D8B2FBD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9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BF8C819-5095-1057-F647-404AED00813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9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A19544B-3D33-EA90-4A27-A985BA3C14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70CBC-C122-40DA-A9FA-F1018DF8E254}" type="datetimeFigureOut">
              <a:rPr kumimoji="1" lang="ja-JP" altLang="en-US" smtClean="0"/>
              <a:t>2026/9/12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95F0185-A3DA-C609-512B-75ED3EF84B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779F23F0-C5CA-6EBC-8630-96E135FAD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B5449D-F0F2-430C-B147-4BDEDFCC4C1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923134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9239426-9098-8D26-D882-6D83F15F0B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713C8BE-5790-E58C-6BB7-B617908E19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90" y="1681163"/>
            <a:ext cx="5157787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A97F1A2-BB76-7437-436B-8400F5C11C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90" y="2505077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D3A7A8BD-CA95-582F-DC7B-D0BB2E2FA9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ABDA309E-26CB-3903-3D67-446FA624C7A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1" y="2505077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75E3F969-8BC7-3400-EFE4-DEAE491E1C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70CBC-C122-40DA-A9FA-F1018DF8E254}" type="datetimeFigureOut">
              <a:rPr kumimoji="1" lang="ja-JP" altLang="en-US" smtClean="0"/>
              <a:t>2026/9/12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72BFEDAF-FD30-E4CC-0414-D82F2C8346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1FC5DDB6-6BA3-1E4F-C0AE-06EB32BB05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B5449D-F0F2-430C-B147-4BDEDFCC4C1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429745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9C1E59F-725C-880F-96D4-64DC68BBBE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07E0FBCB-4ABC-1085-1893-3B33309060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70CBC-C122-40DA-A9FA-F1018DF8E254}" type="datetimeFigureOut">
              <a:rPr kumimoji="1" lang="ja-JP" altLang="en-US" smtClean="0"/>
              <a:t>2026/9/12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87CF1C5-0332-904B-2A3B-A6415FEF4A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960CE497-74BB-EEA5-1821-DEA3E5E3DE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B5449D-F0F2-430C-B147-4BDEDFCC4C1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670806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5916B67C-275F-088B-12E9-9043B8B480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70CBC-C122-40DA-A9FA-F1018DF8E254}" type="datetimeFigureOut">
              <a:rPr kumimoji="1" lang="ja-JP" altLang="en-US" smtClean="0"/>
              <a:t>2026/9/12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8A446846-816A-B410-C8FA-09721071D8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35A48CB-1329-DDA4-43AA-A82D9C5AB3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B5449D-F0F2-430C-B147-4BDEDFCC4C1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230843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27FF213-AD10-CA9B-3099-4FAA01986D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6AE3D60-8396-00B9-264B-738745CAD5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8"/>
            <a:ext cx="617220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AFE53B8-2841-AC40-8C0D-F55D719B1A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2"/>
            <a:ext cx="3932237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2CDD44F-C239-015B-8895-BC37FBF878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70CBC-C122-40DA-A9FA-F1018DF8E254}" type="datetimeFigureOut">
              <a:rPr kumimoji="1" lang="ja-JP" altLang="en-US" smtClean="0"/>
              <a:t>2026/9/12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8F8ECDB-31FA-2265-62D4-B9BFD9518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753C2C36-B01A-0AA2-40A9-3994C00E1D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B5449D-F0F2-430C-B147-4BDEDFCC4C1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1747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E70B038-5DE7-BCCB-1A79-F51A9F40C1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BA2E99F2-6488-8034-C10A-2F4C4F41B3D8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8"/>
            <a:ext cx="617220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C13B35C2-16DA-9E88-E24B-FA7AC44085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2"/>
            <a:ext cx="3932237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10A8104-DD95-B166-1388-4EB72D9DAB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70CBC-C122-40DA-A9FA-F1018DF8E254}" type="datetimeFigureOut">
              <a:rPr kumimoji="1" lang="ja-JP" altLang="en-US" smtClean="0"/>
              <a:t>2026/9/12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9784C0D-A463-98EA-7A80-CDE4E9F2E1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712A90E6-5BD6-9715-798B-776986EE75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B5449D-F0F2-430C-B147-4BDEDFCC4C1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164664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D0F61D3-B5E6-F4E1-6820-3BDF4AA363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7F548E7B-66A7-F9D0-C7E5-834D320172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EE76347-8895-6F0A-A94E-EFCA2EB50D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70CBC-C122-40DA-A9FA-F1018DF8E254}" type="datetimeFigureOut">
              <a:rPr kumimoji="1" lang="ja-JP" altLang="en-US" smtClean="0"/>
              <a:t>2026/9/12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9B3E53C-C974-7D56-4F47-E8D6CA4FE9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5D4E9C1-D02F-3DC0-31CD-ABFE7E714B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B5449D-F0F2-430C-B147-4BDEDFCC4C1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336144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4F6A4473-5D75-DDB6-F067-F2AE6D80836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1" y="365127"/>
            <a:ext cx="2628900" cy="5811839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77150A49-063E-6B80-BF9E-02B5C2F090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1" y="365127"/>
            <a:ext cx="7734300" cy="5811839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5EB5078-4825-B325-E4AE-4D5203A39B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70CBC-C122-40DA-A9FA-F1018DF8E254}" type="datetimeFigureOut">
              <a:rPr kumimoji="1" lang="ja-JP" altLang="en-US" smtClean="0"/>
              <a:t>2026/9/12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17395BA-04DC-7645-9E5D-7EB1D2443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A878635-658F-3161-8A07-69B6A586D0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B5449D-F0F2-430C-B147-4BDEDFCC4C1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514053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5F4D1E27-DC61-CBD4-E5A7-3F06FAF60B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A36C452-6400-CD29-068F-C2DE420CA7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6F4B673-2D91-0439-B529-CD89A57EFEF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470CBC-C122-40DA-A9FA-F1018DF8E254}" type="datetimeFigureOut">
              <a:rPr kumimoji="1" lang="ja-JP" altLang="en-US" smtClean="0"/>
              <a:t>2026/9/12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335C4B9-482E-302E-766F-5F6DFCF6171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C2C47B6-B28B-BD6A-839E-CD3A5F1773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BB5449D-F0F2-430C-B147-4BDEDFCC4C1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151623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kumimoji="1"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kumimoji="1"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E1319458-D2CC-23F7-896F-E134E43FFA4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BCD83C6-F28F-58E9-DA8F-DB5820995BA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C2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楕円 3">
            <a:extLst>
              <a:ext uri="{FF2B5EF4-FFF2-40B4-BE49-F238E27FC236}">
                <a16:creationId xmlns:a16="http://schemas.microsoft.com/office/drawing/2014/main" id="{E534DD3B-B65E-B5D4-3322-9284336BB9B8}"/>
              </a:ext>
            </a:extLst>
          </p:cNvPr>
          <p:cNvSpPr/>
          <p:nvPr/>
        </p:nvSpPr>
        <p:spPr>
          <a:xfrm>
            <a:off x="7747000" y="-1778000"/>
            <a:ext cx="6604000" cy="6604000"/>
          </a:xfrm>
          <a:prstGeom prst="ellipse">
            <a:avLst/>
          </a:prstGeom>
          <a:solidFill>
            <a:srgbClr val="2563EB">
              <a:alpha val="18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98D5919F-73E6-BAAE-EE9D-8C12D34DF820}"/>
              </a:ext>
            </a:extLst>
          </p:cNvPr>
          <p:cNvSpPr/>
          <p:nvPr/>
        </p:nvSpPr>
        <p:spPr>
          <a:xfrm>
            <a:off x="9271000" y="3175000"/>
            <a:ext cx="4826000" cy="4826000"/>
          </a:xfrm>
          <a:prstGeom prst="ellipse">
            <a:avLst/>
          </a:prstGeom>
          <a:solidFill>
            <a:srgbClr val="0F8E92">
              <a:alpha val="14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BC98CC52-339B-1380-5E5D-527F902D5E47}"/>
              </a:ext>
            </a:extLst>
          </p:cNvPr>
          <p:cNvSpPr/>
          <p:nvPr/>
        </p:nvSpPr>
        <p:spPr>
          <a:xfrm>
            <a:off x="812800" y="1905000"/>
            <a:ext cx="863600" cy="635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42BA8F67-044F-2114-1E32-1A3DE465328D}"/>
              </a:ext>
            </a:extLst>
          </p:cNvPr>
          <p:cNvSpPr txBox="1"/>
          <p:nvPr/>
        </p:nvSpPr>
        <p:spPr>
          <a:xfrm>
            <a:off x="812800" y="1498600"/>
            <a:ext cx="78740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50" b="1">
                <a:solidFill>
                  <a:srgbClr val="7FA6F5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簡単！シンプル！サイネージ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4B16C32E-886E-72CE-140E-53AEFD23FA63}"/>
              </a:ext>
            </a:extLst>
          </p:cNvPr>
          <p:cNvSpPr txBox="1"/>
          <p:nvPr/>
        </p:nvSpPr>
        <p:spPr>
          <a:xfrm>
            <a:off x="812800" y="2286000"/>
            <a:ext cx="7874000" cy="914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52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操作ガイド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C78168F8-DC1C-0EE6-7535-352CF081507E}"/>
              </a:ext>
            </a:extLst>
          </p:cNvPr>
          <p:cNvSpPr txBox="1"/>
          <p:nvPr/>
        </p:nvSpPr>
        <p:spPr>
          <a:xfrm>
            <a:off x="812800" y="3378200"/>
            <a:ext cx="7112000" cy="762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50000"/>
              </a:lnSpc>
            </a:pPr>
            <a:r>
              <a:rPr kumimoji="1" lang="ja-JP" altLang="en-US" sz="1500">
                <a:solidFill>
                  <a:srgbClr val="C6D2E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フォルダに入れるだけ。あとは全画面で自動ループ。</a:t>
            </a:r>
          </a:p>
          <a:p>
            <a:pPr>
              <a:lnSpc>
                <a:spcPct val="150000"/>
              </a:lnSpc>
            </a:pPr>
            <a:r>
              <a:rPr kumimoji="1" lang="en-US" altLang="ja-JP" sz="1500">
                <a:solidFill>
                  <a:srgbClr val="C6D2E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PDF</a:t>
            </a:r>
            <a:r>
              <a:rPr kumimoji="1" lang="ja-JP" altLang="en-US" sz="1500">
                <a:solidFill>
                  <a:srgbClr val="C6D2E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・画像・動画をそのまま掲示できるサイネージアプリの使いかた。</a:t>
            </a: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ACA2A34B-1097-78BB-082F-4FF5A783B013}"/>
              </a:ext>
            </a:extLst>
          </p:cNvPr>
          <p:cNvSpPr/>
          <p:nvPr/>
        </p:nvSpPr>
        <p:spPr>
          <a:xfrm>
            <a:off x="812800" y="4546600"/>
            <a:ext cx="1884680" cy="381000"/>
          </a:xfrm>
          <a:prstGeom prst="roundRect">
            <a:avLst>
              <a:gd name="adj" fmla="val 50000"/>
            </a:avLst>
          </a:prstGeom>
          <a:solidFill>
            <a:srgbClr val="1E3A6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F5109DDB-E309-3A78-D5A9-21071ECA9F52}"/>
              </a:ext>
            </a:extLst>
          </p:cNvPr>
          <p:cNvSpPr txBox="1"/>
          <p:nvPr/>
        </p:nvSpPr>
        <p:spPr>
          <a:xfrm>
            <a:off x="812800" y="4546600"/>
            <a:ext cx="188468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ja-JP" altLang="en-US" sz="1200" b="1">
                <a:solidFill>
                  <a:srgbClr val="BBD1FA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コンテンツ担当者向け</a:t>
            </a:r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48FEF812-4BDA-0A77-1FCA-051ABAC240B3}"/>
              </a:ext>
            </a:extLst>
          </p:cNvPr>
          <p:cNvSpPr/>
          <p:nvPr/>
        </p:nvSpPr>
        <p:spPr>
          <a:xfrm>
            <a:off x="2946400" y="4546600"/>
            <a:ext cx="1729232" cy="381000"/>
          </a:xfrm>
          <a:prstGeom prst="roundRect">
            <a:avLst>
              <a:gd name="adj" fmla="val 50000"/>
            </a:avLst>
          </a:prstGeom>
          <a:solidFill>
            <a:srgbClr val="1741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E7C5B9C1-F702-A73C-2509-680AFD2B25F6}"/>
              </a:ext>
            </a:extLst>
          </p:cNvPr>
          <p:cNvSpPr txBox="1"/>
          <p:nvPr/>
        </p:nvSpPr>
        <p:spPr>
          <a:xfrm>
            <a:off x="2946400" y="4546600"/>
            <a:ext cx="1729232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ja-JP" altLang="en-US" sz="1200" b="1">
                <a:solidFill>
                  <a:srgbClr val="A9DDD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システム管理者向け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171B0C6F-7949-6335-4EE4-1E7F8B56EE9F}"/>
              </a:ext>
            </a:extLst>
          </p:cNvPr>
          <p:cNvSpPr/>
          <p:nvPr/>
        </p:nvSpPr>
        <p:spPr>
          <a:xfrm>
            <a:off x="812800" y="5486400"/>
            <a:ext cx="3810000" cy="12700"/>
          </a:xfrm>
          <a:prstGeom prst="rect">
            <a:avLst/>
          </a:prstGeom>
          <a:solidFill>
            <a:srgbClr val="2E405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FC7FA2D6-AD65-48BB-550E-93DE9CE870A7}"/>
              </a:ext>
            </a:extLst>
          </p:cNvPr>
          <p:cNvSpPr txBox="1"/>
          <p:nvPr/>
        </p:nvSpPr>
        <p:spPr>
          <a:xfrm>
            <a:off x="812800" y="5689600"/>
            <a:ext cx="6096000" cy="228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100">
                <a:solidFill>
                  <a:srgbClr val="7C8CA6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2026</a:t>
            </a:r>
            <a:r>
              <a:rPr kumimoji="1" lang="ja-JP" altLang="en-US" sz="1100">
                <a:solidFill>
                  <a:srgbClr val="7C8CA6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年</a:t>
            </a:r>
            <a:r>
              <a:rPr kumimoji="1" lang="en-US" altLang="ja-JP" sz="1100">
                <a:solidFill>
                  <a:srgbClr val="7C8CA6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8</a:t>
            </a:r>
            <a:r>
              <a:rPr kumimoji="1" lang="ja-JP" altLang="en-US" sz="1100">
                <a:solidFill>
                  <a:srgbClr val="7C8CA6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月版　｜　操作ガイド</a:t>
            </a:r>
            <a:r>
              <a:rPr kumimoji="1" lang="en-US" altLang="ja-JP" sz="1100">
                <a:solidFill>
                  <a:srgbClr val="7C8CA6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.md </a:t>
            </a:r>
            <a:r>
              <a:rPr kumimoji="1" lang="ja-JP" altLang="en-US" sz="1100">
                <a:solidFill>
                  <a:srgbClr val="7C8CA6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より作成</a:t>
            </a:r>
          </a:p>
        </p:txBody>
      </p:sp>
    </p:spTree>
    <p:extLst>
      <p:ext uri="{BB962C8B-B14F-4D97-AF65-F5344CB8AC3E}">
        <p14:creationId xmlns:p14="http://schemas.microsoft.com/office/powerpoint/2010/main" val="30752985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CDBDAA78-708A-1912-E41E-0350728B5C4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34F6D481-35B8-E7EA-9C12-44A8F66DAA67}"/>
              </a:ext>
            </a:extLst>
          </p:cNvPr>
          <p:cNvSpPr/>
          <p:nvPr/>
        </p:nvSpPr>
        <p:spPr>
          <a:xfrm>
            <a:off x="812800" y="584200"/>
            <a:ext cx="63500" cy="5842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DE753CF-EC6C-14C9-600C-95B99A7B7896}"/>
              </a:ext>
            </a:extLst>
          </p:cNvPr>
          <p:cNvSpPr txBox="1"/>
          <p:nvPr/>
        </p:nvSpPr>
        <p:spPr>
          <a:xfrm>
            <a:off x="1028700" y="571500"/>
            <a:ext cx="7620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05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OVERVIEW</a:t>
            </a:r>
            <a:endParaRPr kumimoji="1" lang="ja-JP" altLang="en-US" sz="1050" b="1">
              <a:solidFill>
                <a:srgbClr val="2563EB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43C51EE-3ACB-CDE1-6381-859046AEF32A}"/>
              </a:ext>
            </a:extLst>
          </p:cNvPr>
          <p:cNvSpPr txBox="1"/>
          <p:nvPr/>
        </p:nvSpPr>
        <p:spPr>
          <a:xfrm>
            <a:off x="1028700" y="774700"/>
            <a:ext cx="8128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このガイドの対象と役割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57B9BEB1-FEDA-B37D-B2C3-DADA00F236A2}"/>
              </a:ext>
            </a:extLst>
          </p:cNvPr>
          <p:cNvSpPr/>
          <p:nvPr/>
        </p:nvSpPr>
        <p:spPr>
          <a:xfrm>
            <a:off x="812800" y="1498600"/>
            <a:ext cx="10566400" cy="12700"/>
          </a:xfrm>
          <a:prstGeom prst="rect">
            <a:avLst/>
          </a:prstGeom>
          <a:solidFill>
            <a:srgbClr val="DEE5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EB459F8D-0F12-0492-AB0F-5417B2C36524}"/>
              </a:ext>
            </a:extLst>
          </p:cNvPr>
          <p:cNvSpPr txBox="1"/>
          <p:nvPr/>
        </p:nvSpPr>
        <p:spPr>
          <a:xfrm>
            <a:off x="812800" y="6375400"/>
            <a:ext cx="6604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簡単！シンプル！サイネージ ｜ 操作ガイド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3A1D3F60-4419-C001-47AE-EAFA23E2D36A}"/>
              </a:ext>
            </a:extLst>
          </p:cNvPr>
          <p:cNvSpPr txBox="1"/>
          <p:nvPr/>
        </p:nvSpPr>
        <p:spPr>
          <a:xfrm>
            <a:off x="10109200" y="6375400"/>
            <a:ext cx="127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kumimoji="1" lang="en-US" altLang="ja-JP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2</a:t>
            </a:r>
            <a:endParaRPr kumimoji="1" lang="ja-JP" altLang="en-US" sz="900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EDB89BFA-FC9C-CB47-459F-A5BD0B2527A1}"/>
              </a:ext>
            </a:extLst>
          </p:cNvPr>
          <p:cNvSpPr txBox="1"/>
          <p:nvPr/>
        </p:nvSpPr>
        <p:spPr>
          <a:xfrm>
            <a:off x="812800" y="1905000"/>
            <a:ext cx="105664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日常の運用は </a:t>
            </a:r>
            <a:r>
              <a:rPr kumimoji="1" lang="en-US" altLang="ja-JP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2 </a:t>
            </a: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つの役割に分かれます。自分の役割のページだけ読めば運用できます。</a:t>
            </a: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D33AD6EE-81B1-1C1F-E101-AE5D6C9A4828}"/>
              </a:ext>
            </a:extLst>
          </p:cNvPr>
          <p:cNvSpPr/>
          <p:nvPr/>
        </p:nvSpPr>
        <p:spPr>
          <a:xfrm>
            <a:off x="812800" y="2362200"/>
            <a:ext cx="5130800" cy="299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C072524E-96B0-C01B-BF5A-05798174D1F6}"/>
              </a:ext>
            </a:extLst>
          </p:cNvPr>
          <p:cNvSpPr/>
          <p:nvPr/>
        </p:nvSpPr>
        <p:spPr>
          <a:xfrm>
            <a:off x="812800" y="2362200"/>
            <a:ext cx="5130800" cy="63500"/>
          </a:xfrm>
          <a:prstGeom prst="rect">
            <a:avLst/>
          </a:prstGeom>
          <a:solidFill>
            <a:srgbClr val="0F8E9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0B43FB3C-6036-9BA0-3F14-F20296CDF127}"/>
              </a:ext>
            </a:extLst>
          </p:cNvPr>
          <p:cNvSpPr/>
          <p:nvPr/>
        </p:nvSpPr>
        <p:spPr>
          <a:xfrm>
            <a:off x="1143000" y="2692400"/>
            <a:ext cx="828040" cy="279400"/>
          </a:xfrm>
          <a:prstGeom prst="roundRect">
            <a:avLst>
              <a:gd name="adj" fmla="val 50000"/>
            </a:avLst>
          </a:prstGeom>
          <a:solidFill>
            <a:srgbClr val="E3F4F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94B121CB-CEBA-02B1-B954-0416DA9A9012}"/>
              </a:ext>
            </a:extLst>
          </p:cNvPr>
          <p:cNvSpPr txBox="1"/>
          <p:nvPr/>
        </p:nvSpPr>
        <p:spPr>
          <a:xfrm>
            <a:off x="1143000" y="2692400"/>
            <a:ext cx="828040" cy="279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00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ROLE 01</a:t>
            </a:r>
            <a:endParaRPr kumimoji="1" lang="ja-JP" altLang="en-US" sz="1000" b="1">
              <a:solidFill>
                <a:srgbClr val="0F8E92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8806A450-DA58-B1F3-9AF9-DCFEE1C7EF9F}"/>
              </a:ext>
            </a:extLst>
          </p:cNvPr>
          <p:cNvSpPr txBox="1"/>
          <p:nvPr/>
        </p:nvSpPr>
        <p:spPr>
          <a:xfrm>
            <a:off x="1143000" y="3098800"/>
            <a:ext cx="44704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1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コンテンツ担当者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50EEF8FF-22F7-0598-F594-83CB537256B4}"/>
              </a:ext>
            </a:extLst>
          </p:cNvPr>
          <p:cNvSpPr txBox="1"/>
          <p:nvPr/>
        </p:nvSpPr>
        <p:spPr>
          <a:xfrm>
            <a:off x="1143000" y="3505200"/>
            <a:ext cx="44704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表示するファイルを扱う人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8AC30D70-3B6A-4CA7-0BF6-9973E51801DB}"/>
              </a:ext>
            </a:extLst>
          </p:cNvPr>
          <p:cNvSpPr txBox="1"/>
          <p:nvPr/>
        </p:nvSpPr>
        <p:spPr>
          <a:xfrm>
            <a:off x="1143000" y="3937000"/>
            <a:ext cx="4470400" cy="1143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  <a:spcAft>
                <a:spcPts val="800"/>
              </a:spcAft>
            </a:pP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・表示したいファイルをフォルダに入れる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・不要になったファイルを削除する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・ファイル名で表示順・表示時間・再生期限を調整する</a:t>
            </a:r>
          </a:p>
        </p:txBody>
      </p:sp>
      <p:sp>
        <p:nvSpPr>
          <p:cNvPr id="17" name="四角形: 角を丸くする 16">
            <a:extLst>
              <a:ext uri="{FF2B5EF4-FFF2-40B4-BE49-F238E27FC236}">
                <a16:creationId xmlns:a16="http://schemas.microsoft.com/office/drawing/2014/main" id="{0851EAFA-E5B2-4891-202E-687B8611C5E8}"/>
              </a:ext>
            </a:extLst>
          </p:cNvPr>
          <p:cNvSpPr/>
          <p:nvPr/>
        </p:nvSpPr>
        <p:spPr>
          <a:xfrm>
            <a:off x="6248400" y="2362200"/>
            <a:ext cx="5130800" cy="299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FEC81BE7-C594-D51A-5FCA-9636E82952A0}"/>
              </a:ext>
            </a:extLst>
          </p:cNvPr>
          <p:cNvSpPr/>
          <p:nvPr/>
        </p:nvSpPr>
        <p:spPr>
          <a:xfrm>
            <a:off x="6248400" y="2362200"/>
            <a:ext cx="5130800" cy="635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60D7678F-F363-E954-0944-811EC7A511A3}"/>
              </a:ext>
            </a:extLst>
          </p:cNvPr>
          <p:cNvSpPr/>
          <p:nvPr/>
        </p:nvSpPr>
        <p:spPr>
          <a:xfrm>
            <a:off x="6578600" y="2692400"/>
            <a:ext cx="828040" cy="279400"/>
          </a:xfrm>
          <a:prstGeom prst="roundRect">
            <a:avLst>
              <a:gd name="adj" fmla="val 50000"/>
            </a:avLst>
          </a:prstGeom>
          <a:solidFill>
            <a:srgbClr val="E9F0F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59325944-0576-0A6F-5F22-A972D14038E4}"/>
              </a:ext>
            </a:extLst>
          </p:cNvPr>
          <p:cNvSpPr txBox="1"/>
          <p:nvPr/>
        </p:nvSpPr>
        <p:spPr>
          <a:xfrm>
            <a:off x="6578600" y="2692400"/>
            <a:ext cx="828040" cy="279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00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ROLE 02</a:t>
            </a:r>
            <a:endParaRPr kumimoji="1" lang="ja-JP" altLang="en-US" sz="1000" b="1">
              <a:solidFill>
                <a:srgbClr val="2563EB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D4629811-B55E-5D6A-3B4F-1E28357C9216}"/>
              </a:ext>
            </a:extLst>
          </p:cNvPr>
          <p:cNvSpPr txBox="1"/>
          <p:nvPr/>
        </p:nvSpPr>
        <p:spPr>
          <a:xfrm>
            <a:off x="6578600" y="3098800"/>
            <a:ext cx="44704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1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システム管理者</a:t>
            </a: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E747E609-0C4E-00E5-AAF2-184AC767F88E}"/>
              </a:ext>
            </a:extLst>
          </p:cNvPr>
          <p:cNvSpPr txBox="1"/>
          <p:nvPr/>
        </p:nvSpPr>
        <p:spPr>
          <a:xfrm>
            <a:off x="6578600" y="3505200"/>
            <a:ext cx="44704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アプリと設定を扱う人</a:t>
            </a: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A538EA7C-DDBA-A3EA-27CF-0D836BB7E3E4}"/>
              </a:ext>
            </a:extLst>
          </p:cNvPr>
          <p:cNvSpPr txBox="1"/>
          <p:nvPr/>
        </p:nvSpPr>
        <p:spPr>
          <a:xfrm>
            <a:off x="6578600" y="3937000"/>
            <a:ext cx="4470400" cy="1143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  <a:spcAft>
                <a:spcPts val="800"/>
              </a:spcAft>
            </a:pP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・アプリの起動と管理画面の操作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・監視フォルダ・表示秒数などの設定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・夜間停止と朝の自動起動、ログの確認</a:t>
            </a:r>
          </a:p>
        </p:txBody>
      </p:sp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2B145675-1AC3-56CA-EC5C-2EE0C5715735}"/>
              </a:ext>
            </a:extLst>
          </p:cNvPr>
          <p:cNvSpPr/>
          <p:nvPr/>
        </p:nvSpPr>
        <p:spPr>
          <a:xfrm>
            <a:off x="812800" y="5638800"/>
            <a:ext cx="10566400" cy="584200"/>
          </a:xfrm>
          <a:prstGeom prst="roundRect">
            <a:avLst>
              <a:gd name="adj" fmla="val 12000"/>
            </a:avLst>
          </a:prstGeom>
          <a:solidFill>
            <a:srgbClr val="F5F7F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5E81228F-4E1F-6AB0-A333-E899F399CCFC}"/>
              </a:ext>
            </a:extLst>
          </p:cNvPr>
          <p:cNvSpPr/>
          <p:nvPr/>
        </p:nvSpPr>
        <p:spPr>
          <a:xfrm>
            <a:off x="812800" y="5638800"/>
            <a:ext cx="50800" cy="584200"/>
          </a:xfrm>
          <a:prstGeom prst="rect">
            <a:avLst/>
          </a:prstGeom>
          <a:solidFill>
            <a:srgbClr val="8794A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603A8D11-3F70-D316-5E5E-8090CB95D67C}"/>
              </a:ext>
            </a:extLst>
          </p:cNvPr>
          <p:cNvSpPr txBox="1"/>
          <p:nvPr/>
        </p:nvSpPr>
        <p:spPr>
          <a:xfrm>
            <a:off x="1092200" y="5638800"/>
            <a:ext cx="581152" cy="584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150" b="1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MEMO</a:t>
            </a:r>
            <a:endParaRPr kumimoji="1" lang="ja-JP" altLang="en-US" sz="1150" b="1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0EFB01C2-E0C4-DF1B-94F4-0E8519ECCDB6}"/>
              </a:ext>
            </a:extLst>
          </p:cNvPr>
          <p:cNvSpPr txBox="1"/>
          <p:nvPr/>
        </p:nvSpPr>
        <p:spPr>
          <a:xfrm>
            <a:off x="1673352" y="5638800"/>
            <a:ext cx="9426448" cy="584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25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ログ・権限・技術的な制限事項などの詳細は「運用ガイド」を参照してください。</a:t>
            </a:r>
          </a:p>
        </p:txBody>
      </p:sp>
    </p:spTree>
    <p:extLst>
      <p:ext uri="{BB962C8B-B14F-4D97-AF65-F5344CB8AC3E}">
        <p14:creationId xmlns:p14="http://schemas.microsoft.com/office/powerpoint/2010/main" val="4764571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BE804E5F-4DF7-81B2-7228-47D8634F60D4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08446E43-655D-8F75-BF1A-371098840AED}"/>
              </a:ext>
            </a:extLst>
          </p:cNvPr>
          <p:cNvSpPr/>
          <p:nvPr/>
        </p:nvSpPr>
        <p:spPr>
          <a:xfrm>
            <a:off x="812800" y="584200"/>
            <a:ext cx="63500" cy="5842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4323636-6252-6F98-0675-49CBAF4E8449}"/>
              </a:ext>
            </a:extLst>
          </p:cNvPr>
          <p:cNvSpPr txBox="1"/>
          <p:nvPr/>
        </p:nvSpPr>
        <p:spPr>
          <a:xfrm>
            <a:off x="1028700" y="571500"/>
            <a:ext cx="7620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05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HOW IT WORKS</a:t>
            </a:r>
            <a:endParaRPr kumimoji="1" lang="ja-JP" altLang="en-US" sz="1050" b="1">
              <a:solidFill>
                <a:srgbClr val="2563EB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B4FC8E9-B470-44E6-F2DF-3F84A614F429}"/>
              </a:ext>
            </a:extLst>
          </p:cNvPr>
          <p:cNvSpPr txBox="1"/>
          <p:nvPr/>
        </p:nvSpPr>
        <p:spPr>
          <a:xfrm>
            <a:off x="1028700" y="774700"/>
            <a:ext cx="8128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表示のしくみ（全体像）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6B80A47-0568-D49A-A961-7B819D58FEE8}"/>
              </a:ext>
            </a:extLst>
          </p:cNvPr>
          <p:cNvSpPr/>
          <p:nvPr/>
        </p:nvSpPr>
        <p:spPr>
          <a:xfrm>
            <a:off x="812800" y="1498600"/>
            <a:ext cx="10566400" cy="12700"/>
          </a:xfrm>
          <a:prstGeom prst="rect">
            <a:avLst/>
          </a:prstGeom>
          <a:solidFill>
            <a:srgbClr val="DEE5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A3B02D3-01E0-09D2-F5EE-F028D0B14487}"/>
              </a:ext>
            </a:extLst>
          </p:cNvPr>
          <p:cNvSpPr txBox="1"/>
          <p:nvPr/>
        </p:nvSpPr>
        <p:spPr>
          <a:xfrm>
            <a:off x="812800" y="6375400"/>
            <a:ext cx="6604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簡単！シンプル！サイネージ ｜ 操作ガイド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95DCC7ED-30F8-0CD4-97A1-30201166273C}"/>
              </a:ext>
            </a:extLst>
          </p:cNvPr>
          <p:cNvSpPr txBox="1"/>
          <p:nvPr/>
        </p:nvSpPr>
        <p:spPr>
          <a:xfrm>
            <a:off x="10109200" y="6375400"/>
            <a:ext cx="127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kumimoji="1" lang="en-US" altLang="ja-JP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3</a:t>
            </a:r>
            <a:endParaRPr kumimoji="1" lang="ja-JP" altLang="en-US" sz="900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1698BD8-BB0B-3A1B-9313-337BCD38E686}"/>
              </a:ext>
            </a:extLst>
          </p:cNvPr>
          <p:cNvSpPr txBox="1"/>
          <p:nvPr/>
        </p:nvSpPr>
        <p:spPr>
          <a:xfrm>
            <a:off x="812800" y="1905000"/>
            <a:ext cx="105664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操作はフォルダにファイルを置くだけ。検知も表示もアプリが自動で行います。</a:t>
            </a: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1645F31C-FB16-F79D-569C-D247D8C2E70D}"/>
              </a:ext>
            </a:extLst>
          </p:cNvPr>
          <p:cNvSpPr/>
          <p:nvPr/>
        </p:nvSpPr>
        <p:spPr>
          <a:xfrm>
            <a:off x="812800" y="2413000"/>
            <a:ext cx="3175000" cy="2362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楕円 10">
            <a:extLst>
              <a:ext uri="{FF2B5EF4-FFF2-40B4-BE49-F238E27FC236}">
                <a16:creationId xmlns:a16="http://schemas.microsoft.com/office/drawing/2014/main" id="{1011C4B2-6259-7038-49B7-B7B1751392D0}"/>
              </a:ext>
            </a:extLst>
          </p:cNvPr>
          <p:cNvSpPr/>
          <p:nvPr/>
        </p:nvSpPr>
        <p:spPr>
          <a:xfrm>
            <a:off x="1117600" y="2717800"/>
            <a:ext cx="457200" cy="457200"/>
          </a:xfrm>
          <a:prstGeom prst="ellipse">
            <a:avLst/>
          </a:prstGeom>
          <a:solidFill>
            <a:srgbClr val="E9F0F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38D13AD4-E6C8-A105-75D4-72B2A9D9AC2F}"/>
              </a:ext>
            </a:extLst>
          </p:cNvPr>
          <p:cNvSpPr txBox="1"/>
          <p:nvPr/>
        </p:nvSpPr>
        <p:spPr>
          <a:xfrm>
            <a:off x="1117600" y="2717800"/>
            <a:ext cx="457200" cy="457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50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</a:t>
            </a:r>
            <a:endParaRPr kumimoji="1" lang="ja-JP" altLang="en-US" sz="1500" b="1">
              <a:solidFill>
                <a:srgbClr val="2563EB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BB955800-B0F2-62F9-2923-68AD89F36CAE}"/>
              </a:ext>
            </a:extLst>
          </p:cNvPr>
          <p:cNvSpPr txBox="1"/>
          <p:nvPr/>
        </p:nvSpPr>
        <p:spPr>
          <a:xfrm>
            <a:off x="1117600" y="3352800"/>
            <a:ext cx="2565400" cy="330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6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ファイルを置く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EC83C264-6F1C-00D7-4F97-2F84A9003B61}"/>
              </a:ext>
            </a:extLst>
          </p:cNvPr>
          <p:cNvSpPr txBox="1"/>
          <p:nvPr/>
        </p:nvSpPr>
        <p:spPr>
          <a:xfrm>
            <a:off x="1117600" y="3733800"/>
            <a:ext cx="2565400" cy="838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40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指定した監視フォルダの直下に</a:t>
            </a:r>
          </a:p>
          <a:p>
            <a:pPr>
              <a:lnSpc>
                <a:spcPct val="140000"/>
              </a:lnSpc>
            </a:pP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PDF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・画像・動画を保存します。</a:t>
            </a: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22C16AF5-E255-2AC2-42A9-04107B760725}"/>
              </a:ext>
            </a:extLst>
          </p:cNvPr>
          <p:cNvSpPr/>
          <p:nvPr/>
        </p:nvSpPr>
        <p:spPr>
          <a:xfrm>
            <a:off x="4508500" y="2413000"/>
            <a:ext cx="3175000" cy="2362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楕円 15">
            <a:extLst>
              <a:ext uri="{FF2B5EF4-FFF2-40B4-BE49-F238E27FC236}">
                <a16:creationId xmlns:a16="http://schemas.microsoft.com/office/drawing/2014/main" id="{99CA1DD5-A33B-6029-5C41-1BD4D399A6BD}"/>
              </a:ext>
            </a:extLst>
          </p:cNvPr>
          <p:cNvSpPr/>
          <p:nvPr/>
        </p:nvSpPr>
        <p:spPr>
          <a:xfrm>
            <a:off x="4813300" y="2717800"/>
            <a:ext cx="457200" cy="457200"/>
          </a:xfrm>
          <a:prstGeom prst="ellipse">
            <a:avLst/>
          </a:prstGeom>
          <a:solidFill>
            <a:srgbClr val="E9F0F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5EA1AB23-4B62-9838-414B-34FB5128BCCC}"/>
              </a:ext>
            </a:extLst>
          </p:cNvPr>
          <p:cNvSpPr txBox="1"/>
          <p:nvPr/>
        </p:nvSpPr>
        <p:spPr>
          <a:xfrm>
            <a:off x="4813300" y="2717800"/>
            <a:ext cx="457200" cy="457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50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2</a:t>
            </a:r>
            <a:endParaRPr kumimoji="1" lang="ja-JP" altLang="en-US" sz="1500" b="1">
              <a:solidFill>
                <a:srgbClr val="2563EB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64375E7D-72AC-8A58-0D37-D0F2D28CF3FE}"/>
              </a:ext>
            </a:extLst>
          </p:cNvPr>
          <p:cNvSpPr txBox="1"/>
          <p:nvPr/>
        </p:nvSpPr>
        <p:spPr>
          <a:xfrm>
            <a:off x="4813300" y="3352800"/>
            <a:ext cx="2565400" cy="330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6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アプリが検知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95D15A3E-15B3-BDC7-8FFB-3B7C8062368C}"/>
              </a:ext>
            </a:extLst>
          </p:cNvPr>
          <p:cNvSpPr txBox="1"/>
          <p:nvPr/>
        </p:nvSpPr>
        <p:spPr>
          <a:xfrm>
            <a:off x="4813300" y="3733800"/>
            <a:ext cx="2565400" cy="838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40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追加・削除を自動で見つけて</a:t>
            </a:r>
          </a:p>
          <a:p>
            <a:pPr>
              <a:lnSpc>
                <a:spcPct val="140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再生リストを作り直します。</a:t>
            </a:r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1CDCFA44-4EE7-FED1-E0EE-8839104B0390}"/>
              </a:ext>
            </a:extLst>
          </p:cNvPr>
          <p:cNvSpPr/>
          <p:nvPr/>
        </p:nvSpPr>
        <p:spPr>
          <a:xfrm>
            <a:off x="8204200" y="2413000"/>
            <a:ext cx="3175000" cy="2362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楕円 20">
            <a:extLst>
              <a:ext uri="{FF2B5EF4-FFF2-40B4-BE49-F238E27FC236}">
                <a16:creationId xmlns:a16="http://schemas.microsoft.com/office/drawing/2014/main" id="{F1C7C03E-5DBE-DE31-4368-8B5F5D2E510E}"/>
              </a:ext>
            </a:extLst>
          </p:cNvPr>
          <p:cNvSpPr/>
          <p:nvPr/>
        </p:nvSpPr>
        <p:spPr>
          <a:xfrm>
            <a:off x="8509000" y="2717800"/>
            <a:ext cx="457200" cy="457200"/>
          </a:xfrm>
          <a:prstGeom prst="ellipse">
            <a:avLst/>
          </a:prstGeom>
          <a:solidFill>
            <a:srgbClr val="E9F0F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1D5E75CD-E848-7AE9-4CCF-19136EDE2AB4}"/>
              </a:ext>
            </a:extLst>
          </p:cNvPr>
          <p:cNvSpPr txBox="1"/>
          <p:nvPr/>
        </p:nvSpPr>
        <p:spPr>
          <a:xfrm>
            <a:off x="8509000" y="2717800"/>
            <a:ext cx="457200" cy="457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50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3</a:t>
            </a:r>
            <a:endParaRPr kumimoji="1" lang="ja-JP" altLang="en-US" sz="1500" b="1">
              <a:solidFill>
                <a:srgbClr val="2563EB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BFD6908B-D21B-904B-530D-EF413D7FEE03}"/>
              </a:ext>
            </a:extLst>
          </p:cNvPr>
          <p:cNvSpPr txBox="1"/>
          <p:nvPr/>
        </p:nvSpPr>
        <p:spPr>
          <a:xfrm>
            <a:off x="8509000" y="3352800"/>
            <a:ext cx="2565400" cy="330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6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全画面でループ</a:t>
            </a: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A489E76F-C509-FEF2-BE75-10C60FA74C64}"/>
              </a:ext>
            </a:extLst>
          </p:cNvPr>
          <p:cNvSpPr txBox="1"/>
          <p:nvPr/>
        </p:nvSpPr>
        <p:spPr>
          <a:xfrm>
            <a:off x="8509000" y="3733800"/>
            <a:ext cx="2565400" cy="838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40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順番に全画面表示し、</a:t>
            </a:r>
          </a:p>
          <a:p>
            <a:pPr>
              <a:lnSpc>
                <a:spcPct val="140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最後まで行くと先頭へ戻ります。</a:t>
            </a:r>
          </a:p>
        </p:txBody>
      </p:sp>
      <p:sp>
        <p:nvSpPr>
          <p:cNvPr id="25" name="矢印: 右 24">
            <a:extLst>
              <a:ext uri="{FF2B5EF4-FFF2-40B4-BE49-F238E27FC236}">
                <a16:creationId xmlns:a16="http://schemas.microsoft.com/office/drawing/2014/main" id="{D28E3F2F-75E5-AAEB-6D6D-4DB4D764C14D}"/>
              </a:ext>
            </a:extLst>
          </p:cNvPr>
          <p:cNvSpPr/>
          <p:nvPr/>
        </p:nvSpPr>
        <p:spPr>
          <a:xfrm>
            <a:off x="4089400" y="3327400"/>
            <a:ext cx="317500" cy="254000"/>
          </a:xfrm>
          <a:prstGeom prst="rightArrow">
            <a:avLst/>
          </a:prstGeom>
          <a:solidFill>
            <a:srgbClr val="BFD0F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矢印: 右 25">
            <a:extLst>
              <a:ext uri="{FF2B5EF4-FFF2-40B4-BE49-F238E27FC236}">
                <a16:creationId xmlns:a16="http://schemas.microsoft.com/office/drawing/2014/main" id="{1CBAF386-D4DE-BF70-E5D9-412C14F581CD}"/>
              </a:ext>
            </a:extLst>
          </p:cNvPr>
          <p:cNvSpPr/>
          <p:nvPr/>
        </p:nvSpPr>
        <p:spPr>
          <a:xfrm>
            <a:off x="7785100" y="3327400"/>
            <a:ext cx="317500" cy="254000"/>
          </a:xfrm>
          <a:prstGeom prst="rightArrow">
            <a:avLst/>
          </a:prstGeom>
          <a:solidFill>
            <a:srgbClr val="BFD0F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75905F58-4215-6A28-9B3A-B6E40B40AEC9}"/>
              </a:ext>
            </a:extLst>
          </p:cNvPr>
          <p:cNvSpPr/>
          <p:nvPr/>
        </p:nvSpPr>
        <p:spPr>
          <a:xfrm>
            <a:off x="812800" y="5130800"/>
            <a:ext cx="10566400" cy="787400"/>
          </a:xfrm>
          <a:prstGeom prst="roundRect">
            <a:avLst>
              <a:gd name="adj" fmla="val 12000"/>
            </a:avLst>
          </a:prstGeom>
          <a:solidFill>
            <a:srgbClr val="E9F0F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944C9D4B-B0CD-7AAC-8DD0-FB808B473198}"/>
              </a:ext>
            </a:extLst>
          </p:cNvPr>
          <p:cNvSpPr/>
          <p:nvPr/>
        </p:nvSpPr>
        <p:spPr>
          <a:xfrm>
            <a:off x="812800" y="5130800"/>
            <a:ext cx="50800" cy="7874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84C92B29-55EE-8774-E3B5-F8AB805BB5F7}"/>
              </a:ext>
            </a:extLst>
          </p:cNvPr>
          <p:cNvSpPr txBox="1"/>
          <p:nvPr/>
        </p:nvSpPr>
        <p:spPr>
          <a:xfrm>
            <a:off x="1092200" y="5130800"/>
            <a:ext cx="1497584" cy="787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0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反映のタイミング</a:t>
            </a:r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4E5177C3-5927-7613-EE30-978924413172}"/>
              </a:ext>
            </a:extLst>
          </p:cNvPr>
          <p:cNvSpPr txBox="1"/>
          <p:nvPr/>
        </p:nvSpPr>
        <p:spPr>
          <a:xfrm>
            <a:off x="2589784" y="5130800"/>
            <a:ext cx="8510016" cy="787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25000"/>
              </a:lnSpc>
            </a:pP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ファイルを追加・削除しても、いま表示しているスライドが終わったあとに切り替わります。普段は全画面（キオスクモード）のまま運用します。</a:t>
            </a:r>
          </a:p>
        </p:txBody>
      </p:sp>
    </p:spTree>
    <p:extLst>
      <p:ext uri="{BB962C8B-B14F-4D97-AF65-F5344CB8AC3E}">
        <p14:creationId xmlns:p14="http://schemas.microsoft.com/office/powerpoint/2010/main" val="2119929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FE15C977-F761-20CD-1C50-5679B25100B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FFC8E041-9B60-C187-4C67-DEC3CDB1EF43}"/>
              </a:ext>
            </a:extLst>
          </p:cNvPr>
          <p:cNvSpPr/>
          <p:nvPr/>
        </p:nvSpPr>
        <p:spPr>
          <a:xfrm>
            <a:off x="812800" y="584200"/>
            <a:ext cx="63500" cy="584200"/>
          </a:xfrm>
          <a:prstGeom prst="rect">
            <a:avLst/>
          </a:prstGeom>
          <a:solidFill>
            <a:srgbClr val="0F8E9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5CAC1FE-8D30-5BC1-3E3D-0BD23A11FB03}"/>
              </a:ext>
            </a:extLst>
          </p:cNvPr>
          <p:cNvSpPr txBox="1"/>
          <p:nvPr/>
        </p:nvSpPr>
        <p:spPr>
          <a:xfrm>
            <a:off x="1028700" y="571500"/>
            <a:ext cx="7620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05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FOR CONTENT OWNER</a:t>
            </a:r>
            <a:endParaRPr kumimoji="1" lang="ja-JP" altLang="en-US" sz="1050" b="1">
              <a:solidFill>
                <a:srgbClr val="0F8E92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5A3F726-D1EA-292D-B195-F72C1402CE01}"/>
              </a:ext>
            </a:extLst>
          </p:cNvPr>
          <p:cNvSpPr txBox="1"/>
          <p:nvPr/>
        </p:nvSpPr>
        <p:spPr>
          <a:xfrm>
            <a:off x="1028700" y="774700"/>
            <a:ext cx="8128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ファイルを追加する・止める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99812EE9-AD69-72E7-6F43-EAE73665782A}"/>
              </a:ext>
            </a:extLst>
          </p:cNvPr>
          <p:cNvSpPr/>
          <p:nvPr/>
        </p:nvSpPr>
        <p:spPr>
          <a:xfrm>
            <a:off x="812800" y="1498600"/>
            <a:ext cx="10566400" cy="12700"/>
          </a:xfrm>
          <a:prstGeom prst="rect">
            <a:avLst/>
          </a:prstGeom>
          <a:solidFill>
            <a:srgbClr val="DEE5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31986121-972F-4901-CE47-DA9F30D7DDD2}"/>
              </a:ext>
            </a:extLst>
          </p:cNvPr>
          <p:cNvSpPr/>
          <p:nvPr/>
        </p:nvSpPr>
        <p:spPr>
          <a:xfrm>
            <a:off x="9857232" y="736600"/>
            <a:ext cx="1521968" cy="330200"/>
          </a:xfrm>
          <a:prstGeom prst="roundRect">
            <a:avLst>
              <a:gd name="adj" fmla="val 50000"/>
            </a:avLst>
          </a:prstGeom>
          <a:solidFill>
            <a:srgbClr val="0F8E9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3A913C15-8C18-C824-BFA8-3DDE3B743778}"/>
              </a:ext>
            </a:extLst>
          </p:cNvPr>
          <p:cNvSpPr txBox="1"/>
          <p:nvPr/>
        </p:nvSpPr>
        <p:spPr>
          <a:xfrm>
            <a:off x="9857232" y="736600"/>
            <a:ext cx="1521968" cy="330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ja-JP" altLang="en-US" sz="115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コンテンツ担当者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5A30FD06-160B-A6C6-0927-16CE6573C5B9}"/>
              </a:ext>
            </a:extLst>
          </p:cNvPr>
          <p:cNvSpPr txBox="1"/>
          <p:nvPr/>
        </p:nvSpPr>
        <p:spPr>
          <a:xfrm>
            <a:off x="812800" y="6375400"/>
            <a:ext cx="6604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簡単！シンプル！サイネージ ｜ 操作ガイド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44180D1A-690E-4777-20A1-84E2A588DF2F}"/>
              </a:ext>
            </a:extLst>
          </p:cNvPr>
          <p:cNvSpPr txBox="1"/>
          <p:nvPr/>
        </p:nvSpPr>
        <p:spPr>
          <a:xfrm>
            <a:off x="10109200" y="6375400"/>
            <a:ext cx="127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kumimoji="1" lang="en-US" altLang="ja-JP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4</a:t>
            </a:r>
            <a:endParaRPr kumimoji="1" lang="ja-JP" altLang="en-US" sz="900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2A829F24-045C-CB41-7619-487A1AB0D71B}"/>
              </a:ext>
            </a:extLst>
          </p:cNvPr>
          <p:cNvSpPr/>
          <p:nvPr/>
        </p:nvSpPr>
        <p:spPr>
          <a:xfrm>
            <a:off x="812800" y="1930400"/>
            <a:ext cx="10566400" cy="762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楕円 11">
            <a:extLst>
              <a:ext uri="{FF2B5EF4-FFF2-40B4-BE49-F238E27FC236}">
                <a16:creationId xmlns:a16="http://schemas.microsoft.com/office/drawing/2014/main" id="{1776E471-E9D5-8CC9-437D-51EA5332B6A0}"/>
              </a:ext>
            </a:extLst>
          </p:cNvPr>
          <p:cNvSpPr/>
          <p:nvPr/>
        </p:nvSpPr>
        <p:spPr>
          <a:xfrm>
            <a:off x="1066800" y="2133600"/>
            <a:ext cx="381000" cy="381000"/>
          </a:xfrm>
          <a:prstGeom prst="ellipse">
            <a:avLst/>
          </a:prstGeom>
          <a:solidFill>
            <a:srgbClr val="E3F4F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0062D32D-633B-4A2F-CF52-4755001D19B7}"/>
              </a:ext>
            </a:extLst>
          </p:cNvPr>
          <p:cNvSpPr txBox="1"/>
          <p:nvPr/>
        </p:nvSpPr>
        <p:spPr>
          <a:xfrm>
            <a:off x="1066800" y="2133600"/>
            <a:ext cx="381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40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</a:t>
            </a:r>
            <a:endParaRPr kumimoji="1" lang="ja-JP" altLang="en-US" sz="1400" b="1">
              <a:solidFill>
                <a:srgbClr val="0F8E92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84C29E51-3D54-A5BE-DFD8-9F718AA33860}"/>
              </a:ext>
            </a:extLst>
          </p:cNvPr>
          <p:cNvSpPr txBox="1"/>
          <p:nvPr/>
        </p:nvSpPr>
        <p:spPr>
          <a:xfrm>
            <a:off x="1625600" y="2082800"/>
            <a:ext cx="50800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5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監視フォルダを開く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0B0E4883-5EE6-B1A0-3AF2-90E4097E8037}"/>
              </a:ext>
            </a:extLst>
          </p:cNvPr>
          <p:cNvSpPr txBox="1"/>
          <p:nvPr/>
        </p:nvSpPr>
        <p:spPr>
          <a:xfrm>
            <a:off x="1625600" y="2362200"/>
            <a:ext cx="93472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本番の例：</a:t>
            </a:r>
            <a:r>
              <a:rPr kumimoji="1" lang="en-US" altLang="ja-JP" sz="12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D:\Signage</a:t>
            </a:r>
            <a:r>
              <a:rPr kumimoji="1" lang="ja-JP" altLang="en-US" sz="12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（場所は管理者に確認）</a:t>
            </a:r>
          </a:p>
        </p:txBody>
      </p: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4D978324-4B39-421A-CCE5-6A58B4018A6D}"/>
              </a:ext>
            </a:extLst>
          </p:cNvPr>
          <p:cNvSpPr/>
          <p:nvPr/>
        </p:nvSpPr>
        <p:spPr>
          <a:xfrm>
            <a:off x="812800" y="2844800"/>
            <a:ext cx="10566400" cy="762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楕円 16">
            <a:extLst>
              <a:ext uri="{FF2B5EF4-FFF2-40B4-BE49-F238E27FC236}">
                <a16:creationId xmlns:a16="http://schemas.microsoft.com/office/drawing/2014/main" id="{0B16B606-9CDC-6F9A-421C-EE9392410544}"/>
              </a:ext>
            </a:extLst>
          </p:cNvPr>
          <p:cNvSpPr/>
          <p:nvPr/>
        </p:nvSpPr>
        <p:spPr>
          <a:xfrm>
            <a:off x="1066800" y="3048000"/>
            <a:ext cx="381000" cy="381000"/>
          </a:xfrm>
          <a:prstGeom prst="ellipse">
            <a:avLst/>
          </a:prstGeom>
          <a:solidFill>
            <a:srgbClr val="E3F4F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44963660-5C00-907A-CAF9-0478D6064F47}"/>
              </a:ext>
            </a:extLst>
          </p:cNvPr>
          <p:cNvSpPr txBox="1"/>
          <p:nvPr/>
        </p:nvSpPr>
        <p:spPr>
          <a:xfrm>
            <a:off x="1066800" y="3048000"/>
            <a:ext cx="381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40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2</a:t>
            </a:r>
            <a:endParaRPr kumimoji="1" lang="ja-JP" altLang="en-US" sz="1400" b="1">
              <a:solidFill>
                <a:srgbClr val="0F8E92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FE780C4C-9687-5C18-125C-A47A3BA890DE}"/>
              </a:ext>
            </a:extLst>
          </p:cNvPr>
          <p:cNvSpPr txBox="1"/>
          <p:nvPr/>
        </p:nvSpPr>
        <p:spPr>
          <a:xfrm>
            <a:off x="1625600" y="2997200"/>
            <a:ext cx="50800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5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ファイルをフォルダ直下にコピーする</a:t>
            </a: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6D661D51-14E3-0A1B-9039-BB3EC9269AFC}"/>
              </a:ext>
            </a:extLst>
          </p:cNvPr>
          <p:cNvSpPr txBox="1"/>
          <p:nvPr/>
        </p:nvSpPr>
        <p:spPr>
          <a:xfrm>
            <a:off x="1625600" y="3276600"/>
            <a:ext cx="93472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対応形式は </a:t>
            </a:r>
            <a:r>
              <a:rPr kumimoji="1" lang="en-US" altLang="ja-JP" sz="12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JPG / JPEG</a:t>
            </a:r>
            <a:r>
              <a:rPr kumimoji="1" lang="ja-JP" altLang="en-US" sz="12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</a:t>
            </a:r>
            <a:r>
              <a:rPr kumimoji="1" lang="en-US" altLang="ja-JP" sz="12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PDF</a:t>
            </a:r>
            <a:r>
              <a:rPr kumimoji="1" lang="ja-JP" altLang="en-US" sz="12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</a:t>
            </a:r>
            <a:r>
              <a:rPr kumimoji="1" lang="en-US" altLang="ja-JP" sz="12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MP4</a:t>
            </a:r>
            <a:endParaRPr kumimoji="1" lang="ja-JP" altLang="en-US" sz="1200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1" name="四角形: 角を丸くする 20">
            <a:extLst>
              <a:ext uri="{FF2B5EF4-FFF2-40B4-BE49-F238E27FC236}">
                <a16:creationId xmlns:a16="http://schemas.microsoft.com/office/drawing/2014/main" id="{23B02095-1B7C-2A30-BC7C-FBD783C76864}"/>
              </a:ext>
            </a:extLst>
          </p:cNvPr>
          <p:cNvSpPr/>
          <p:nvPr/>
        </p:nvSpPr>
        <p:spPr>
          <a:xfrm>
            <a:off x="812800" y="3759200"/>
            <a:ext cx="10566400" cy="762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楕円 21">
            <a:extLst>
              <a:ext uri="{FF2B5EF4-FFF2-40B4-BE49-F238E27FC236}">
                <a16:creationId xmlns:a16="http://schemas.microsoft.com/office/drawing/2014/main" id="{89F41B4A-9565-9CEF-565A-C4C1D51FD3D5}"/>
              </a:ext>
            </a:extLst>
          </p:cNvPr>
          <p:cNvSpPr/>
          <p:nvPr/>
        </p:nvSpPr>
        <p:spPr>
          <a:xfrm>
            <a:off x="1066800" y="3962400"/>
            <a:ext cx="381000" cy="381000"/>
          </a:xfrm>
          <a:prstGeom prst="ellipse">
            <a:avLst/>
          </a:prstGeom>
          <a:solidFill>
            <a:srgbClr val="E3F4F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F12AAE91-6EE1-37F3-6D60-F8F4947FB001}"/>
              </a:ext>
            </a:extLst>
          </p:cNvPr>
          <p:cNvSpPr txBox="1"/>
          <p:nvPr/>
        </p:nvSpPr>
        <p:spPr>
          <a:xfrm>
            <a:off x="1066800" y="3962400"/>
            <a:ext cx="381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40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3</a:t>
            </a:r>
            <a:endParaRPr kumimoji="1" lang="ja-JP" altLang="en-US" sz="1400" b="1">
              <a:solidFill>
                <a:srgbClr val="0F8E92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F9B6515D-D756-944C-35E8-6478F91727CE}"/>
              </a:ext>
            </a:extLst>
          </p:cNvPr>
          <p:cNvSpPr txBox="1"/>
          <p:nvPr/>
        </p:nvSpPr>
        <p:spPr>
          <a:xfrm>
            <a:off x="1625600" y="3911600"/>
            <a:ext cx="50800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5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自動で表示に反映される</a:t>
            </a: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1DA82EB1-BB04-2550-5992-32BED85C335C}"/>
              </a:ext>
            </a:extLst>
          </p:cNvPr>
          <p:cNvSpPr txBox="1"/>
          <p:nvPr/>
        </p:nvSpPr>
        <p:spPr>
          <a:xfrm>
            <a:off x="1625600" y="4191000"/>
            <a:ext cx="93472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現在のスライドが終わったタイミングで切り替わります</a:t>
            </a:r>
          </a:p>
        </p:txBody>
      </p:sp>
      <p:sp>
        <p:nvSpPr>
          <p:cNvPr id="26" name="四角形: 角を丸くする 25">
            <a:extLst>
              <a:ext uri="{FF2B5EF4-FFF2-40B4-BE49-F238E27FC236}">
                <a16:creationId xmlns:a16="http://schemas.microsoft.com/office/drawing/2014/main" id="{1E4CDFA3-E888-6DC8-D710-EE6AD2E029F6}"/>
              </a:ext>
            </a:extLst>
          </p:cNvPr>
          <p:cNvSpPr/>
          <p:nvPr/>
        </p:nvSpPr>
        <p:spPr>
          <a:xfrm>
            <a:off x="812800" y="4724400"/>
            <a:ext cx="10566400" cy="635000"/>
          </a:xfrm>
          <a:prstGeom prst="roundRect">
            <a:avLst>
              <a:gd name="adj" fmla="val 12000"/>
            </a:avLst>
          </a:prstGeom>
          <a:solidFill>
            <a:srgbClr val="FDF3E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F2887FDC-8DDE-0950-78E9-5E2DDF78BEAC}"/>
              </a:ext>
            </a:extLst>
          </p:cNvPr>
          <p:cNvSpPr/>
          <p:nvPr/>
        </p:nvSpPr>
        <p:spPr>
          <a:xfrm>
            <a:off x="812800" y="4724400"/>
            <a:ext cx="50800" cy="635000"/>
          </a:xfrm>
          <a:prstGeom prst="rect">
            <a:avLst/>
          </a:prstGeom>
          <a:solidFill>
            <a:srgbClr val="B4690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430FE1A1-27C1-DFB8-C1BD-EABCA6709E0A}"/>
              </a:ext>
            </a:extLst>
          </p:cNvPr>
          <p:cNvSpPr txBox="1"/>
          <p:nvPr/>
        </p:nvSpPr>
        <p:spPr>
          <a:xfrm>
            <a:off x="1092200" y="4724400"/>
            <a:ext cx="564896" cy="635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00" b="1">
                <a:solidFill>
                  <a:srgbClr val="B4690E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注意</a:t>
            </a: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5B686924-9C36-8210-55D7-D62229FE2A44}"/>
              </a:ext>
            </a:extLst>
          </p:cNvPr>
          <p:cNvSpPr txBox="1"/>
          <p:nvPr/>
        </p:nvSpPr>
        <p:spPr>
          <a:xfrm>
            <a:off x="1657096" y="4724400"/>
            <a:ext cx="9442704" cy="635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25000"/>
              </a:lnSpc>
            </a:pP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サブフォルダの中のファイルは表示されません。必ずフォルダ直下に置いてください。</a:t>
            </a:r>
          </a:p>
        </p:txBody>
      </p:sp>
      <p:sp>
        <p:nvSpPr>
          <p:cNvPr id="30" name="四角形: 角を丸くする 29">
            <a:extLst>
              <a:ext uri="{FF2B5EF4-FFF2-40B4-BE49-F238E27FC236}">
                <a16:creationId xmlns:a16="http://schemas.microsoft.com/office/drawing/2014/main" id="{A79C5BE6-31F7-2D34-C811-A3F5147752C4}"/>
              </a:ext>
            </a:extLst>
          </p:cNvPr>
          <p:cNvSpPr/>
          <p:nvPr/>
        </p:nvSpPr>
        <p:spPr>
          <a:xfrm>
            <a:off x="812800" y="5461000"/>
            <a:ext cx="10566400" cy="635000"/>
          </a:xfrm>
          <a:prstGeom prst="roundRect">
            <a:avLst>
              <a:gd name="adj" fmla="val 12000"/>
            </a:avLst>
          </a:prstGeom>
          <a:solidFill>
            <a:srgbClr val="E3F4F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5E0B78C6-AEA8-40EF-7263-E6C3CB57024F}"/>
              </a:ext>
            </a:extLst>
          </p:cNvPr>
          <p:cNvSpPr/>
          <p:nvPr/>
        </p:nvSpPr>
        <p:spPr>
          <a:xfrm>
            <a:off x="812800" y="5461000"/>
            <a:ext cx="50800" cy="635000"/>
          </a:xfrm>
          <a:prstGeom prst="rect">
            <a:avLst/>
          </a:prstGeom>
          <a:solidFill>
            <a:srgbClr val="0F8E9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76964375-B5E2-4937-7C18-C7E5C9899609}"/>
              </a:ext>
            </a:extLst>
          </p:cNvPr>
          <p:cNvSpPr txBox="1"/>
          <p:nvPr/>
        </p:nvSpPr>
        <p:spPr>
          <a:xfrm>
            <a:off x="1092200" y="5461000"/>
            <a:ext cx="1031240" cy="635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0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止めるとき</a:t>
            </a: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6ECAFBB1-D567-E29E-DCE4-4543F18F0FAE}"/>
              </a:ext>
            </a:extLst>
          </p:cNvPr>
          <p:cNvSpPr txBox="1"/>
          <p:nvPr/>
        </p:nvSpPr>
        <p:spPr>
          <a:xfrm>
            <a:off x="2123440" y="5461000"/>
            <a:ext cx="8976360" cy="635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25000"/>
              </a:lnSpc>
            </a:pP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監視フォルダから該当のファイルを削除するだけです。反映はやはり現在のスライドが終わったあとです。</a:t>
            </a:r>
          </a:p>
        </p:txBody>
      </p:sp>
    </p:spTree>
    <p:extLst>
      <p:ext uri="{BB962C8B-B14F-4D97-AF65-F5344CB8AC3E}">
        <p14:creationId xmlns:p14="http://schemas.microsoft.com/office/powerpoint/2010/main" val="7799236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5F8B646-2A54-0C1D-1842-467342B8237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3B7F9BD7-DE5E-783A-8E51-06C0D9797A5C}"/>
              </a:ext>
            </a:extLst>
          </p:cNvPr>
          <p:cNvSpPr/>
          <p:nvPr/>
        </p:nvSpPr>
        <p:spPr>
          <a:xfrm>
            <a:off x="812800" y="584200"/>
            <a:ext cx="63500" cy="584200"/>
          </a:xfrm>
          <a:prstGeom prst="rect">
            <a:avLst/>
          </a:prstGeom>
          <a:solidFill>
            <a:srgbClr val="0F8E9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74848120-E998-DF5B-3A2D-481190AD5C93}"/>
              </a:ext>
            </a:extLst>
          </p:cNvPr>
          <p:cNvSpPr txBox="1"/>
          <p:nvPr/>
        </p:nvSpPr>
        <p:spPr>
          <a:xfrm>
            <a:off x="1028700" y="571500"/>
            <a:ext cx="7620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05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FOR CONTENT OWNER</a:t>
            </a:r>
            <a:endParaRPr kumimoji="1" lang="ja-JP" altLang="en-US" sz="1050" b="1">
              <a:solidFill>
                <a:srgbClr val="0F8E92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30B5484-E49B-3AFE-0003-9789C537D499}"/>
              </a:ext>
            </a:extLst>
          </p:cNvPr>
          <p:cNvSpPr txBox="1"/>
          <p:nvPr/>
        </p:nvSpPr>
        <p:spPr>
          <a:xfrm>
            <a:off x="1028700" y="774700"/>
            <a:ext cx="8128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使えるファイルの種類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372A144-BF84-120B-5E01-68C0F9960F42}"/>
              </a:ext>
            </a:extLst>
          </p:cNvPr>
          <p:cNvSpPr/>
          <p:nvPr/>
        </p:nvSpPr>
        <p:spPr>
          <a:xfrm>
            <a:off x="812800" y="1498600"/>
            <a:ext cx="10566400" cy="12700"/>
          </a:xfrm>
          <a:prstGeom prst="rect">
            <a:avLst/>
          </a:prstGeom>
          <a:solidFill>
            <a:srgbClr val="DEE5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0E05D1F2-BC6B-8120-292E-EC5AD6B2F494}"/>
              </a:ext>
            </a:extLst>
          </p:cNvPr>
          <p:cNvSpPr/>
          <p:nvPr/>
        </p:nvSpPr>
        <p:spPr>
          <a:xfrm>
            <a:off x="9857232" y="736600"/>
            <a:ext cx="1521968" cy="330200"/>
          </a:xfrm>
          <a:prstGeom prst="roundRect">
            <a:avLst>
              <a:gd name="adj" fmla="val 50000"/>
            </a:avLst>
          </a:prstGeom>
          <a:solidFill>
            <a:srgbClr val="0F8E9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080C453D-80AF-0CEC-2843-8DBD7D765C88}"/>
              </a:ext>
            </a:extLst>
          </p:cNvPr>
          <p:cNvSpPr txBox="1"/>
          <p:nvPr/>
        </p:nvSpPr>
        <p:spPr>
          <a:xfrm>
            <a:off x="9857232" y="736600"/>
            <a:ext cx="1521968" cy="330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ja-JP" altLang="en-US" sz="115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コンテンツ担当者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B935303D-8A83-3C7F-1E34-0C9E1C5B39E4}"/>
              </a:ext>
            </a:extLst>
          </p:cNvPr>
          <p:cNvSpPr txBox="1"/>
          <p:nvPr/>
        </p:nvSpPr>
        <p:spPr>
          <a:xfrm>
            <a:off x="812800" y="6375400"/>
            <a:ext cx="6604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簡単！シンプル！サイネージ ｜ 操作ガイド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1803513D-C209-D150-DEDA-21F7C46F232C}"/>
              </a:ext>
            </a:extLst>
          </p:cNvPr>
          <p:cNvSpPr txBox="1"/>
          <p:nvPr/>
        </p:nvSpPr>
        <p:spPr>
          <a:xfrm>
            <a:off x="10109200" y="6375400"/>
            <a:ext cx="127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kumimoji="1" lang="en-US" altLang="ja-JP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5</a:t>
            </a:r>
            <a:endParaRPr kumimoji="1" lang="ja-JP" altLang="en-US" sz="900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C81E2DA4-D8AB-6311-B51F-EA8993D0FFDA}"/>
              </a:ext>
            </a:extLst>
          </p:cNvPr>
          <p:cNvSpPr txBox="1"/>
          <p:nvPr/>
        </p:nvSpPr>
        <p:spPr>
          <a:xfrm>
            <a:off x="812800" y="1905000"/>
            <a:ext cx="105664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次の </a:t>
            </a:r>
            <a:r>
              <a:rPr kumimoji="1" lang="en-US" altLang="ja-JP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3 </a:t>
            </a: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種類だけが表示対象です。それ以外の形式は無視されます。</a:t>
            </a:r>
          </a:p>
        </p:txBody>
      </p:sp>
      <p:graphicFrame>
        <p:nvGraphicFramePr>
          <p:cNvPr id="12" name="表 11">
            <a:extLst>
              <a:ext uri="{FF2B5EF4-FFF2-40B4-BE49-F238E27FC236}">
                <a16:creationId xmlns:a16="http://schemas.microsoft.com/office/drawing/2014/main" id="{A0A0E598-EDA1-4DDA-3862-D30A1CDF1C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9897068"/>
              </p:ext>
            </p:extLst>
          </p:nvPr>
        </p:nvGraphicFramePr>
        <p:xfrm>
          <a:off x="812800" y="2438400"/>
          <a:ext cx="10566400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05000">
                  <a:extLst>
                    <a:ext uri="{9D8B030D-6E8A-4147-A177-3AD203B41FA5}">
                      <a16:colId xmlns:a16="http://schemas.microsoft.com/office/drawing/2014/main" val="238635501"/>
                    </a:ext>
                  </a:extLst>
                </a:gridCol>
                <a:gridCol w="2413000">
                  <a:extLst>
                    <a:ext uri="{9D8B030D-6E8A-4147-A177-3AD203B41FA5}">
                      <a16:colId xmlns:a16="http://schemas.microsoft.com/office/drawing/2014/main" val="3218961145"/>
                    </a:ext>
                  </a:extLst>
                </a:gridCol>
                <a:gridCol w="6248400">
                  <a:extLst>
                    <a:ext uri="{9D8B030D-6E8A-4147-A177-3AD203B41FA5}">
                      <a16:colId xmlns:a16="http://schemas.microsoft.com/office/drawing/2014/main" val="3003089725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50" b="1">
                          <a:solidFill>
                            <a:srgbClr val="FFFFFF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種類</a:t>
                      </a:r>
                    </a:p>
                  </a:txBody>
                  <a:tcPr marL="152400" marR="152400" marT="63500" marB="63500" anchor="ctr">
                    <a:lnB w="19050">
                      <a:solidFill>
                        <a:srgbClr val="0F8E92"/>
                      </a:solidFill>
                    </a:lnB>
                    <a:solidFill>
                      <a:srgbClr val="0F8E9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50" b="1">
                          <a:solidFill>
                            <a:srgbClr val="FFFFFF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拡張子</a:t>
                      </a:r>
                    </a:p>
                  </a:txBody>
                  <a:tcPr marL="152400" marR="152400" marT="63500" marB="63500" anchor="ctr">
                    <a:lnB w="19050">
                      <a:solidFill>
                        <a:srgbClr val="0F8E92"/>
                      </a:solidFill>
                    </a:lnB>
                    <a:solidFill>
                      <a:srgbClr val="0F8E9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50" b="1">
                          <a:solidFill>
                            <a:srgbClr val="FFFFFF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表示のしかた</a:t>
                      </a:r>
                    </a:p>
                  </a:txBody>
                  <a:tcPr marL="152400" marR="152400" marT="63500" marB="63500" anchor="ctr">
                    <a:lnB w="19050">
                      <a:solidFill>
                        <a:srgbClr val="0F8E92"/>
                      </a:solidFill>
                    </a:lnB>
                    <a:solidFill>
                      <a:srgbClr val="0F8E9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28071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5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画像</a:t>
                      </a:r>
                    </a:p>
                  </a:txBody>
                  <a:tcPr marL="152400" marR="152400" marT="63500" marB="63500" anchor="ctr">
                    <a:lnT w="19050">
                      <a:solidFill>
                        <a:srgbClr val="0F8E92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en-US" altLang="ja-JP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.jpg / .jpeg</a:t>
                      </a:r>
                      <a:endParaRPr kumimoji="1" lang="ja-JP" altLang="en-US" sz="1250" b="0">
                        <a:solidFill>
                          <a:srgbClr val="465263"/>
                        </a:solidFill>
                        <a:latin typeface="Yu Gothic UI" panose="020B0500000000000000" pitchFamily="50" charset="-128"/>
                        <a:ea typeface="Yu Gothic UI" panose="020B0500000000000000" pitchFamily="50" charset="-128"/>
                      </a:endParaRPr>
                    </a:p>
                  </a:txBody>
                  <a:tcPr marL="152400" marR="152400" marT="63500" marB="63500" anchor="ctr">
                    <a:lnT w="19050">
                      <a:solidFill>
                        <a:srgbClr val="0F8E92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en-US" altLang="ja-JP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1 </a:t>
                      </a:r>
                      <a:r>
                        <a:rPr kumimoji="1" lang="ja-JP" altLang="en-US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ファイル </a:t>
                      </a:r>
                      <a:r>
                        <a:rPr kumimoji="1" lang="en-US" altLang="ja-JP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= 1 </a:t>
                      </a:r>
                      <a:r>
                        <a:rPr kumimoji="1" lang="ja-JP" altLang="en-US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枚のスライド</a:t>
                      </a:r>
                    </a:p>
                  </a:txBody>
                  <a:tcPr marL="152400" marR="152400" marT="63500" marB="63500" anchor="ctr">
                    <a:lnT w="19050">
                      <a:solidFill>
                        <a:srgbClr val="0F8E92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0804595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en-US" altLang="ja-JP" sz="125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PDF</a:t>
                      </a:r>
                      <a:endParaRPr kumimoji="1" lang="ja-JP" altLang="en-US" sz="1250" b="1">
                        <a:solidFill>
                          <a:srgbClr val="1B2430"/>
                        </a:solidFill>
                        <a:latin typeface="Yu Gothic UI" panose="020B0500000000000000" pitchFamily="50" charset="-128"/>
                        <a:ea typeface="Yu Gothic UI" panose="020B0500000000000000" pitchFamily="50" charset="-128"/>
                      </a:endParaRP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en-US" altLang="ja-JP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.pdf</a:t>
                      </a:r>
                      <a:endParaRPr kumimoji="1" lang="ja-JP" altLang="en-US" sz="1250" b="0">
                        <a:solidFill>
                          <a:srgbClr val="465263"/>
                        </a:solidFill>
                        <a:latin typeface="Yu Gothic UI" panose="020B0500000000000000" pitchFamily="50" charset="-128"/>
                        <a:ea typeface="Yu Gothic UI" panose="020B0500000000000000" pitchFamily="50" charset="-128"/>
                      </a:endParaRP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en-US" altLang="ja-JP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1 </a:t>
                      </a:r>
                      <a:r>
                        <a:rPr kumimoji="1" lang="ja-JP" altLang="en-US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ページ </a:t>
                      </a:r>
                      <a:r>
                        <a:rPr kumimoji="1" lang="en-US" altLang="ja-JP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= 1 </a:t>
                      </a:r>
                      <a:r>
                        <a:rPr kumimoji="1" lang="ja-JP" altLang="en-US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枚のスライド（ページ順に表示）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8476846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5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動画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en-US" altLang="ja-JP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.mp4</a:t>
                      </a:r>
                      <a:endParaRPr kumimoji="1" lang="ja-JP" altLang="en-US" sz="1250" b="0">
                        <a:solidFill>
                          <a:srgbClr val="465263"/>
                        </a:solidFill>
                        <a:latin typeface="Yu Gothic UI" panose="020B0500000000000000" pitchFamily="50" charset="-128"/>
                        <a:ea typeface="Yu Gothic UI" panose="020B0500000000000000" pitchFamily="50" charset="-128"/>
                      </a:endParaRP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最後まで再生してから次のスライドへ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3597405"/>
                  </a:ext>
                </a:extLst>
              </a:tr>
            </a:tbl>
          </a:graphicData>
        </a:graphic>
      </p:graphicFrame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2CE8AC82-DAC7-7413-D146-005F1EEA9FB0}"/>
              </a:ext>
            </a:extLst>
          </p:cNvPr>
          <p:cNvSpPr/>
          <p:nvPr/>
        </p:nvSpPr>
        <p:spPr>
          <a:xfrm>
            <a:off x="812800" y="5207000"/>
            <a:ext cx="10566400" cy="660400"/>
          </a:xfrm>
          <a:prstGeom prst="roundRect">
            <a:avLst>
              <a:gd name="adj" fmla="val 12000"/>
            </a:avLst>
          </a:prstGeom>
          <a:solidFill>
            <a:srgbClr val="FDF3E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9ECD79CF-DD23-BC5B-C301-690E608CD17C}"/>
              </a:ext>
            </a:extLst>
          </p:cNvPr>
          <p:cNvSpPr/>
          <p:nvPr/>
        </p:nvSpPr>
        <p:spPr>
          <a:xfrm>
            <a:off x="812800" y="5207000"/>
            <a:ext cx="50800" cy="660400"/>
          </a:xfrm>
          <a:prstGeom prst="rect">
            <a:avLst/>
          </a:prstGeom>
          <a:solidFill>
            <a:srgbClr val="B4690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C02B7D6E-BEED-9119-4180-6FC54BD7DE78}"/>
              </a:ext>
            </a:extLst>
          </p:cNvPr>
          <p:cNvSpPr txBox="1"/>
          <p:nvPr/>
        </p:nvSpPr>
        <p:spPr>
          <a:xfrm>
            <a:off x="1092200" y="5207000"/>
            <a:ext cx="1186688" cy="660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00" b="1">
                <a:solidFill>
                  <a:srgbClr val="B4690E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使えない形式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5F96C9DD-2D81-093C-244F-5769989BDD0D}"/>
              </a:ext>
            </a:extLst>
          </p:cNvPr>
          <p:cNvSpPr txBox="1"/>
          <p:nvPr/>
        </p:nvSpPr>
        <p:spPr>
          <a:xfrm>
            <a:off x="2278888" y="5207000"/>
            <a:ext cx="8820912" cy="660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25000"/>
              </a:lnSpc>
            </a:pP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PNG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GIF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MOV 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などは表示できません。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JPEG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PDF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MP4 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に変換してから置いてください。</a:t>
            </a:r>
          </a:p>
        </p:txBody>
      </p:sp>
    </p:spTree>
    <p:extLst>
      <p:ext uri="{BB962C8B-B14F-4D97-AF65-F5344CB8AC3E}">
        <p14:creationId xmlns:p14="http://schemas.microsoft.com/office/powerpoint/2010/main" val="10772115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EC8D3D7D-9B53-C35A-0899-7778F2B16F8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D3E152EF-F30B-DD85-154C-219A3C3F9023}"/>
              </a:ext>
            </a:extLst>
          </p:cNvPr>
          <p:cNvSpPr/>
          <p:nvPr/>
        </p:nvSpPr>
        <p:spPr>
          <a:xfrm>
            <a:off x="812800" y="584200"/>
            <a:ext cx="63500" cy="584200"/>
          </a:xfrm>
          <a:prstGeom prst="rect">
            <a:avLst/>
          </a:prstGeom>
          <a:solidFill>
            <a:srgbClr val="0F8E9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1E6FF06-F5A7-F962-4E69-8AB1E050DD41}"/>
              </a:ext>
            </a:extLst>
          </p:cNvPr>
          <p:cNvSpPr txBox="1"/>
          <p:nvPr/>
        </p:nvSpPr>
        <p:spPr>
          <a:xfrm>
            <a:off x="1028700" y="571500"/>
            <a:ext cx="7620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05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FOR CONTENT OWNER</a:t>
            </a:r>
            <a:endParaRPr kumimoji="1" lang="ja-JP" altLang="en-US" sz="1050" b="1">
              <a:solidFill>
                <a:srgbClr val="0F8E92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62DB0C7-F963-DF21-5B95-931CA466A94E}"/>
              </a:ext>
            </a:extLst>
          </p:cNvPr>
          <p:cNvSpPr txBox="1"/>
          <p:nvPr/>
        </p:nvSpPr>
        <p:spPr>
          <a:xfrm>
            <a:off x="1028700" y="774700"/>
            <a:ext cx="8128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表示順はファイル名の昇順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902ACB3-26D9-6AE1-25F5-D7DF31D0194D}"/>
              </a:ext>
            </a:extLst>
          </p:cNvPr>
          <p:cNvSpPr/>
          <p:nvPr/>
        </p:nvSpPr>
        <p:spPr>
          <a:xfrm>
            <a:off x="812800" y="1498600"/>
            <a:ext cx="10566400" cy="12700"/>
          </a:xfrm>
          <a:prstGeom prst="rect">
            <a:avLst/>
          </a:prstGeom>
          <a:solidFill>
            <a:srgbClr val="DEE5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8307E613-1D31-7B66-33B4-16DE594F7341}"/>
              </a:ext>
            </a:extLst>
          </p:cNvPr>
          <p:cNvSpPr/>
          <p:nvPr/>
        </p:nvSpPr>
        <p:spPr>
          <a:xfrm>
            <a:off x="9857232" y="736600"/>
            <a:ext cx="1521968" cy="330200"/>
          </a:xfrm>
          <a:prstGeom prst="roundRect">
            <a:avLst>
              <a:gd name="adj" fmla="val 50000"/>
            </a:avLst>
          </a:prstGeom>
          <a:solidFill>
            <a:srgbClr val="0F8E9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D161DC4E-0110-BFD3-26C2-44782FF5E054}"/>
              </a:ext>
            </a:extLst>
          </p:cNvPr>
          <p:cNvSpPr txBox="1"/>
          <p:nvPr/>
        </p:nvSpPr>
        <p:spPr>
          <a:xfrm>
            <a:off x="9857232" y="736600"/>
            <a:ext cx="1521968" cy="330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ja-JP" altLang="en-US" sz="115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コンテンツ担当者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F3996FB2-2F32-BB6E-2AFC-603A192016C9}"/>
              </a:ext>
            </a:extLst>
          </p:cNvPr>
          <p:cNvSpPr txBox="1"/>
          <p:nvPr/>
        </p:nvSpPr>
        <p:spPr>
          <a:xfrm>
            <a:off x="812800" y="6375400"/>
            <a:ext cx="6604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簡単！シンプル！サイネージ ｜ 操作ガイド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08832004-73D6-C730-D84F-67F0AA038999}"/>
              </a:ext>
            </a:extLst>
          </p:cNvPr>
          <p:cNvSpPr txBox="1"/>
          <p:nvPr/>
        </p:nvSpPr>
        <p:spPr>
          <a:xfrm>
            <a:off x="10109200" y="6375400"/>
            <a:ext cx="127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kumimoji="1" lang="en-US" altLang="ja-JP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6</a:t>
            </a:r>
            <a:endParaRPr kumimoji="1" lang="ja-JP" altLang="en-US" sz="900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9D647F75-F22B-A694-B4D6-E028BBE8EE01}"/>
              </a:ext>
            </a:extLst>
          </p:cNvPr>
          <p:cNvSpPr txBox="1"/>
          <p:nvPr/>
        </p:nvSpPr>
        <p:spPr>
          <a:xfrm>
            <a:off x="812800" y="1905000"/>
            <a:ext cx="10566400" cy="457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ファイル名の昇順で表示します。数字の部分は数値として比べるので、</a:t>
            </a:r>
            <a:r>
              <a:rPr kumimoji="1" lang="en-US" altLang="ja-JP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001 → 002 → 010 </a:t>
            </a: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の順になります。</a:t>
            </a:r>
          </a:p>
        </p:txBody>
      </p:sp>
      <p:graphicFrame>
        <p:nvGraphicFramePr>
          <p:cNvPr id="12" name="表 11">
            <a:extLst>
              <a:ext uri="{FF2B5EF4-FFF2-40B4-BE49-F238E27FC236}">
                <a16:creationId xmlns:a16="http://schemas.microsoft.com/office/drawing/2014/main" id="{E5D3DAD2-84D2-A640-CED9-DD0A5B1973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9901246"/>
              </p:ext>
            </p:extLst>
          </p:nvPr>
        </p:nvGraphicFramePr>
        <p:xfrm>
          <a:off x="812800" y="2438400"/>
          <a:ext cx="10566400" cy="19304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5461000">
                  <a:extLst>
                    <a:ext uri="{9D8B030D-6E8A-4147-A177-3AD203B41FA5}">
                      <a16:colId xmlns:a16="http://schemas.microsoft.com/office/drawing/2014/main" val="420358276"/>
                    </a:ext>
                  </a:extLst>
                </a:gridCol>
                <a:gridCol w="5105400">
                  <a:extLst>
                    <a:ext uri="{9D8B030D-6E8A-4147-A177-3AD203B41FA5}">
                      <a16:colId xmlns:a16="http://schemas.microsoft.com/office/drawing/2014/main" val="198228733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50" b="1">
                          <a:solidFill>
                            <a:srgbClr val="FFFFFF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ファイル名の例</a:t>
                      </a:r>
                    </a:p>
                  </a:txBody>
                  <a:tcPr marL="152400" marR="152400" marT="63500" marB="63500" anchor="ctr">
                    <a:lnB w="19050">
                      <a:solidFill>
                        <a:srgbClr val="0F8E92"/>
                      </a:solidFill>
                    </a:lnB>
                    <a:solidFill>
                      <a:srgbClr val="0F8E9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50" b="1">
                          <a:solidFill>
                            <a:srgbClr val="FFFFFF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実際の表示順</a:t>
                      </a:r>
                    </a:p>
                  </a:txBody>
                  <a:tcPr marL="152400" marR="152400" marT="63500" marB="63500" anchor="ctr">
                    <a:lnB w="19050">
                      <a:solidFill>
                        <a:srgbClr val="0F8E92"/>
                      </a:solidFill>
                    </a:lnB>
                    <a:solidFill>
                      <a:srgbClr val="0F8E9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11076"/>
                  </a:ext>
                </a:extLst>
              </a:tr>
              <a:tr h="736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en-US" altLang="ja-JP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001.jpg → 002.jpg → 010.jpg</a:t>
                      </a:r>
                      <a:endParaRPr kumimoji="1" lang="ja-JP" altLang="en-US" sz="1250" b="0">
                        <a:solidFill>
                          <a:srgbClr val="465263"/>
                        </a:solidFill>
                        <a:latin typeface="Yu Gothic UI" panose="020B0500000000000000" pitchFamily="50" charset="-128"/>
                        <a:ea typeface="Yu Gothic UI" panose="020B0500000000000000" pitchFamily="50" charset="-128"/>
                      </a:endParaRPr>
                    </a:p>
                  </a:txBody>
                  <a:tcPr marL="152400" marR="152400" marT="63500" marB="63500" anchor="ctr">
                    <a:lnT w="19050">
                      <a:solidFill>
                        <a:srgbClr val="0F8E92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en-US" altLang="ja-JP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001 → 002 → 010</a:t>
                      </a:r>
                      <a:r>
                        <a:rPr kumimoji="1" lang="ja-JP" altLang="en-US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（昇順）</a:t>
                      </a:r>
                    </a:p>
                  </a:txBody>
                  <a:tcPr marL="152400" marR="152400" marT="63500" marB="63500" anchor="ctr">
                    <a:lnT w="19050">
                      <a:solidFill>
                        <a:srgbClr val="0F8E92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5328243"/>
                  </a:ext>
                </a:extLst>
              </a:tr>
              <a:tr h="736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en-US" altLang="ja-JP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1.jpg → 2.jpg → 10.jpg</a:t>
                      </a:r>
                      <a:endParaRPr kumimoji="1" lang="ja-JP" altLang="en-US" sz="1250" b="0">
                        <a:solidFill>
                          <a:srgbClr val="465263"/>
                        </a:solidFill>
                        <a:latin typeface="Yu Gothic UI" panose="020B0500000000000000" pitchFamily="50" charset="-128"/>
                        <a:ea typeface="Yu Gothic UI" panose="020B0500000000000000" pitchFamily="50" charset="-128"/>
                      </a:endParaRP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en-US" altLang="ja-JP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1 → 2 → 10</a:t>
                      </a:r>
                      <a:r>
                        <a:rPr kumimoji="1" lang="ja-JP" altLang="en-US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（数値の昇順）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9057008"/>
                  </a:ext>
                </a:extLst>
              </a:tr>
            </a:tbl>
          </a:graphicData>
        </a:graphic>
      </p:graphicFrame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104F5F07-ED6A-4CE4-30BE-196294E6FB1E}"/>
              </a:ext>
            </a:extLst>
          </p:cNvPr>
          <p:cNvSpPr/>
          <p:nvPr/>
        </p:nvSpPr>
        <p:spPr>
          <a:xfrm>
            <a:off x="812800" y="4775200"/>
            <a:ext cx="10566400" cy="762000"/>
          </a:xfrm>
          <a:prstGeom prst="roundRect">
            <a:avLst>
              <a:gd name="adj" fmla="val 12000"/>
            </a:avLst>
          </a:prstGeom>
          <a:solidFill>
            <a:srgbClr val="E3F4F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5F9BC06F-B476-812C-F570-3C1FF871567D}"/>
              </a:ext>
            </a:extLst>
          </p:cNvPr>
          <p:cNvSpPr/>
          <p:nvPr/>
        </p:nvSpPr>
        <p:spPr>
          <a:xfrm>
            <a:off x="812800" y="4775200"/>
            <a:ext cx="50800" cy="762000"/>
          </a:xfrm>
          <a:prstGeom prst="rect">
            <a:avLst/>
          </a:prstGeom>
          <a:solidFill>
            <a:srgbClr val="0F8E9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BFA95C29-DB93-B068-78FF-3CCA6A0CC9EE}"/>
              </a:ext>
            </a:extLst>
          </p:cNvPr>
          <p:cNvSpPr txBox="1"/>
          <p:nvPr/>
        </p:nvSpPr>
        <p:spPr>
          <a:xfrm>
            <a:off x="1092200" y="4775200"/>
            <a:ext cx="875792" cy="762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0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おすすめ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AD7AC075-8359-7E9F-F8B1-360FC7705EB5}"/>
              </a:ext>
            </a:extLst>
          </p:cNvPr>
          <p:cNvSpPr txBox="1"/>
          <p:nvPr/>
        </p:nvSpPr>
        <p:spPr>
          <a:xfrm>
            <a:off x="1967992" y="4775200"/>
            <a:ext cx="9131808" cy="762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25000"/>
              </a:lnSpc>
            </a:pP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先頭を 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001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002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003 … 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のように桁を揃えておくと、意図どおりの昇順になり、並び替えも差し替えも管理しやすくなります。</a:t>
            </a:r>
          </a:p>
        </p:txBody>
      </p:sp>
    </p:spTree>
    <p:extLst>
      <p:ext uri="{BB962C8B-B14F-4D97-AF65-F5344CB8AC3E}">
        <p14:creationId xmlns:p14="http://schemas.microsoft.com/office/powerpoint/2010/main" val="33582051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0760C1C2-ADF2-1862-94DC-ABD48A18A00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3AF7DE89-B55B-E1CB-DB8C-A698AE8E3DAF}"/>
              </a:ext>
            </a:extLst>
          </p:cNvPr>
          <p:cNvSpPr/>
          <p:nvPr/>
        </p:nvSpPr>
        <p:spPr>
          <a:xfrm>
            <a:off x="812800" y="584200"/>
            <a:ext cx="63500" cy="584200"/>
          </a:xfrm>
          <a:prstGeom prst="rect">
            <a:avLst/>
          </a:prstGeom>
          <a:solidFill>
            <a:srgbClr val="0F8E9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05C3F22-4AC6-60AB-E33F-265D6A6E3A0A}"/>
              </a:ext>
            </a:extLst>
          </p:cNvPr>
          <p:cNvSpPr txBox="1"/>
          <p:nvPr/>
        </p:nvSpPr>
        <p:spPr>
          <a:xfrm>
            <a:off x="1028700" y="571500"/>
            <a:ext cx="7620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05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FOR CONTENT OWNER</a:t>
            </a:r>
            <a:endParaRPr kumimoji="1" lang="ja-JP" altLang="en-US" sz="1050" b="1">
              <a:solidFill>
                <a:srgbClr val="0F8E92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D307785-961D-A543-8F26-FA127F5E9F37}"/>
              </a:ext>
            </a:extLst>
          </p:cNvPr>
          <p:cNvSpPr txBox="1"/>
          <p:nvPr/>
        </p:nvSpPr>
        <p:spPr>
          <a:xfrm>
            <a:off x="1028700" y="774700"/>
            <a:ext cx="8128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表示時間はファイル名で変えられる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5564E70-4B72-C69C-6B2C-3409CEA3EB36}"/>
              </a:ext>
            </a:extLst>
          </p:cNvPr>
          <p:cNvSpPr/>
          <p:nvPr/>
        </p:nvSpPr>
        <p:spPr>
          <a:xfrm>
            <a:off x="812800" y="1498600"/>
            <a:ext cx="10566400" cy="12700"/>
          </a:xfrm>
          <a:prstGeom prst="rect">
            <a:avLst/>
          </a:prstGeom>
          <a:solidFill>
            <a:srgbClr val="DEE5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CB340AD4-0CB5-A541-6D49-5F5DA9DBCC24}"/>
              </a:ext>
            </a:extLst>
          </p:cNvPr>
          <p:cNvSpPr/>
          <p:nvPr/>
        </p:nvSpPr>
        <p:spPr>
          <a:xfrm>
            <a:off x="9857232" y="736600"/>
            <a:ext cx="1521968" cy="330200"/>
          </a:xfrm>
          <a:prstGeom prst="roundRect">
            <a:avLst>
              <a:gd name="adj" fmla="val 50000"/>
            </a:avLst>
          </a:prstGeom>
          <a:solidFill>
            <a:srgbClr val="0F8E9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11E15287-99B8-AFE9-192C-BF1CE33BB743}"/>
              </a:ext>
            </a:extLst>
          </p:cNvPr>
          <p:cNvSpPr txBox="1"/>
          <p:nvPr/>
        </p:nvSpPr>
        <p:spPr>
          <a:xfrm>
            <a:off x="9857232" y="736600"/>
            <a:ext cx="1521968" cy="330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ja-JP" altLang="en-US" sz="115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コンテンツ担当者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C22C5805-5D33-2247-7532-6299B53EA118}"/>
              </a:ext>
            </a:extLst>
          </p:cNvPr>
          <p:cNvSpPr txBox="1"/>
          <p:nvPr/>
        </p:nvSpPr>
        <p:spPr>
          <a:xfrm>
            <a:off x="812800" y="6375400"/>
            <a:ext cx="6604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簡単！シンプル！サイネージ ｜ 操作ガイド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FAE97C25-B1D9-8E51-251F-C06BB53442CC}"/>
              </a:ext>
            </a:extLst>
          </p:cNvPr>
          <p:cNvSpPr txBox="1"/>
          <p:nvPr/>
        </p:nvSpPr>
        <p:spPr>
          <a:xfrm>
            <a:off x="10109200" y="6375400"/>
            <a:ext cx="127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kumimoji="1" lang="en-US" altLang="ja-JP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7</a:t>
            </a:r>
            <a:endParaRPr kumimoji="1" lang="ja-JP" altLang="en-US" sz="900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956CC68E-6DA9-29B7-7DCD-AB409048AB85}"/>
              </a:ext>
            </a:extLst>
          </p:cNvPr>
          <p:cNvSpPr txBox="1"/>
          <p:nvPr/>
        </p:nvSpPr>
        <p:spPr>
          <a:xfrm>
            <a:off x="812800" y="1905000"/>
            <a:ext cx="105664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画像と </a:t>
            </a:r>
            <a:r>
              <a:rPr kumimoji="1" lang="en-US" altLang="ja-JP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PDF </a:t>
            </a: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は、ファイル名の末尾（拡張子の直前）に「</a:t>
            </a:r>
            <a:r>
              <a:rPr kumimoji="1" lang="en-US" altLang="ja-JP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_</a:t>
            </a: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秒数」を付けると、そのファイルだけ表示時間を変えられます（</a:t>
            </a:r>
            <a:r>
              <a:rPr kumimoji="1" lang="en-US" altLang="ja-JP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5〜300 </a:t>
            </a: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秒）。</a:t>
            </a:r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B39061C0-7896-D733-07EF-8A045535D8D3}"/>
              </a:ext>
            </a:extLst>
          </p:cNvPr>
          <p:cNvSpPr/>
          <p:nvPr/>
        </p:nvSpPr>
        <p:spPr>
          <a:xfrm>
            <a:off x="812800" y="2362200"/>
            <a:ext cx="10566400" cy="1066800"/>
          </a:xfrm>
          <a:prstGeom prst="roundRect">
            <a:avLst>
              <a:gd name="adj" fmla="val 12000"/>
            </a:avLst>
          </a:prstGeom>
          <a:solidFill>
            <a:srgbClr val="102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1F353CA3-5D2A-C6EA-8470-98CB532EC768}"/>
              </a:ext>
            </a:extLst>
          </p:cNvPr>
          <p:cNvSpPr txBox="1"/>
          <p:nvPr/>
        </p:nvSpPr>
        <p:spPr>
          <a:xfrm>
            <a:off x="1244600" y="2540000"/>
            <a:ext cx="5080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600" b="1">
                <a:solidFill>
                  <a:srgbClr val="FFFFFF"/>
                </a:solidFill>
                <a:latin typeface="Consolas" panose="020B0609020204030204" pitchFamily="49" charset="0"/>
              </a:rPr>
              <a:t>案内</a:t>
            </a:r>
            <a:r>
              <a:rPr kumimoji="1" lang="en-US" altLang="ja-JP" sz="2600" b="1">
                <a:solidFill>
                  <a:srgbClr val="FFFFFF"/>
                </a:solidFill>
                <a:latin typeface="Consolas" panose="020B0609020204030204" pitchFamily="49" charset="0"/>
              </a:rPr>
              <a:t>_120.pdf</a:t>
            </a:r>
            <a:endParaRPr kumimoji="1" lang="ja-JP" altLang="en-US" sz="2600" b="1">
              <a:solidFill>
                <a:srgbClr val="FFFFFF"/>
              </a:solidFill>
              <a:latin typeface="Consolas" panose="020B0609020204030204" pitchFamily="49" charset="0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E5A398C0-D5F1-E4AA-6F9E-B7ECC177559C}"/>
              </a:ext>
            </a:extLst>
          </p:cNvPr>
          <p:cNvSpPr txBox="1"/>
          <p:nvPr/>
        </p:nvSpPr>
        <p:spPr>
          <a:xfrm>
            <a:off x="1244600" y="2997200"/>
            <a:ext cx="97028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50">
                <a:solidFill>
                  <a:srgbClr val="9FB4D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「</a:t>
            </a:r>
            <a:r>
              <a:rPr kumimoji="1" lang="en-US" altLang="ja-JP" sz="1250">
                <a:solidFill>
                  <a:srgbClr val="9FB4D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_120</a:t>
            </a:r>
            <a:r>
              <a:rPr kumimoji="1" lang="ja-JP" altLang="en-US" sz="1250">
                <a:solidFill>
                  <a:srgbClr val="9FB4D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」の部分が表示秒数。付けなければ管理者が決めた標準の秒数になります。</a:t>
            </a: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EC5A29C1-99EC-0980-5643-FB889899CA6F}"/>
              </a:ext>
            </a:extLst>
          </p:cNvPr>
          <p:cNvSpPr/>
          <p:nvPr/>
        </p:nvSpPr>
        <p:spPr>
          <a:xfrm>
            <a:off x="812800" y="3708400"/>
            <a:ext cx="3352800" cy="1397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8FD83768-F71B-338E-CD64-4E6166E3EB65}"/>
              </a:ext>
            </a:extLst>
          </p:cNvPr>
          <p:cNvSpPr txBox="1"/>
          <p:nvPr/>
        </p:nvSpPr>
        <p:spPr>
          <a:xfrm>
            <a:off x="1066800" y="3937000"/>
            <a:ext cx="28448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400" b="1">
                <a:solidFill>
                  <a:srgbClr val="1B2430"/>
                </a:solidFill>
                <a:latin typeface="Consolas" panose="020B0609020204030204" pitchFamily="49" charset="0"/>
              </a:rPr>
              <a:t>案内</a:t>
            </a:r>
            <a:r>
              <a:rPr kumimoji="1" lang="en-US" altLang="ja-JP" sz="1400" b="1">
                <a:solidFill>
                  <a:srgbClr val="1B2430"/>
                </a:solidFill>
                <a:latin typeface="Consolas" panose="020B0609020204030204" pitchFamily="49" charset="0"/>
              </a:rPr>
              <a:t>.pdf</a:t>
            </a:r>
            <a:endParaRPr kumimoji="1" lang="ja-JP" altLang="en-US" sz="1400" b="1">
              <a:solidFill>
                <a:srgbClr val="1B2430"/>
              </a:solidFill>
              <a:latin typeface="Consolas" panose="020B0609020204030204" pitchFamily="49" charset="0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7020382B-B279-B1D2-C539-ECDA6DC13D02}"/>
              </a:ext>
            </a:extLst>
          </p:cNvPr>
          <p:cNvSpPr txBox="1"/>
          <p:nvPr/>
        </p:nvSpPr>
        <p:spPr>
          <a:xfrm>
            <a:off x="1066800" y="4267200"/>
            <a:ext cx="2844800" cy="330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90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標準の秒数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1D7A2E5E-60CC-F6BD-2DDA-554A706835DF}"/>
              </a:ext>
            </a:extLst>
          </p:cNvPr>
          <p:cNvSpPr txBox="1"/>
          <p:nvPr/>
        </p:nvSpPr>
        <p:spPr>
          <a:xfrm>
            <a:off x="1066800" y="4648200"/>
            <a:ext cx="28448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kumimoji="1" lang="ja-JP" altLang="en-US" sz="115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管理画面の設定値（初期値 </a:t>
            </a:r>
            <a:r>
              <a:rPr kumimoji="1" lang="en-US" altLang="ja-JP" sz="115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15 </a:t>
            </a:r>
            <a:r>
              <a:rPr kumimoji="1" lang="ja-JP" altLang="en-US" sz="115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秒）</a:t>
            </a:r>
          </a:p>
        </p:txBody>
      </p: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B2406047-09E5-6D7B-A564-ECA248954808}"/>
              </a:ext>
            </a:extLst>
          </p:cNvPr>
          <p:cNvSpPr/>
          <p:nvPr/>
        </p:nvSpPr>
        <p:spPr>
          <a:xfrm>
            <a:off x="4419600" y="3708400"/>
            <a:ext cx="3352800" cy="1397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5B6A32E0-C35A-3D41-CDA0-ECCA750860FA}"/>
              </a:ext>
            </a:extLst>
          </p:cNvPr>
          <p:cNvSpPr txBox="1"/>
          <p:nvPr/>
        </p:nvSpPr>
        <p:spPr>
          <a:xfrm>
            <a:off x="4673600" y="3937000"/>
            <a:ext cx="28448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400" b="1">
                <a:solidFill>
                  <a:srgbClr val="1B2430"/>
                </a:solidFill>
                <a:latin typeface="Consolas" panose="020B0609020204030204" pitchFamily="49" charset="0"/>
              </a:rPr>
              <a:t>案内</a:t>
            </a:r>
            <a:r>
              <a:rPr kumimoji="1" lang="en-US" altLang="ja-JP" sz="1400" b="1">
                <a:solidFill>
                  <a:srgbClr val="1B2430"/>
                </a:solidFill>
                <a:latin typeface="Consolas" panose="020B0609020204030204" pitchFamily="49" charset="0"/>
              </a:rPr>
              <a:t>_120.pdf</a:t>
            </a:r>
            <a:endParaRPr kumimoji="1" lang="ja-JP" altLang="en-US" sz="1400" b="1">
              <a:solidFill>
                <a:srgbClr val="1B2430"/>
              </a:solidFill>
              <a:latin typeface="Consolas" panose="020B0609020204030204" pitchFamily="49" charset="0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DBDED5F6-5D50-A0E2-29D5-153274EFBE9E}"/>
              </a:ext>
            </a:extLst>
          </p:cNvPr>
          <p:cNvSpPr txBox="1"/>
          <p:nvPr/>
        </p:nvSpPr>
        <p:spPr>
          <a:xfrm>
            <a:off x="4673600" y="4267200"/>
            <a:ext cx="2844800" cy="330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90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120 </a:t>
            </a:r>
            <a:r>
              <a:rPr kumimoji="1" lang="ja-JP" altLang="en-US" sz="190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秒</a:t>
            </a: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69ECD875-F989-95C0-986A-8ED5ECBCEB80}"/>
              </a:ext>
            </a:extLst>
          </p:cNvPr>
          <p:cNvSpPr txBox="1"/>
          <p:nvPr/>
        </p:nvSpPr>
        <p:spPr>
          <a:xfrm>
            <a:off x="4673600" y="4648200"/>
            <a:ext cx="28448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kumimoji="1" lang="en-US" altLang="ja-JP" sz="115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2 </a:t>
            </a:r>
            <a:r>
              <a:rPr kumimoji="1" lang="ja-JP" altLang="en-US" sz="115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分間しっかり読ませたい掲示に</a:t>
            </a:r>
          </a:p>
        </p:txBody>
      </p:sp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E78B2947-65E6-C303-236A-88E1BA192195}"/>
              </a:ext>
            </a:extLst>
          </p:cNvPr>
          <p:cNvSpPr/>
          <p:nvPr/>
        </p:nvSpPr>
        <p:spPr>
          <a:xfrm>
            <a:off x="8026400" y="3708400"/>
            <a:ext cx="3352800" cy="1397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84A77B45-E188-894A-DC17-21B39435A729}"/>
              </a:ext>
            </a:extLst>
          </p:cNvPr>
          <p:cNvSpPr txBox="1"/>
          <p:nvPr/>
        </p:nvSpPr>
        <p:spPr>
          <a:xfrm>
            <a:off x="8280400" y="3937000"/>
            <a:ext cx="28448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400" b="1">
                <a:solidFill>
                  <a:srgbClr val="1B2430"/>
                </a:solidFill>
                <a:latin typeface="Consolas" panose="020B0609020204030204" pitchFamily="49" charset="0"/>
              </a:rPr>
              <a:t>写真</a:t>
            </a:r>
            <a:r>
              <a:rPr kumimoji="1" lang="en-US" altLang="ja-JP" sz="1400" b="1">
                <a:solidFill>
                  <a:srgbClr val="1B2430"/>
                </a:solidFill>
                <a:latin typeface="Consolas" panose="020B0609020204030204" pitchFamily="49" charset="0"/>
              </a:rPr>
              <a:t>_30.jpg</a:t>
            </a:r>
            <a:endParaRPr kumimoji="1" lang="ja-JP" altLang="en-US" sz="1400" b="1">
              <a:solidFill>
                <a:srgbClr val="1B2430"/>
              </a:solidFill>
              <a:latin typeface="Consolas" panose="020B0609020204030204" pitchFamily="49" charset="0"/>
            </a:endParaRP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CE00A771-D3CD-A823-E372-A2363BE31774}"/>
              </a:ext>
            </a:extLst>
          </p:cNvPr>
          <p:cNvSpPr txBox="1"/>
          <p:nvPr/>
        </p:nvSpPr>
        <p:spPr>
          <a:xfrm>
            <a:off x="8280400" y="4267200"/>
            <a:ext cx="2844800" cy="330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90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30 </a:t>
            </a:r>
            <a:r>
              <a:rPr kumimoji="1" lang="ja-JP" altLang="en-US" sz="190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秒</a:t>
            </a: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175132B7-1EFB-7896-489C-854A8674A12F}"/>
              </a:ext>
            </a:extLst>
          </p:cNvPr>
          <p:cNvSpPr txBox="1"/>
          <p:nvPr/>
        </p:nvSpPr>
        <p:spPr>
          <a:xfrm>
            <a:off x="8280400" y="4648200"/>
            <a:ext cx="28448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kumimoji="1" lang="ja-JP" altLang="en-US" sz="115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短めに流したい写真に</a:t>
            </a:r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3482199D-D218-7BCE-D008-E306A9C1CF71}"/>
              </a:ext>
            </a:extLst>
          </p:cNvPr>
          <p:cNvSpPr/>
          <p:nvPr/>
        </p:nvSpPr>
        <p:spPr>
          <a:xfrm>
            <a:off x="812800" y="5334000"/>
            <a:ext cx="10566400" cy="609600"/>
          </a:xfrm>
          <a:prstGeom prst="roundRect">
            <a:avLst>
              <a:gd name="adj" fmla="val 12000"/>
            </a:avLst>
          </a:prstGeom>
          <a:solidFill>
            <a:srgbClr val="FDF3E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193B6889-FB7F-E06C-762A-5D064743129A}"/>
              </a:ext>
            </a:extLst>
          </p:cNvPr>
          <p:cNvSpPr/>
          <p:nvPr/>
        </p:nvSpPr>
        <p:spPr>
          <a:xfrm>
            <a:off x="812800" y="5334000"/>
            <a:ext cx="50800" cy="609600"/>
          </a:xfrm>
          <a:prstGeom prst="rect">
            <a:avLst/>
          </a:prstGeom>
          <a:solidFill>
            <a:srgbClr val="B4690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1877E130-48DA-0FC9-A2EA-AB6A9C45AF5F}"/>
              </a:ext>
            </a:extLst>
          </p:cNvPr>
          <p:cNvSpPr txBox="1"/>
          <p:nvPr/>
        </p:nvSpPr>
        <p:spPr>
          <a:xfrm>
            <a:off x="1092200" y="5334000"/>
            <a:ext cx="1031240" cy="6096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00" b="1">
                <a:solidFill>
                  <a:srgbClr val="B4690E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動画は例外</a:t>
            </a:r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55C365D4-5CCF-2C92-73CC-E32EE54B62D1}"/>
              </a:ext>
            </a:extLst>
          </p:cNvPr>
          <p:cNvSpPr txBox="1"/>
          <p:nvPr/>
        </p:nvSpPr>
        <p:spPr>
          <a:xfrm>
            <a:off x="2123440" y="5334000"/>
            <a:ext cx="8976360" cy="6096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25000"/>
              </a:lnSpc>
            </a:pP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.mp4 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は再生が終わるまで表示します。秒数指定は効きません。</a:t>
            </a:r>
          </a:p>
        </p:txBody>
      </p:sp>
    </p:spTree>
    <p:extLst>
      <p:ext uri="{BB962C8B-B14F-4D97-AF65-F5344CB8AC3E}">
        <p14:creationId xmlns:p14="http://schemas.microsoft.com/office/powerpoint/2010/main" val="13930341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E2A007BD-5BAD-64D1-B8CF-72376A19EA7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663111E-ECEF-B620-E9F2-69EE85B7628A}"/>
              </a:ext>
            </a:extLst>
          </p:cNvPr>
          <p:cNvSpPr/>
          <p:nvPr/>
        </p:nvSpPr>
        <p:spPr>
          <a:xfrm>
            <a:off x="812800" y="584200"/>
            <a:ext cx="63500" cy="584200"/>
          </a:xfrm>
          <a:prstGeom prst="rect">
            <a:avLst/>
          </a:prstGeom>
          <a:solidFill>
            <a:srgbClr val="0F8E9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2B9655EB-2927-B7AE-B0EC-22016327A77A}"/>
              </a:ext>
            </a:extLst>
          </p:cNvPr>
          <p:cNvSpPr txBox="1"/>
          <p:nvPr/>
        </p:nvSpPr>
        <p:spPr>
          <a:xfrm>
            <a:off x="1028700" y="571500"/>
            <a:ext cx="7620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05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FOR CONTENT OWNER</a:t>
            </a:r>
            <a:endParaRPr kumimoji="1" lang="ja-JP" altLang="en-US" sz="1050" b="1">
              <a:solidFill>
                <a:srgbClr val="0F8E92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9999FFD-E335-75DA-AC1A-35C09B4C5BAF}"/>
              </a:ext>
            </a:extLst>
          </p:cNvPr>
          <p:cNvSpPr txBox="1"/>
          <p:nvPr/>
        </p:nvSpPr>
        <p:spPr>
          <a:xfrm>
            <a:off x="1028700" y="774700"/>
            <a:ext cx="8128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再生期限もファイル名で付けられる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D7371661-4948-C41F-8CCE-3B963CC794E7}"/>
              </a:ext>
            </a:extLst>
          </p:cNvPr>
          <p:cNvSpPr/>
          <p:nvPr/>
        </p:nvSpPr>
        <p:spPr>
          <a:xfrm>
            <a:off x="812800" y="1498600"/>
            <a:ext cx="10566400" cy="12700"/>
          </a:xfrm>
          <a:prstGeom prst="rect">
            <a:avLst/>
          </a:prstGeom>
          <a:solidFill>
            <a:srgbClr val="DEE5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D857328C-4F3E-F44C-CBAF-5FABF45E9D87}"/>
              </a:ext>
            </a:extLst>
          </p:cNvPr>
          <p:cNvSpPr/>
          <p:nvPr/>
        </p:nvSpPr>
        <p:spPr>
          <a:xfrm>
            <a:off x="9857232" y="736600"/>
            <a:ext cx="1521968" cy="330200"/>
          </a:xfrm>
          <a:prstGeom prst="roundRect">
            <a:avLst>
              <a:gd name="adj" fmla="val 50000"/>
            </a:avLst>
          </a:prstGeom>
          <a:solidFill>
            <a:srgbClr val="0F8E9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9590838B-6EB2-41E6-A289-2F6735A75475}"/>
              </a:ext>
            </a:extLst>
          </p:cNvPr>
          <p:cNvSpPr txBox="1"/>
          <p:nvPr/>
        </p:nvSpPr>
        <p:spPr>
          <a:xfrm>
            <a:off x="9857232" y="736600"/>
            <a:ext cx="1521968" cy="330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ja-JP" altLang="en-US" sz="115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コンテンツ担当者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AF1BDD11-CF15-C5CE-170F-B1218EB32559}"/>
              </a:ext>
            </a:extLst>
          </p:cNvPr>
          <p:cNvSpPr txBox="1"/>
          <p:nvPr/>
        </p:nvSpPr>
        <p:spPr>
          <a:xfrm>
            <a:off x="812800" y="6375400"/>
            <a:ext cx="6604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簡単！シンプル！サイネージ ｜ 操作ガイド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AB48C498-3FAB-C015-F311-6AB5D8CE3105}"/>
              </a:ext>
            </a:extLst>
          </p:cNvPr>
          <p:cNvSpPr txBox="1"/>
          <p:nvPr/>
        </p:nvSpPr>
        <p:spPr>
          <a:xfrm>
            <a:off x="10109200" y="6375400"/>
            <a:ext cx="127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kumimoji="1" lang="en-US" altLang="ja-JP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8</a:t>
            </a:r>
            <a:endParaRPr kumimoji="1" lang="ja-JP" altLang="en-US" sz="900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1904B027-7430-078B-1806-3599E156846F}"/>
              </a:ext>
            </a:extLst>
          </p:cNvPr>
          <p:cNvSpPr txBox="1"/>
          <p:nvPr/>
        </p:nvSpPr>
        <p:spPr>
          <a:xfrm>
            <a:off x="812800" y="1905000"/>
            <a:ext cx="10566400" cy="457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末尾に「</a:t>
            </a:r>
            <a:r>
              <a:rPr kumimoji="1" lang="en-US" altLang="ja-JP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_</a:t>
            </a: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年月日」（</a:t>
            </a:r>
            <a:r>
              <a:rPr kumimoji="1" lang="en-US" altLang="ja-JP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8 </a:t>
            </a: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桁）を付けると、その日まで再生し、翌日から表示しなくなります。秒数との順番は問いません。</a:t>
            </a:r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83B71C2A-3CBA-6DCB-DB43-2FD1B9F86B66}"/>
              </a:ext>
            </a:extLst>
          </p:cNvPr>
          <p:cNvSpPr/>
          <p:nvPr/>
        </p:nvSpPr>
        <p:spPr>
          <a:xfrm>
            <a:off x="812800" y="2362200"/>
            <a:ext cx="10566400" cy="1066800"/>
          </a:xfrm>
          <a:prstGeom prst="roundRect">
            <a:avLst>
              <a:gd name="adj" fmla="val 12000"/>
            </a:avLst>
          </a:prstGeom>
          <a:solidFill>
            <a:srgbClr val="102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D6D7F236-0EE0-4BD6-C817-92DD370B75D5}"/>
              </a:ext>
            </a:extLst>
          </p:cNvPr>
          <p:cNvSpPr txBox="1"/>
          <p:nvPr/>
        </p:nvSpPr>
        <p:spPr>
          <a:xfrm>
            <a:off x="1244600" y="2540000"/>
            <a:ext cx="6350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400" b="1">
                <a:solidFill>
                  <a:srgbClr val="FFFFFF"/>
                </a:solidFill>
                <a:latin typeface="Consolas" panose="020B0609020204030204" pitchFamily="49" charset="0"/>
              </a:rPr>
              <a:t>案内</a:t>
            </a:r>
            <a:r>
              <a:rPr kumimoji="1" lang="en-US" altLang="ja-JP" sz="2400" b="1">
                <a:solidFill>
                  <a:srgbClr val="FFFFFF"/>
                </a:solidFill>
                <a:latin typeface="Consolas" panose="020B0609020204030204" pitchFamily="49" charset="0"/>
              </a:rPr>
              <a:t>_20_20260904.pdf</a:t>
            </a:r>
            <a:endParaRPr kumimoji="1" lang="ja-JP" altLang="en-US" sz="2400" b="1">
              <a:solidFill>
                <a:srgbClr val="FFFFFF"/>
              </a:solidFill>
              <a:latin typeface="Consolas" panose="020B0609020204030204" pitchFamily="49" charset="0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0F87FA6F-029B-32C3-2532-A0427AAD3F58}"/>
              </a:ext>
            </a:extLst>
          </p:cNvPr>
          <p:cNvSpPr txBox="1"/>
          <p:nvPr/>
        </p:nvSpPr>
        <p:spPr>
          <a:xfrm>
            <a:off x="1244600" y="2997200"/>
            <a:ext cx="97028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50">
                <a:solidFill>
                  <a:srgbClr val="9FB4D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「</a:t>
            </a:r>
            <a:r>
              <a:rPr kumimoji="1" lang="en-US" altLang="ja-JP" sz="1250">
                <a:solidFill>
                  <a:srgbClr val="9FB4D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_20</a:t>
            </a:r>
            <a:r>
              <a:rPr kumimoji="1" lang="ja-JP" altLang="en-US" sz="1250">
                <a:solidFill>
                  <a:srgbClr val="9FB4D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」が表示秒数、「</a:t>
            </a:r>
            <a:r>
              <a:rPr kumimoji="1" lang="en-US" altLang="ja-JP" sz="1250">
                <a:solidFill>
                  <a:srgbClr val="9FB4D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_20260904</a:t>
            </a:r>
            <a:r>
              <a:rPr kumimoji="1" lang="ja-JP" altLang="en-US" sz="1250">
                <a:solidFill>
                  <a:srgbClr val="9FB4D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」が期限。案内</a:t>
            </a:r>
            <a:r>
              <a:rPr kumimoji="1" lang="en-US" altLang="ja-JP" sz="1250">
                <a:solidFill>
                  <a:srgbClr val="9FB4D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_20260904_20.pdf </a:t>
            </a:r>
            <a:r>
              <a:rPr kumimoji="1" lang="ja-JP" altLang="en-US" sz="1250">
                <a:solidFill>
                  <a:srgbClr val="9FB4D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でも同じです。</a:t>
            </a: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AC8606DB-A9AC-7B71-AFCD-ED18F6FF09AE}"/>
              </a:ext>
            </a:extLst>
          </p:cNvPr>
          <p:cNvSpPr/>
          <p:nvPr/>
        </p:nvSpPr>
        <p:spPr>
          <a:xfrm>
            <a:off x="812800" y="3708400"/>
            <a:ext cx="3352800" cy="1397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7C796921-ABB5-6D77-1D09-ECB781D049B2}"/>
              </a:ext>
            </a:extLst>
          </p:cNvPr>
          <p:cNvSpPr txBox="1"/>
          <p:nvPr/>
        </p:nvSpPr>
        <p:spPr>
          <a:xfrm>
            <a:off x="1016000" y="3911600"/>
            <a:ext cx="29464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00" b="1">
                <a:solidFill>
                  <a:srgbClr val="1B2430"/>
                </a:solidFill>
                <a:latin typeface="Consolas" panose="020B0609020204030204" pitchFamily="49" charset="0"/>
              </a:rPr>
              <a:t>案内</a:t>
            </a:r>
            <a:r>
              <a:rPr kumimoji="1" lang="en-US" altLang="ja-JP" sz="1200" b="1">
                <a:solidFill>
                  <a:srgbClr val="1B2430"/>
                </a:solidFill>
                <a:latin typeface="Consolas" panose="020B0609020204030204" pitchFamily="49" charset="0"/>
              </a:rPr>
              <a:t>_20260904.pdf</a:t>
            </a:r>
            <a:endParaRPr kumimoji="1" lang="ja-JP" altLang="en-US" sz="1200" b="1">
              <a:solidFill>
                <a:srgbClr val="1B2430"/>
              </a:solidFill>
              <a:latin typeface="Consolas" panose="020B0609020204030204" pitchFamily="49" charset="0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DF042DF9-D127-71CF-1034-C2308829E446}"/>
              </a:ext>
            </a:extLst>
          </p:cNvPr>
          <p:cNvSpPr txBox="1"/>
          <p:nvPr/>
        </p:nvSpPr>
        <p:spPr>
          <a:xfrm>
            <a:off x="1016000" y="4241800"/>
            <a:ext cx="29464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60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期限のみ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B507DD56-7820-5692-DAEE-B6510B842E8D}"/>
              </a:ext>
            </a:extLst>
          </p:cNvPr>
          <p:cNvSpPr txBox="1"/>
          <p:nvPr/>
        </p:nvSpPr>
        <p:spPr>
          <a:xfrm>
            <a:off x="1016000" y="4597400"/>
            <a:ext cx="29464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kumimoji="1" lang="ja-JP" altLang="en-US" sz="115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標準の秒数で </a:t>
            </a:r>
            <a:r>
              <a:rPr kumimoji="1" lang="en-US" altLang="ja-JP" sz="115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9</a:t>
            </a:r>
            <a:r>
              <a:rPr kumimoji="1" lang="ja-JP" altLang="en-US" sz="115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月</a:t>
            </a:r>
            <a:r>
              <a:rPr kumimoji="1" lang="en-US" altLang="ja-JP" sz="115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4</a:t>
            </a:r>
            <a:r>
              <a:rPr kumimoji="1" lang="ja-JP" altLang="en-US" sz="115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日まで再生</a:t>
            </a:r>
          </a:p>
        </p:txBody>
      </p: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C739A71F-14E5-BC15-8C0C-88D5C637E50E}"/>
              </a:ext>
            </a:extLst>
          </p:cNvPr>
          <p:cNvSpPr/>
          <p:nvPr/>
        </p:nvSpPr>
        <p:spPr>
          <a:xfrm>
            <a:off x="4419600" y="3708400"/>
            <a:ext cx="3352800" cy="1397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3F9BC30E-2BFD-F62C-FAA5-E2D28AF00661}"/>
              </a:ext>
            </a:extLst>
          </p:cNvPr>
          <p:cNvSpPr txBox="1"/>
          <p:nvPr/>
        </p:nvSpPr>
        <p:spPr>
          <a:xfrm>
            <a:off x="4622800" y="3911600"/>
            <a:ext cx="29464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00" b="1">
                <a:solidFill>
                  <a:srgbClr val="1B2430"/>
                </a:solidFill>
                <a:latin typeface="Consolas" panose="020B0609020204030204" pitchFamily="49" charset="0"/>
              </a:rPr>
              <a:t>案内</a:t>
            </a:r>
            <a:r>
              <a:rPr kumimoji="1" lang="en-US" altLang="ja-JP" sz="1200" b="1">
                <a:solidFill>
                  <a:srgbClr val="1B2430"/>
                </a:solidFill>
                <a:latin typeface="Consolas" panose="020B0609020204030204" pitchFamily="49" charset="0"/>
              </a:rPr>
              <a:t>_20_20260212.pdf</a:t>
            </a:r>
            <a:endParaRPr kumimoji="1" lang="ja-JP" altLang="en-US" sz="1200" b="1">
              <a:solidFill>
                <a:srgbClr val="1B2430"/>
              </a:solidFill>
              <a:latin typeface="Consolas" panose="020B0609020204030204" pitchFamily="49" charset="0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865759A8-254B-5917-24D1-F4930B4BF247}"/>
              </a:ext>
            </a:extLst>
          </p:cNvPr>
          <p:cNvSpPr txBox="1"/>
          <p:nvPr/>
        </p:nvSpPr>
        <p:spPr>
          <a:xfrm>
            <a:off x="4622800" y="4241800"/>
            <a:ext cx="29464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60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秒数 → 期限</a:t>
            </a: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6B835C49-1D04-993F-7802-6DB0B434D835}"/>
              </a:ext>
            </a:extLst>
          </p:cNvPr>
          <p:cNvSpPr txBox="1"/>
          <p:nvPr/>
        </p:nvSpPr>
        <p:spPr>
          <a:xfrm>
            <a:off x="4622800" y="4597400"/>
            <a:ext cx="29464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kumimoji="1" lang="en-US" altLang="ja-JP" sz="115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20 </a:t>
            </a:r>
            <a:r>
              <a:rPr kumimoji="1" lang="ja-JP" altLang="en-US" sz="115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秒表示、</a:t>
            </a:r>
            <a:r>
              <a:rPr kumimoji="1" lang="en-US" altLang="ja-JP" sz="115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2</a:t>
            </a:r>
            <a:r>
              <a:rPr kumimoji="1" lang="ja-JP" altLang="en-US" sz="115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月</a:t>
            </a:r>
            <a:r>
              <a:rPr kumimoji="1" lang="en-US" altLang="ja-JP" sz="115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12</a:t>
            </a:r>
            <a:r>
              <a:rPr kumimoji="1" lang="ja-JP" altLang="en-US" sz="115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日まで</a:t>
            </a:r>
          </a:p>
        </p:txBody>
      </p:sp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55774977-83AE-5798-2A64-96843BBC8EF4}"/>
              </a:ext>
            </a:extLst>
          </p:cNvPr>
          <p:cNvSpPr/>
          <p:nvPr/>
        </p:nvSpPr>
        <p:spPr>
          <a:xfrm>
            <a:off x="8026400" y="3708400"/>
            <a:ext cx="3352800" cy="1397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253F7E63-B203-B619-2AE5-0F0A9B4C3B19}"/>
              </a:ext>
            </a:extLst>
          </p:cNvPr>
          <p:cNvSpPr txBox="1"/>
          <p:nvPr/>
        </p:nvSpPr>
        <p:spPr>
          <a:xfrm>
            <a:off x="8229600" y="3911600"/>
            <a:ext cx="29464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00" b="1">
                <a:solidFill>
                  <a:srgbClr val="1B2430"/>
                </a:solidFill>
                <a:latin typeface="Consolas" panose="020B0609020204030204" pitchFamily="49" charset="0"/>
              </a:rPr>
              <a:t>案内</a:t>
            </a:r>
            <a:r>
              <a:rPr kumimoji="1" lang="en-US" altLang="ja-JP" sz="1200" b="1">
                <a:solidFill>
                  <a:srgbClr val="1B2430"/>
                </a:solidFill>
                <a:latin typeface="Consolas" panose="020B0609020204030204" pitchFamily="49" charset="0"/>
              </a:rPr>
              <a:t>_20260102_30.pdf</a:t>
            </a:r>
            <a:endParaRPr kumimoji="1" lang="ja-JP" altLang="en-US" sz="1200" b="1">
              <a:solidFill>
                <a:srgbClr val="1B2430"/>
              </a:solidFill>
              <a:latin typeface="Consolas" panose="020B0609020204030204" pitchFamily="49" charset="0"/>
            </a:endParaRP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15AA5C43-09BA-7284-8D71-ACFA3BB8D17B}"/>
              </a:ext>
            </a:extLst>
          </p:cNvPr>
          <p:cNvSpPr txBox="1"/>
          <p:nvPr/>
        </p:nvSpPr>
        <p:spPr>
          <a:xfrm>
            <a:off x="8229600" y="4241800"/>
            <a:ext cx="29464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60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期限 → 秒数</a:t>
            </a: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ED63CEE3-C324-1A94-F8E8-C1EF5FF9B832}"/>
              </a:ext>
            </a:extLst>
          </p:cNvPr>
          <p:cNvSpPr txBox="1"/>
          <p:nvPr/>
        </p:nvSpPr>
        <p:spPr>
          <a:xfrm>
            <a:off x="8229600" y="4597400"/>
            <a:ext cx="29464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kumimoji="1" lang="en-US" altLang="ja-JP" sz="115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30 </a:t>
            </a:r>
            <a:r>
              <a:rPr kumimoji="1" lang="ja-JP" altLang="en-US" sz="115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秒表示、</a:t>
            </a:r>
            <a:r>
              <a:rPr kumimoji="1" lang="en-US" altLang="ja-JP" sz="115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</a:t>
            </a:r>
            <a:r>
              <a:rPr kumimoji="1" lang="ja-JP" altLang="en-US" sz="115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月</a:t>
            </a:r>
            <a:r>
              <a:rPr kumimoji="1" lang="en-US" altLang="ja-JP" sz="115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2</a:t>
            </a:r>
            <a:r>
              <a:rPr kumimoji="1" lang="ja-JP" altLang="en-US" sz="115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日まで</a:t>
            </a:r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5BBCEACC-F789-C1B6-9478-7EBEEAFDBE8B}"/>
              </a:ext>
            </a:extLst>
          </p:cNvPr>
          <p:cNvSpPr/>
          <p:nvPr/>
        </p:nvSpPr>
        <p:spPr>
          <a:xfrm>
            <a:off x="812800" y="5334000"/>
            <a:ext cx="10566400" cy="609600"/>
          </a:xfrm>
          <a:prstGeom prst="roundRect">
            <a:avLst>
              <a:gd name="adj" fmla="val 12000"/>
            </a:avLst>
          </a:prstGeom>
          <a:solidFill>
            <a:srgbClr val="FDF3E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59517A1F-72AD-3536-DB6B-46AD80F893D0}"/>
              </a:ext>
            </a:extLst>
          </p:cNvPr>
          <p:cNvSpPr/>
          <p:nvPr/>
        </p:nvSpPr>
        <p:spPr>
          <a:xfrm>
            <a:off x="812800" y="5334000"/>
            <a:ext cx="50800" cy="609600"/>
          </a:xfrm>
          <a:prstGeom prst="rect">
            <a:avLst/>
          </a:prstGeom>
          <a:solidFill>
            <a:srgbClr val="B4690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6A81BC3D-7C82-3777-F599-F2F3BAF741A3}"/>
              </a:ext>
            </a:extLst>
          </p:cNvPr>
          <p:cNvSpPr txBox="1"/>
          <p:nvPr/>
        </p:nvSpPr>
        <p:spPr>
          <a:xfrm>
            <a:off x="1092200" y="5334000"/>
            <a:ext cx="1031240" cy="6096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00" b="1">
                <a:solidFill>
                  <a:srgbClr val="B4690E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誤りと動画</a:t>
            </a:r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9905D840-79EC-93AE-2578-5E0147A18EF2}"/>
              </a:ext>
            </a:extLst>
          </p:cNvPr>
          <p:cNvSpPr txBox="1"/>
          <p:nvPr/>
        </p:nvSpPr>
        <p:spPr>
          <a:xfrm>
            <a:off x="2123440" y="5334000"/>
            <a:ext cx="8976360" cy="6096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25000"/>
              </a:lnSpc>
            </a:pP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存在しない日付・桁不足（例 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_2026923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）・秒数の重複などは再生を止めません。管理画面を開くたびに「表示期限の指定」ダイアログで、○○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_20261231 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などの例と対象ファイル名を知らせます。動画も期限の対象です。</a:t>
            </a:r>
          </a:p>
        </p:txBody>
      </p:sp>
    </p:spTree>
    <p:extLst>
      <p:ext uri="{BB962C8B-B14F-4D97-AF65-F5344CB8AC3E}">
        <p14:creationId xmlns:p14="http://schemas.microsoft.com/office/powerpoint/2010/main" val="28575774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2C5F92B4-3C0A-3058-5EE2-CFFA4E29F7B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0E4AC473-1F50-F26D-EC03-8B4355DF994B}"/>
              </a:ext>
            </a:extLst>
          </p:cNvPr>
          <p:cNvSpPr/>
          <p:nvPr/>
        </p:nvSpPr>
        <p:spPr>
          <a:xfrm>
            <a:off x="812800" y="584200"/>
            <a:ext cx="63500" cy="584200"/>
          </a:xfrm>
          <a:prstGeom prst="rect">
            <a:avLst/>
          </a:prstGeom>
          <a:solidFill>
            <a:srgbClr val="0F8E9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5449374-E956-F37C-C65C-A06357D88592}"/>
              </a:ext>
            </a:extLst>
          </p:cNvPr>
          <p:cNvSpPr txBox="1"/>
          <p:nvPr/>
        </p:nvSpPr>
        <p:spPr>
          <a:xfrm>
            <a:off x="1028700" y="571500"/>
            <a:ext cx="7620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05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FOR CONTENT OWNER</a:t>
            </a:r>
            <a:endParaRPr kumimoji="1" lang="ja-JP" altLang="en-US" sz="1050" b="1">
              <a:solidFill>
                <a:srgbClr val="0F8E92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5C99C6D-889E-A66D-8F19-56A1B8B8A0EE}"/>
              </a:ext>
            </a:extLst>
          </p:cNvPr>
          <p:cNvSpPr txBox="1"/>
          <p:nvPr/>
        </p:nvSpPr>
        <p:spPr>
          <a:xfrm>
            <a:off x="1028700" y="774700"/>
            <a:ext cx="8128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知っておきたい </a:t>
            </a:r>
            <a:r>
              <a:rPr kumimoji="1" lang="en-US" altLang="ja-JP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3 </a:t>
            </a: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つのこと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47847BF6-D6BD-2B65-0A85-DD6764FF9483}"/>
              </a:ext>
            </a:extLst>
          </p:cNvPr>
          <p:cNvSpPr/>
          <p:nvPr/>
        </p:nvSpPr>
        <p:spPr>
          <a:xfrm>
            <a:off x="812800" y="1498600"/>
            <a:ext cx="10566400" cy="12700"/>
          </a:xfrm>
          <a:prstGeom prst="rect">
            <a:avLst/>
          </a:prstGeom>
          <a:solidFill>
            <a:srgbClr val="DEE5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2042C0D6-EEDD-CDB2-14B1-BE0A947DEC9C}"/>
              </a:ext>
            </a:extLst>
          </p:cNvPr>
          <p:cNvSpPr/>
          <p:nvPr/>
        </p:nvSpPr>
        <p:spPr>
          <a:xfrm>
            <a:off x="9857232" y="736600"/>
            <a:ext cx="1521968" cy="330200"/>
          </a:xfrm>
          <a:prstGeom prst="roundRect">
            <a:avLst>
              <a:gd name="adj" fmla="val 50000"/>
            </a:avLst>
          </a:prstGeom>
          <a:solidFill>
            <a:srgbClr val="0F8E9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D2DA386-9E3D-86E4-19F8-05357FA44076}"/>
              </a:ext>
            </a:extLst>
          </p:cNvPr>
          <p:cNvSpPr txBox="1"/>
          <p:nvPr/>
        </p:nvSpPr>
        <p:spPr>
          <a:xfrm>
            <a:off x="9857232" y="736600"/>
            <a:ext cx="1521968" cy="330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ja-JP" altLang="en-US" sz="115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コンテンツ担当者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CB0A9352-158B-EABB-1F0C-D468BE76A865}"/>
              </a:ext>
            </a:extLst>
          </p:cNvPr>
          <p:cNvSpPr txBox="1"/>
          <p:nvPr/>
        </p:nvSpPr>
        <p:spPr>
          <a:xfrm>
            <a:off x="812800" y="6375400"/>
            <a:ext cx="6604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簡単！シンプル！サイネージ ｜ 操作ガイド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0592B403-4656-25A5-DABF-C9DFC6C9380B}"/>
              </a:ext>
            </a:extLst>
          </p:cNvPr>
          <p:cNvSpPr txBox="1"/>
          <p:nvPr/>
        </p:nvSpPr>
        <p:spPr>
          <a:xfrm>
            <a:off x="10109200" y="6375400"/>
            <a:ext cx="127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kumimoji="1" lang="en-US" altLang="ja-JP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9</a:t>
            </a:r>
            <a:endParaRPr kumimoji="1" lang="ja-JP" altLang="en-US" sz="900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3F9F1579-75CF-29E0-5603-75D8E1C5A873}"/>
              </a:ext>
            </a:extLst>
          </p:cNvPr>
          <p:cNvSpPr/>
          <p:nvPr/>
        </p:nvSpPr>
        <p:spPr>
          <a:xfrm>
            <a:off x="812800" y="2133600"/>
            <a:ext cx="10566400" cy="1219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F243FC59-6F58-21B0-306F-5178E9C0DD1B}"/>
              </a:ext>
            </a:extLst>
          </p:cNvPr>
          <p:cNvSpPr/>
          <p:nvPr/>
        </p:nvSpPr>
        <p:spPr>
          <a:xfrm>
            <a:off x="812800" y="2133600"/>
            <a:ext cx="50800" cy="1219200"/>
          </a:xfrm>
          <a:prstGeom prst="rect">
            <a:avLst/>
          </a:prstGeom>
          <a:solidFill>
            <a:srgbClr val="0F8E9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ECAB7749-7DBD-E7FF-E303-22D158BECFE4}"/>
              </a:ext>
            </a:extLst>
          </p:cNvPr>
          <p:cNvSpPr txBox="1"/>
          <p:nvPr/>
        </p:nvSpPr>
        <p:spPr>
          <a:xfrm>
            <a:off x="1168400" y="2413000"/>
            <a:ext cx="98552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6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コピー中は反映されない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6D32E54D-E3A5-628D-AADD-42F389AB980B}"/>
              </a:ext>
            </a:extLst>
          </p:cNvPr>
          <p:cNvSpPr txBox="1"/>
          <p:nvPr/>
        </p:nvSpPr>
        <p:spPr>
          <a:xfrm>
            <a:off x="1168400" y="2768600"/>
            <a:ext cx="98552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ファイルのコピー途中だと読み込みに失敗することがあります。コピーが完了すれば自動で反映されます。</a:t>
            </a: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82E40459-51FF-6B70-0A4F-C55849B79C8E}"/>
              </a:ext>
            </a:extLst>
          </p:cNvPr>
          <p:cNvSpPr/>
          <p:nvPr/>
        </p:nvSpPr>
        <p:spPr>
          <a:xfrm>
            <a:off x="812800" y="3530600"/>
            <a:ext cx="10566400" cy="1219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B0DAC9A2-A0C7-A756-E41D-D62242AED3E6}"/>
              </a:ext>
            </a:extLst>
          </p:cNvPr>
          <p:cNvSpPr/>
          <p:nvPr/>
        </p:nvSpPr>
        <p:spPr>
          <a:xfrm>
            <a:off x="812800" y="3530600"/>
            <a:ext cx="50800" cy="1219200"/>
          </a:xfrm>
          <a:prstGeom prst="rect">
            <a:avLst/>
          </a:prstGeom>
          <a:solidFill>
            <a:srgbClr val="0F8E9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D8E8B22B-4A05-9711-E69B-07722E3CD561}"/>
              </a:ext>
            </a:extLst>
          </p:cNvPr>
          <p:cNvSpPr txBox="1"/>
          <p:nvPr/>
        </p:nvSpPr>
        <p:spPr>
          <a:xfrm>
            <a:off x="1168400" y="3810000"/>
            <a:ext cx="98552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6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壊れたファイルはスキップ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12965AE8-8868-7AE1-5FCD-D1CC37116AD2}"/>
              </a:ext>
            </a:extLst>
          </p:cNvPr>
          <p:cNvSpPr txBox="1"/>
          <p:nvPr/>
        </p:nvSpPr>
        <p:spPr>
          <a:xfrm>
            <a:off x="1168400" y="4165600"/>
            <a:ext cx="98552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読めないファイルは自動で飛ばし、残りのファイルは続けて表示されます。管理画面を開くと、対象ファイル名を「壊れたファイル」ダイアログで知らせます。</a:t>
            </a:r>
          </a:p>
        </p:txBody>
      </p: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CEF64AD1-A24F-5BE8-F0FA-CD7AA6057AFD}"/>
              </a:ext>
            </a:extLst>
          </p:cNvPr>
          <p:cNvSpPr/>
          <p:nvPr/>
        </p:nvSpPr>
        <p:spPr>
          <a:xfrm>
            <a:off x="812800" y="4927600"/>
            <a:ext cx="10566400" cy="1219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6F6C2CA0-9523-8FA9-B55D-4D958DA6CD6E}"/>
              </a:ext>
            </a:extLst>
          </p:cNvPr>
          <p:cNvSpPr/>
          <p:nvPr/>
        </p:nvSpPr>
        <p:spPr>
          <a:xfrm>
            <a:off x="812800" y="4927600"/>
            <a:ext cx="50800" cy="1219200"/>
          </a:xfrm>
          <a:prstGeom prst="rect">
            <a:avLst/>
          </a:prstGeom>
          <a:solidFill>
            <a:srgbClr val="0F8E9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CCB0746C-53E7-696E-63A4-1DC14DF227E3}"/>
              </a:ext>
            </a:extLst>
          </p:cNvPr>
          <p:cNvSpPr txBox="1"/>
          <p:nvPr/>
        </p:nvSpPr>
        <p:spPr>
          <a:xfrm>
            <a:off x="1168400" y="5207000"/>
            <a:ext cx="98552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6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設定変更は管理者が行う</a:t>
            </a: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50B5B361-0165-F616-3133-6A76374402C6}"/>
              </a:ext>
            </a:extLst>
          </p:cNvPr>
          <p:cNvSpPr txBox="1"/>
          <p:nvPr/>
        </p:nvSpPr>
        <p:spPr>
          <a:xfrm>
            <a:off x="1168400" y="5562600"/>
            <a:ext cx="98552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フォルダの場所や標準の表示秒数などの変更は、管理者が管理画面で行います。</a:t>
            </a:r>
          </a:p>
        </p:txBody>
      </p:sp>
    </p:spTree>
    <p:extLst>
      <p:ext uri="{BB962C8B-B14F-4D97-AF65-F5344CB8AC3E}">
        <p14:creationId xmlns:p14="http://schemas.microsoft.com/office/powerpoint/2010/main" val="26762234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8E7620F1-2CE5-0494-BE03-B13DFDA9E81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709F84FF-982F-7035-DEE9-A60698C99C1A}"/>
              </a:ext>
            </a:extLst>
          </p:cNvPr>
          <p:cNvSpPr/>
          <p:nvPr/>
        </p:nvSpPr>
        <p:spPr>
          <a:xfrm>
            <a:off x="812800" y="584200"/>
            <a:ext cx="63500" cy="5842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2B23600B-85D5-0DD1-BCD8-4C384B2175E0}"/>
              </a:ext>
            </a:extLst>
          </p:cNvPr>
          <p:cNvSpPr txBox="1"/>
          <p:nvPr/>
        </p:nvSpPr>
        <p:spPr>
          <a:xfrm>
            <a:off x="1028700" y="571500"/>
            <a:ext cx="7620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05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FOR ADMINISTRATOR</a:t>
            </a:r>
            <a:endParaRPr kumimoji="1" lang="ja-JP" altLang="en-US" sz="1050" b="1">
              <a:solidFill>
                <a:srgbClr val="2563EB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BB9A831-44BD-725D-C8D5-619DD1BA3CF9}"/>
              </a:ext>
            </a:extLst>
          </p:cNvPr>
          <p:cNvSpPr txBox="1"/>
          <p:nvPr/>
        </p:nvSpPr>
        <p:spPr>
          <a:xfrm>
            <a:off x="1028700" y="774700"/>
            <a:ext cx="8128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アプリの起動と管理画面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6F8A0461-AD31-4F39-B8DD-669C8011E862}"/>
              </a:ext>
            </a:extLst>
          </p:cNvPr>
          <p:cNvSpPr/>
          <p:nvPr/>
        </p:nvSpPr>
        <p:spPr>
          <a:xfrm>
            <a:off x="812800" y="1498600"/>
            <a:ext cx="10566400" cy="12700"/>
          </a:xfrm>
          <a:prstGeom prst="rect">
            <a:avLst/>
          </a:prstGeom>
          <a:solidFill>
            <a:srgbClr val="DEE5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E217BDFF-39E0-758E-2D9D-573766A79606}"/>
              </a:ext>
            </a:extLst>
          </p:cNvPr>
          <p:cNvSpPr/>
          <p:nvPr/>
        </p:nvSpPr>
        <p:spPr>
          <a:xfrm>
            <a:off x="10006203" y="736600"/>
            <a:ext cx="1372997" cy="3302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1127899A-E82B-CB8B-03AF-EE085073D4DC}"/>
              </a:ext>
            </a:extLst>
          </p:cNvPr>
          <p:cNvSpPr txBox="1"/>
          <p:nvPr/>
        </p:nvSpPr>
        <p:spPr>
          <a:xfrm>
            <a:off x="10006203" y="736600"/>
            <a:ext cx="1372997" cy="330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ja-JP" altLang="en-US" sz="115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システム管理者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CB33C608-A0FA-7609-7A18-27002FE3E8BD}"/>
              </a:ext>
            </a:extLst>
          </p:cNvPr>
          <p:cNvSpPr txBox="1"/>
          <p:nvPr/>
        </p:nvSpPr>
        <p:spPr>
          <a:xfrm>
            <a:off x="812800" y="6375400"/>
            <a:ext cx="6604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簡単！シンプル！サイネージ ｜ 操作ガイド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E2510F3C-85D1-1648-BE46-BBD19948BD20}"/>
              </a:ext>
            </a:extLst>
          </p:cNvPr>
          <p:cNvSpPr txBox="1"/>
          <p:nvPr/>
        </p:nvSpPr>
        <p:spPr>
          <a:xfrm>
            <a:off x="10109200" y="6375400"/>
            <a:ext cx="127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kumimoji="1" lang="en-US" altLang="ja-JP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10</a:t>
            </a:r>
            <a:endParaRPr kumimoji="1" lang="ja-JP" altLang="en-US" sz="900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B2522DA9-E28F-7071-13A0-768F63350B6F}"/>
              </a:ext>
            </a:extLst>
          </p:cNvPr>
          <p:cNvSpPr/>
          <p:nvPr/>
        </p:nvSpPr>
        <p:spPr>
          <a:xfrm>
            <a:off x="812800" y="1905000"/>
            <a:ext cx="5130800" cy="2692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C83D157C-E171-AC54-3238-F8E2A0C056CB}"/>
              </a:ext>
            </a:extLst>
          </p:cNvPr>
          <p:cNvSpPr/>
          <p:nvPr/>
        </p:nvSpPr>
        <p:spPr>
          <a:xfrm>
            <a:off x="1143000" y="2209800"/>
            <a:ext cx="685800" cy="279400"/>
          </a:xfrm>
          <a:prstGeom prst="roundRect">
            <a:avLst>
              <a:gd name="adj" fmla="val 50000"/>
            </a:avLst>
          </a:prstGeom>
          <a:solidFill>
            <a:srgbClr val="E9F0F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1D83C025-4590-458B-FC71-21E1D2723994}"/>
              </a:ext>
            </a:extLst>
          </p:cNvPr>
          <p:cNvSpPr txBox="1"/>
          <p:nvPr/>
        </p:nvSpPr>
        <p:spPr>
          <a:xfrm>
            <a:off x="1143000" y="2209800"/>
            <a:ext cx="6858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00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START</a:t>
            </a:r>
            <a:endParaRPr kumimoji="1" lang="ja-JP" altLang="en-US" sz="1000" b="1">
              <a:solidFill>
                <a:srgbClr val="2563EB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AFA74CF5-F649-BB17-4ED0-6CFE66A97792}"/>
              </a:ext>
            </a:extLst>
          </p:cNvPr>
          <p:cNvSpPr txBox="1"/>
          <p:nvPr/>
        </p:nvSpPr>
        <p:spPr>
          <a:xfrm>
            <a:off x="1143000" y="2641600"/>
            <a:ext cx="4470400" cy="355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9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アプリを起動する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512C539A-F0BF-6D90-FCDD-76B680B5BEBC}"/>
              </a:ext>
            </a:extLst>
          </p:cNvPr>
          <p:cNvSpPr txBox="1"/>
          <p:nvPr/>
        </p:nvSpPr>
        <p:spPr>
          <a:xfrm>
            <a:off x="1143000" y="3175000"/>
            <a:ext cx="4470400" cy="1143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  <a:spcAft>
                <a:spcPts val="800"/>
              </a:spcAft>
            </a:pP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1.  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配布フォルダの 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PdfSignage.exe 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をダブルクリック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2.  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全画面でサイネージ表示が始まる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3.  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初回起動時は設定ファイルが自動作成される</a:t>
            </a:r>
          </a:p>
        </p:txBody>
      </p: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17A03EF0-4B38-D330-80EE-DB4EC9655435}"/>
              </a:ext>
            </a:extLst>
          </p:cNvPr>
          <p:cNvSpPr/>
          <p:nvPr/>
        </p:nvSpPr>
        <p:spPr>
          <a:xfrm>
            <a:off x="6248400" y="1905000"/>
            <a:ext cx="5130800" cy="2692400"/>
          </a:xfrm>
          <a:prstGeom prst="roundRect">
            <a:avLst>
              <a:gd name="adj" fmla="val 7000"/>
            </a:avLst>
          </a:prstGeom>
          <a:solidFill>
            <a:srgbClr val="102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四角形: 角を丸くする 16">
            <a:extLst>
              <a:ext uri="{FF2B5EF4-FFF2-40B4-BE49-F238E27FC236}">
                <a16:creationId xmlns:a16="http://schemas.microsoft.com/office/drawing/2014/main" id="{D644B964-F2CF-980D-0F7D-EF3AF22ADE30}"/>
              </a:ext>
            </a:extLst>
          </p:cNvPr>
          <p:cNvSpPr/>
          <p:nvPr/>
        </p:nvSpPr>
        <p:spPr>
          <a:xfrm>
            <a:off x="6578600" y="2209800"/>
            <a:ext cx="899160" cy="279400"/>
          </a:xfrm>
          <a:prstGeom prst="roundRect">
            <a:avLst>
              <a:gd name="adj" fmla="val 50000"/>
            </a:avLst>
          </a:prstGeom>
          <a:solidFill>
            <a:srgbClr val="1E3A6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1060FF68-9F95-7F5B-058E-03A88D7FE212}"/>
              </a:ext>
            </a:extLst>
          </p:cNvPr>
          <p:cNvSpPr txBox="1"/>
          <p:nvPr/>
        </p:nvSpPr>
        <p:spPr>
          <a:xfrm>
            <a:off x="6578600" y="2209800"/>
            <a:ext cx="899160" cy="279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000" b="1">
                <a:solidFill>
                  <a:srgbClr val="BBD1FA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SHORTCUT</a:t>
            </a:r>
            <a:endParaRPr kumimoji="1" lang="ja-JP" altLang="en-US" sz="1000" b="1">
              <a:solidFill>
                <a:srgbClr val="BBD1FA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590641E7-6807-A949-337D-F3A1F3148EE7}"/>
              </a:ext>
            </a:extLst>
          </p:cNvPr>
          <p:cNvSpPr txBox="1"/>
          <p:nvPr/>
        </p:nvSpPr>
        <p:spPr>
          <a:xfrm>
            <a:off x="6578600" y="2641600"/>
            <a:ext cx="4470400" cy="355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9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管理画面を開く </a:t>
            </a:r>
            <a:r>
              <a:rPr kumimoji="1" lang="en-US" altLang="ja-JP" sz="19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/ </a:t>
            </a:r>
            <a:r>
              <a:rPr kumimoji="1" lang="ja-JP" altLang="en-US" sz="19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閉じる</a:t>
            </a:r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FFD8516E-39E5-5490-ECEF-CAC29EC04EA0}"/>
              </a:ext>
            </a:extLst>
          </p:cNvPr>
          <p:cNvSpPr/>
          <p:nvPr/>
        </p:nvSpPr>
        <p:spPr>
          <a:xfrm>
            <a:off x="6578600" y="3175000"/>
            <a:ext cx="858520" cy="558800"/>
          </a:xfrm>
          <a:prstGeom prst="roundRect">
            <a:avLst>
              <a:gd name="adj" fmla="val 18000"/>
            </a:avLst>
          </a:prstGeom>
          <a:solidFill>
            <a:srgbClr val="25406E"/>
          </a:solidFill>
          <a:ln w="9525">
            <a:solidFill>
              <a:srgbClr val="3E5C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52B8DB8D-3683-C571-88DD-A97EB6C3552B}"/>
              </a:ext>
            </a:extLst>
          </p:cNvPr>
          <p:cNvSpPr txBox="1"/>
          <p:nvPr/>
        </p:nvSpPr>
        <p:spPr>
          <a:xfrm>
            <a:off x="6578600" y="3175000"/>
            <a:ext cx="858520" cy="558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5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Ctrl</a:t>
            </a:r>
            <a:endParaRPr kumimoji="1" lang="ja-JP" altLang="en-US" sz="1500" b="1">
              <a:solidFill>
                <a:srgbClr val="FFFFFF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DF217115-B7AB-89A5-495C-A5C1D88B343F}"/>
              </a:ext>
            </a:extLst>
          </p:cNvPr>
          <p:cNvSpPr txBox="1"/>
          <p:nvPr/>
        </p:nvSpPr>
        <p:spPr>
          <a:xfrm>
            <a:off x="7437120" y="3175000"/>
            <a:ext cx="3302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500" b="1">
                <a:solidFill>
                  <a:srgbClr val="7FA6F5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+</a:t>
            </a:r>
            <a:endParaRPr kumimoji="1" lang="ja-JP" altLang="en-US" sz="1500" b="1">
              <a:solidFill>
                <a:srgbClr val="7FA6F5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E4B44391-82D7-CCE6-B62E-265AA30E3B67}"/>
              </a:ext>
            </a:extLst>
          </p:cNvPr>
          <p:cNvSpPr/>
          <p:nvPr/>
        </p:nvSpPr>
        <p:spPr>
          <a:xfrm>
            <a:off x="7767320" y="3175000"/>
            <a:ext cx="965200" cy="558800"/>
          </a:xfrm>
          <a:prstGeom prst="roundRect">
            <a:avLst>
              <a:gd name="adj" fmla="val 18000"/>
            </a:avLst>
          </a:prstGeom>
          <a:solidFill>
            <a:srgbClr val="25406E"/>
          </a:solidFill>
          <a:ln w="9525">
            <a:solidFill>
              <a:srgbClr val="3E5C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3CEEDB12-B733-ED2B-1E5D-726A404FD3EC}"/>
              </a:ext>
            </a:extLst>
          </p:cNvPr>
          <p:cNvSpPr txBox="1"/>
          <p:nvPr/>
        </p:nvSpPr>
        <p:spPr>
          <a:xfrm>
            <a:off x="7767320" y="3175000"/>
            <a:ext cx="9652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5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Shift</a:t>
            </a:r>
            <a:endParaRPr kumimoji="1" lang="ja-JP" altLang="en-US" sz="1500" b="1">
              <a:solidFill>
                <a:srgbClr val="FFFFFF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D1FCA945-34A0-EFB6-7621-14FA625CC111}"/>
              </a:ext>
            </a:extLst>
          </p:cNvPr>
          <p:cNvSpPr txBox="1"/>
          <p:nvPr/>
        </p:nvSpPr>
        <p:spPr>
          <a:xfrm>
            <a:off x="8732520" y="3175000"/>
            <a:ext cx="3302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500" b="1">
                <a:solidFill>
                  <a:srgbClr val="7FA6F5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+</a:t>
            </a:r>
            <a:endParaRPr kumimoji="1" lang="ja-JP" altLang="en-US" sz="1500" b="1">
              <a:solidFill>
                <a:srgbClr val="7FA6F5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6" name="四角形: 角を丸くする 25">
            <a:extLst>
              <a:ext uri="{FF2B5EF4-FFF2-40B4-BE49-F238E27FC236}">
                <a16:creationId xmlns:a16="http://schemas.microsoft.com/office/drawing/2014/main" id="{188E2CBB-1A5D-C82F-72FD-1FCB1B5833FC}"/>
              </a:ext>
            </a:extLst>
          </p:cNvPr>
          <p:cNvSpPr/>
          <p:nvPr/>
        </p:nvSpPr>
        <p:spPr>
          <a:xfrm>
            <a:off x="9062720" y="3175000"/>
            <a:ext cx="538480" cy="558800"/>
          </a:xfrm>
          <a:prstGeom prst="roundRect">
            <a:avLst>
              <a:gd name="adj" fmla="val 18000"/>
            </a:avLst>
          </a:prstGeom>
          <a:solidFill>
            <a:srgbClr val="25406E"/>
          </a:solidFill>
          <a:ln w="9525">
            <a:solidFill>
              <a:srgbClr val="3E5C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688A4E00-6C45-1490-983F-B32122F0855D}"/>
              </a:ext>
            </a:extLst>
          </p:cNvPr>
          <p:cNvSpPr txBox="1"/>
          <p:nvPr/>
        </p:nvSpPr>
        <p:spPr>
          <a:xfrm>
            <a:off x="9062720" y="3175000"/>
            <a:ext cx="538480" cy="558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5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M</a:t>
            </a:r>
            <a:endParaRPr kumimoji="1" lang="ja-JP" altLang="en-US" sz="1500" b="1">
              <a:solidFill>
                <a:srgbClr val="FFFFFF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5AD2ADC1-F356-9F35-97EA-018C8DAEE497}"/>
              </a:ext>
            </a:extLst>
          </p:cNvPr>
          <p:cNvSpPr txBox="1"/>
          <p:nvPr/>
        </p:nvSpPr>
        <p:spPr>
          <a:xfrm>
            <a:off x="6578600" y="3886200"/>
            <a:ext cx="4470400" cy="508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150">
                <a:solidFill>
                  <a:srgbClr val="9FB4D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同時に押すと管理画面が開きます。ファイル名の秒数・期限の誤りは「表示期限の指定」、壊れたファイルは「壊れたファイル」ダイアログで、開くたびに対象ファイルを知らせます。</a:t>
            </a:r>
          </a:p>
        </p:txBody>
      </p:sp>
      <p:sp>
        <p:nvSpPr>
          <p:cNvPr id="29" name="四角形: 角を丸くする 28">
            <a:extLst>
              <a:ext uri="{FF2B5EF4-FFF2-40B4-BE49-F238E27FC236}">
                <a16:creationId xmlns:a16="http://schemas.microsoft.com/office/drawing/2014/main" id="{A3CA5651-02E7-FD8C-9F14-C2B536268DB0}"/>
              </a:ext>
            </a:extLst>
          </p:cNvPr>
          <p:cNvSpPr/>
          <p:nvPr/>
        </p:nvSpPr>
        <p:spPr>
          <a:xfrm>
            <a:off x="812800" y="5029200"/>
            <a:ext cx="10566400" cy="838200"/>
          </a:xfrm>
          <a:prstGeom prst="roundRect">
            <a:avLst>
              <a:gd name="adj" fmla="val 12000"/>
            </a:avLst>
          </a:prstGeom>
          <a:solidFill>
            <a:srgbClr val="E9F0F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9D7D8DD6-8E25-CBC7-F657-A1FB35AE7354}"/>
              </a:ext>
            </a:extLst>
          </p:cNvPr>
          <p:cNvSpPr/>
          <p:nvPr/>
        </p:nvSpPr>
        <p:spPr>
          <a:xfrm>
            <a:off x="812800" y="5029200"/>
            <a:ext cx="50800" cy="8382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B1D5ACAD-DD19-4AED-05D9-F34903892D44}"/>
              </a:ext>
            </a:extLst>
          </p:cNvPr>
          <p:cNvSpPr txBox="1"/>
          <p:nvPr/>
        </p:nvSpPr>
        <p:spPr>
          <a:xfrm>
            <a:off x="1092200" y="5029200"/>
            <a:ext cx="1342136" cy="838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0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保存を忘れずに</a:t>
            </a: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BD5AC2D0-2B71-CBD5-1A7A-F35D7A875AFB}"/>
              </a:ext>
            </a:extLst>
          </p:cNvPr>
          <p:cNvSpPr txBox="1"/>
          <p:nvPr/>
        </p:nvSpPr>
        <p:spPr>
          <a:xfrm>
            <a:off x="2434336" y="5029200"/>
            <a:ext cx="8665464" cy="838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25000"/>
              </a:lnSpc>
            </a:pP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値を変更したら「保存して設定する」をクリック。再起動なしで即時反映されます。画面下部が緑なら成功、赤なら入力内容を確認してください。</a:t>
            </a:r>
          </a:p>
        </p:txBody>
      </p:sp>
    </p:spTree>
    <p:extLst>
      <p:ext uri="{BB962C8B-B14F-4D97-AF65-F5344CB8AC3E}">
        <p14:creationId xmlns:p14="http://schemas.microsoft.com/office/powerpoint/2010/main" val="33116587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E8B9AADA-4127-ED32-1334-5FF71C5B640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5D71524-A930-BA62-9AC6-5C88AE990DFB}"/>
              </a:ext>
            </a:extLst>
          </p:cNvPr>
          <p:cNvSpPr/>
          <p:nvPr/>
        </p:nvSpPr>
        <p:spPr>
          <a:xfrm>
            <a:off x="812800" y="584200"/>
            <a:ext cx="63500" cy="5842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DDD127D6-02EA-3625-8C87-06F1221BBAE4}"/>
              </a:ext>
            </a:extLst>
          </p:cNvPr>
          <p:cNvSpPr txBox="1"/>
          <p:nvPr/>
        </p:nvSpPr>
        <p:spPr>
          <a:xfrm>
            <a:off x="1028700" y="571500"/>
            <a:ext cx="7620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05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FOR ADMINISTRATOR</a:t>
            </a:r>
            <a:endParaRPr kumimoji="1" lang="ja-JP" altLang="en-US" sz="1050" b="1">
              <a:solidFill>
                <a:srgbClr val="2563EB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37FC5C4-EC2F-FED9-3779-CB411D832813}"/>
              </a:ext>
            </a:extLst>
          </p:cNvPr>
          <p:cNvSpPr txBox="1"/>
          <p:nvPr/>
        </p:nvSpPr>
        <p:spPr>
          <a:xfrm>
            <a:off x="1028700" y="774700"/>
            <a:ext cx="8128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管理画面の設定項目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B7A248F8-69AD-FB64-845E-9156B5FE0C8B}"/>
              </a:ext>
            </a:extLst>
          </p:cNvPr>
          <p:cNvSpPr/>
          <p:nvPr/>
        </p:nvSpPr>
        <p:spPr>
          <a:xfrm>
            <a:off x="812800" y="1498600"/>
            <a:ext cx="10566400" cy="12700"/>
          </a:xfrm>
          <a:prstGeom prst="rect">
            <a:avLst/>
          </a:prstGeom>
          <a:solidFill>
            <a:srgbClr val="DEE5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DC3F6F99-E553-1C20-2AB6-8ABF50AFABB1}"/>
              </a:ext>
            </a:extLst>
          </p:cNvPr>
          <p:cNvSpPr/>
          <p:nvPr/>
        </p:nvSpPr>
        <p:spPr>
          <a:xfrm>
            <a:off x="10006203" y="736600"/>
            <a:ext cx="1372997" cy="3302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5F41B5E7-D6C4-E950-116A-4622076328C2}"/>
              </a:ext>
            </a:extLst>
          </p:cNvPr>
          <p:cNvSpPr txBox="1"/>
          <p:nvPr/>
        </p:nvSpPr>
        <p:spPr>
          <a:xfrm>
            <a:off x="10006203" y="736600"/>
            <a:ext cx="1372997" cy="330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ja-JP" altLang="en-US" sz="115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システム管理者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44EAD007-5050-1F6C-A81B-BFE96FE12520}"/>
              </a:ext>
            </a:extLst>
          </p:cNvPr>
          <p:cNvSpPr txBox="1"/>
          <p:nvPr/>
        </p:nvSpPr>
        <p:spPr>
          <a:xfrm>
            <a:off x="812800" y="6375400"/>
            <a:ext cx="6604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簡単！シンプル！サイネージ ｜ 操作ガイド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2789E732-9C41-5D26-0E52-F12009460ECC}"/>
              </a:ext>
            </a:extLst>
          </p:cNvPr>
          <p:cNvSpPr txBox="1"/>
          <p:nvPr/>
        </p:nvSpPr>
        <p:spPr>
          <a:xfrm>
            <a:off x="10109200" y="6375400"/>
            <a:ext cx="127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kumimoji="1" lang="en-US" altLang="ja-JP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11</a:t>
            </a:r>
            <a:endParaRPr kumimoji="1" lang="ja-JP" altLang="en-US" sz="900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graphicFrame>
        <p:nvGraphicFramePr>
          <p:cNvPr id="11" name="表 10">
            <a:extLst>
              <a:ext uri="{FF2B5EF4-FFF2-40B4-BE49-F238E27FC236}">
                <a16:creationId xmlns:a16="http://schemas.microsoft.com/office/drawing/2014/main" id="{5FF6AAAE-1A9C-D815-1FE4-F718165C85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31506"/>
              </p:ext>
            </p:extLst>
          </p:nvPr>
        </p:nvGraphicFramePr>
        <p:xfrm>
          <a:off x="812800" y="1854200"/>
          <a:ext cx="10566400" cy="36322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10331178"/>
                    </a:ext>
                  </a:extLst>
                </a:gridCol>
                <a:gridCol w="7366000">
                  <a:extLst>
                    <a:ext uri="{9D8B030D-6E8A-4147-A177-3AD203B41FA5}">
                      <a16:colId xmlns:a16="http://schemas.microsoft.com/office/drawing/2014/main" val="3233115489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50" b="1">
                          <a:solidFill>
                            <a:srgbClr val="FFFFFF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設定項目</a:t>
                      </a:r>
                    </a:p>
                  </a:txBody>
                  <a:tcPr marL="152400" marR="152400" marT="63500" marB="63500" anchor="ctr">
                    <a:lnB w="19050">
                      <a:solidFill>
                        <a:srgbClr val="2563EB"/>
                      </a:solidFill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50" b="1">
                          <a:solidFill>
                            <a:srgbClr val="FFFFFF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説明</a:t>
                      </a:r>
                    </a:p>
                  </a:txBody>
                  <a:tcPr marL="152400" marR="152400" marT="63500" marB="63500" anchor="ctr">
                    <a:lnB w="19050">
                      <a:solidFill>
                        <a:srgbClr val="2563EB"/>
                      </a:solidFill>
                    </a:lnB>
                    <a:solidFill>
                      <a:srgbClr val="2563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1886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0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監視フォルダ</a:t>
                      </a:r>
                    </a:p>
                  </a:txBody>
                  <a:tcPr marL="152400" marR="152400" marT="63500" marB="63500" anchor="ctr">
                    <a:lnT w="19050">
                      <a:solidFill>
                        <a:srgbClr val="2563EB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コンテンツを置くフォルダのパス。「参照</a:t>
                      </a:r>
                      <a:r>
                        <a:rPr kumimoji="1" lang="en-US" altLang="ja-JP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…</a:t>
                      </a:r>
                      <a:r>
                        <a:rPr kumimoji="1" lang="ja-JP" altLang="en-US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」から選択も可能</a:t>
                      </a:r>
                    </a:p>
                  </a:txBody>
                  <a:tcPr marL="152400" marR="152400" marT="63500" marB="63500" anchor="ctr">
                    <a:lnT w="19050">
                      <a:solidFill>
                        <a:srgbClr val="2563EB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4719565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0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デフォルト表示秒数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画像・</a:t>
                      </a:r>
                      <a:r>
                        <a:rPr kumimoji="1" lang="en-US" altLang="ja-JP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PDF </a:t>
                      </a:r>
                      <a:r>
                        <a:rPr kumimoji="1" lang="ja-JP" altLang="en-US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の標準表示時間（</a:t>
                      </a:r>
                      <a:r>
                        <a:rPr kumimoji="1" lang="en-US" altLang="ja-JP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5〜300 </a:t>
                      </a:r>
                      <a:r>
                        <a:rPr kumimoji="1" lang="ja-JP" altLang="en-US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秒）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4110732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en-US" altLang="ja-JP" sz="120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Windows </a:t>
                      </a:r>
                      <a:r>
                        <a:rPr kumimoji="1" lang="ja-JP" altLang="en-US" sz="120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起動時に自動起動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en-US" altLang="ja-JP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ON </a:t>
                      </a:r>
                      <a:r>
                        <a:rPr kumimoji="1" lang="ja-JP" altLang="en-US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にすると </a:t>
                      </a:r>
                      <a:r>
                        <a:rPr kumimoji="1" lang="en-US" altLang="ja-JP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PC </a:t>
                      </a:r>
                      <a:r>
                        <a:rPr kumimoji="1" lang="ja-JP" altLang="en-US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起動・ログオン後にアプリが自動で立ち上がる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8857006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0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アプリ終了時刻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毎日、指定時刻にアプリを終了する（例：</a:t>
                      </a:r>
                      <a:r>
                        <a:rPr kumimoji="1" lang="en-US" altLang="ja-JP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18:00</a:t>
                      </a:r>
                      <a:r>
                        <a:rPr kumimoji="1" lang="ja-JP" altLang="en-US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）。無効にすれば終了しない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4969782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en-US" altLang="ja-JP" sz="120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PC </a:t>
                      </a:r>
                      <a:r>
                        <a:rPr kumimoji="1" lang="ja-JP" altLang="en-US" sz="120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電源オフ時刻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毎日、指定時刻に </a:t>
                      </a:r>
                      <a:r>
                        <a:rPr kumimoji="1" lang="en-US" altLang="ja-JP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PC </a:t>
                      </a:r>
                      <a:r>
                        <a:rPr kumimoji="1" lang="ja-JP" altLang="en-US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の電源を切る（例：</a:t>
                      </a:r>
                      <a:r>
                        <a:rPr kumimoji="1" lang="en-US" altLang="ja-JP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18:03</a:t>
                      </a:r>
                      <a:r>
                        <a:rPr kumimoji="1" lang="ja-JP" altLang="en-US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）。無効にすれば電源オフしない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5916914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0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復帰不能時メッセージ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すべてのファイルが表示できないときに全画面へ出す文言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7007481"/>
                  </a:ext>
                </a:extLst>
              </a:tr>
            </a:tbl>
          </a:graphicData>
        </a:graphic>
      </p:graphicFrame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461588BC-9C6E-A356-B18D-78748604006F}"/>
              </a:ext>
            </a:extLst>
          </p:cNvPr>
          <p:cNvSpPr/>
          <p:nvPr/>
        </p:nvSpPr>
        <p:spPr>
          <a:xfrm>
            <a:off x="812800" y="5638800"/>
            <a:ext cx="10566400" cy="635000"/>
          </a:xfrm>
          <a:prstGeom prst="roundRect">
            <a:avLst>
              <a:gd name="adj" fmla="val 12000"/>
            </a:avLst>
          </a:prstGeom>
          <a:solidFill>
            <a:srgbClr val="E9F0F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685718C8-86A2-0273-8237-6C80331EB79F}"/>
              </a:ext>
            </a:extLst>
          </p:cNvPr>
          <p:cNvSpPr/>
          <p:nvPr/>
        </p:nvSpPr>
        <p:spPr>
          <a:xfrm>
            <a:off x="812800" y="5638800"/>
            <a:ext cx="50800" cy="6350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5EE7EF98-0D84-4281-D386-12E5641CCD87}"/>
              </a:ext>
            </a:extLst>
          </p:cNvPr>
          <p:cNvSpPr txBox="1"/>
          <p:nvPr/>
        </p:nvSpPr>
        <p:spPr>
          <a:xfrm>
            <a:off x="1092200" y="5638800"/>
            <a:ext cx="1342136" cy="635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0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時刻の入力形式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E67BE109-7E91-D491-7513-5C02641CD033}"/>
              </a:ext>
            </a:extLst>
          </p:cNvPr>
          <p:cNvSpPr txBox="1"/>
          <p:nvPr/>
        </p:nvSpPr>
        <p:spPr>
          <a:xfrm>
            <a:off x="2434336" y="5638800"/>
            <a:ext cx="8665464" cy="635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25000"/>
              </a:lnSpc>
            </a:pP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HH:mm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（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24 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時間制）で入力します。午後 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6 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時は 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18:00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、午前 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9 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時 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30 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分は 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09:30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。ライセンス・アクセスキー・ログフォルダは次のスライド。</a:t>
            </a:r>
          </a:p>
        </p:txBody>
      </p:sp>
    </p:spTree>
    <p:extLst>
      <p:ext uri="{BB962C8B-B14F-4D97-AF65-F5344CB8AC3E}">
        <p14:creationId xmlns:p14="http://schemas.microsoft.com/office/powerpoint/2010/main" val="35728406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C38E9EC4-CCB5-CFD2-73EE-46B23804B65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9235619E-7B07-0C1A-0EE0-102A458BB849}"/>
              </a:ext>
            </a:extLst>
          </p:cNvPr>
          <p:cNvSpPr/>
          <p:nvPr/>
        </p:nvSpPr>
        <p:spPr>
          <a:xfrm>
            <a:off x="812800" y="584200"/>
            <a:ext cx="63500" cy="5842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CF6FBFD-445E-EC24-B112-1F21D965A34C}"/>
              </a:ext>
            </a:extLst>
          </p:cNvPr>
          <p:cNvSpPr txBox="1"/>
          <p:nvPr/>
        </p:nvSpPr>
        <p:spPr>
          <a:xfrm>
            <a:off x="1028700" y="571500"/>
            <a:ext cx="7620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05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FOR ADMINISTRATOR</a:t>
            </a:r>
            <a:endParaRPr kumimoji="1" lang="ja-JP" altLang="en-US" sz="1050" b="1">
              <a:solidFill>
                <a:srgbClr val="2563EB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DDCA058-FE3F-91E7-0530-16FB6D95FF17}"/>
              </a:ext>
            </a:extLst>
          </p:cNvPr>
          <p:cNvSpPr txBox="1"/>
          <p:nvPr/>
        </p:nvSpPr>
        <p:spPr>
          <a:xfrm>
            <a:off x="1028700" y="774700"/>
            <a:ext cx="8128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ライセンスとアクセスキー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D8158C21-7971-535D-7548-46ECF8DB70A4}"/>
              </a:ext>
            </a:extLst>
          </p:cNvPr>
          <p:cNvSpPr/>
          <p:nvPr/>
        </p:nvSpPr>
        <p:spPr>
          <a:xfrm>
            <a:off x="812800" y="1498600"/>
            <a:ext cx="10566400" cy="12700"/>
          </a:xfrm>
          <a:prstGeom prst="rect">
            <a:avLst/>
          </a:prstGeom>
          <a:solidFill>
            <a:srgbClr val="DEE5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CFAE173B-B6B3-1B6E-1443-58B2E213AE7A}"/>
              </a:ext>
            </a:extLst>
          </p:cNvPr>
          <p:cNvSpPr/>
          <p:nvPr/>
        </p:nvSpPr>
        <p:spPr>
          <a:xfrm>
            <a:off x="10006203" y="736600"/>
            <a:ext cx="1372997" cy="3302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7009F29A-02F6-BFA1-F727-E59B3E82FA6A}"/>
              </a:ext>
            </a:extLst>
          </p:cNvPr>
          <p:cNvSpPr txBox="1"/>
          <p:nvPr/>
        </p:nvSpPr>
        <p:spPr>
          <a:xfrm>
            <a:off x="10006203" y="736600"/>
            <a:ext cx="1372997" cy="330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ja-JP" altLang="en-US" sz="115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システム管理者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1197238-D6C7-05C7-7DB0-BE0D11C34905}"/>
              </a:ext>
            </a:extLst>
          </p:cNvPr>
          <p:cNvSpPr txBox="1"/>
          <p:nvPr/>
        </p:nvSpPr>
        <p:spPr>
          <a:xfrm>
            <a:off x="812800" y="6375400"/>
            <a:ext cx="6604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簡単！シンプル！サイネージ ｜ 操作ガイド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7E10C6C4-CEFD-4C51-B02C-F3FF060141B2}"/>
              </a:ext>
            </a:extLst>
          </p:cNvPr>
          <p:cNvSpPr txBox="1"/>
          <p:nvPr/>
        </p:nvSpPr>
        <p:spPr>
          <a:xfrm>
            <a:off x="10109200" y="6375400"/>
            <a:ext cx="127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kumimoji="1" lang="en-US" altLang="ja-JP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12</a:t>
            </a:r>
            <a:endParaRPr kumimoji="1" lang="ja-JP" altLang="en-US" sz="900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95470336-88F8-33C5-DC8D-24943B9D3866}"/>
              </a:ext>
            </a:extLst>
          </p:cNvPr>
          <p:cNvSpPr/>
          <p:nvPr/>
        </p:nvSpPr>
        <p:spPr>
          <a:xfrm>
            <a:off x="812800" y="1905000"/>
            <a:ext cx="5130800" cy="2946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6B0EABE7-4498-2EFE-FB65-BB5DA7EB99A4}"/>
              </a:ext>
            </a:extLst>
          </p:cNvPr>
          <p:cNvSpPr/>
          <p:nvPr/>
        </p:nvSpPr>
        <p:spPr>
          <a:xfrm>
            <a:off x="1143000" y="2209800"/>
            <a:ext cx="685800" cy="279400"/>
          </a:xfrm>
          <a:prstGeom prst="roundRect">
            <a:avLst>
              <a:gd name="adj" fmla="val 50000"/>
            </a:avLst>
          </a:prstGeom>
          <a:solidFill>
            <a:srgbClr val="E3F4F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2670BCA8-A3BE-109B-6440-05E5AFE09FD6}"/>
              </a:ext>
            </a:extLst>
          </p:cNvPr>
          <p:cNvSpPr txBox="1"/>
          <p:nvPr/>
        </p:nvSpPr>
        <p:spPr>
          <a:xfrm>
            <a:off x="1143000" y="2209800"/>
            <a:ext cx="6858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00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TRIAL</a:t>
            </a:r>
            <a:endParaRPr kumimoji="1" lang="ja-JP" altLang="en-US" sz="1000" b="1">
              <a:solidFill>
                <a:srgbClr val="0F8E92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FF2D62EB-ECEE-873B-3E3A-FF498A035E69}"/>
              </a:ext>
            </a:extLst>
          </p:cNvPr>
          <p:cNvSpPr txBox="1"/>
          <p:nvPr/>
        </p:nvSpPr>
        <p:spPr>
          <a:xfrm>
            <a:off x="1143000" y="2641600"/>
            <a:ext cx="4470400" cy="355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9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初回起動から </a:t>
            </a:r>
            <a:r>
              <a:rPr kumimoji="1" lang="en-US" altLang="ja-JP" sz="19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60 </a:t>
            </a:r>
            <a:r>
              <a:rPr kumimoji="1" lang="ja-JP" altLang="en-US" sz="19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日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076433CE-A049-E6CE-4DD4-EAF2BB47D6FC}"/>
              </a:ext>
            </a:extLst>
          </p:cNvPr>
          <p:cNvSpPr txBox="1"/>
          <p:nvPr/>
        </p:nvSpPr>
        <p:spPr>
          <a:xfrm>
            <a:off x="1143000" y="3175000"/>
            <a:ext cx="4470400" cy="1397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  <a:spcAft>
                <a:spcPts val="800"/>
              </a:spcAft>
            </a:pP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この 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Windows 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ユーザーで初めて起動した日から、暦日 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60 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日は無料です（当日を含む）。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フォルダや 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settings.json 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を消しても、同じユーザーでは試用は延びません。</a:t>
            </a:r>
          </a:p>
        </p:txBody>
      </p: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5148FC3F-71E8-FC96-709D-9E34F928005B}"/>
              </a:ext>
            </a:extLst>
          </p:cNvPr>
          <p:cNvSpPr/>
          <p:nvPr/>
        </p:nvSpPr>
        <p:spPr>
          <a:xfrm>
            <a:off x="6248400" y="1905000"/>
            <a:ext cx="5130800" cy="2946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四角形: 角を丸くする 16">
            <a:extLst>
              <a:ext uri="{FF2B5EF4-FFF2-40B4-BE49-F238E27FC236}">
                <a16:creationId xmlns:a16="http://schemas.microsoft.com/office/drawing/2014/main" id="{EE23865F-5884-0022-0DAE-D9BB04FA1556}"/>
              </a:ext>
            </a:extLst>
          </p:cNvPr>
          <p:cNvSpPr/>
          <p:nvPr/>
        </p:nvSpPr>
        <p:spPr>
          <a:xfrm>
            <a:off x="6578600" y="2209800"/>
            <a:ext cx="1041400" cy="279400"/>
          </a:xfrm>
          <a:prstGeom prst="roundRect">
            <a:avLst>
              <a:gd name="adj" fmla="val 50000"/>
            </a:avLst>
          </a:prstGeom>
          <a:solidFill>
            <a:srgbClr val="E9F0F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C738EF80-9E1B-DFC6-FAE9-380E4B51F829}"/>
              </a:ext>
            </a:extLst>
          </p:cNvPr>
          <p:cNvSpPr txBox="1"/>
          <p:nvPr/>
        </p:nvSpPr>
        <p:spPr>
          <a:xfrm>
            <a:off x="6578600" y="2209800"/>
            <a:ext cx="10414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00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ACCESS KEY</a:t>
            </a:r>
            <a:endParaRPr kumimoji="1" lang="ja-JP" altLang="en-US" sz="1000" b="1">
              <a:solidFill>
                <a:srgbClr val="2563EB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6E4E5A30-A32D-790D-FBE6-EE17F3D00B2C}"/>
              </a:ext>
            </a:extLst>
          </p:cNvPr>
          <p:cNvSpPr txBox="1"/>
          <p:nvPr/>
        </p:nvSpPr>
        <p:spPr>
          <a:xfrm>
            <a:off x="6578600" y="2641600"/>
            <a:ext cx="4470400" cy="355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9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届いた文字列を貼る</a:t>
            </a: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FBBEFFB2-1EA1-53EE-1855-8545037E53B0}"/>
              </a:ext>
            </a:extLst>
          </p:cNvPr>
          <p:cNvSpPr txBox="1"/>
          <p:nvPr/>
        </p:nvSpPr>
        <p:spPr>
          <a:xfrm>
            <a:off x="6578600" y="3175000"/>
            <a:ext cx="4470400" cy="1397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  <a:spcAft>
                <a:spcPts val="800"/>
              </a:spcAft>
            </a:pP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1.  Ctrl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＋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Shift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＋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M 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で管理画面を開く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2.  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メールのアクセスキーをそのまま貼る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3.  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「アクセスキーを適用」を押す</a:t>
            </a:r>
          </a:p>
        </p:txBody>
      </p:sp>
      <p:sp>
        <p:nvSpPr>
          <p:cNvPr id="21" name="四角形: 角を丸くする 20">
            <a:extLst>
              <a:ext uri="{FF2B5EF4-FFF2-40B4-BE49-F238E27FC236}">
                <a16:creationId xmlns:a16="http://schemas.microsoft.com/office/drawing/2014/main" id="{DCC4BE1A-7FC1-484E-379A-639CF15043C9}"/>
              </a:ext>
            </a:extLst>
          </p:cNvPr>
          <p:cNvSpPr/>
          <p:nvPr/>
        </p:nvSpPr>
        <p:spPr>
          <a:xfrm>
            <a:off x="812800" y="5029200"/>
            <a:ext cx="10566400" cy="990600"/>
          </a:xfrm>
          <a:prstGeom prst="roundRect">
            <a:avLst>
              <a:gd name="adj" fmla="val 12000"/>
            </a:avLst>
          </a:prstGeom>
          <a:solidFill>
            <a:srgbClr val="FDF3E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24171E68-CBAF-AA2B-EB92-C36BCECBF60E}"/>
              </a:ext>
            </a:extLst>
          </p:cNvPr>
          <p:cNvSpPr/>
          <p:nvPr/>
        </p:nvSpPr>
        <p:spPr>
          <a:xfrm>
            <a:off x="812800" y="5029200"/>
            <a:ext cx="50800" cy="990600"/>
          </a:xfrm>
          <a:prstGeom prst="rect">
            <a:avLst/>
          </a:prstGeom>
          <a:solidFill>
            <a:srgbClr val="B4690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F767CF4B-B2AE-13BD-4EBA-0812FDABDB72}"/>
              </a:ext>
            </a:extLst>
          </p:cNvPr>
          <p:cNvSpPr txBox="1"/>
          <p:nvPr/>
        </p:nvSpPr>
        <p:spPr>
          <a:xfrm>
            <a:off x="1092200" y="5029200"/>
            <a:ext cx="1497584" cy="9906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00" b="1">
                <a:solidFill>
                  <a:srgbClr val="B4690E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期限が切れたとき</a:t>
            </a: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46E61BD2-AA7E-7BEE-2A16-9EED82CF5E2B}"/>
              </a:ext>
            </a:extLst>
          </p:cNvPr>
          <p:cNvSpPr txBox="1"/>
          <p:nvPr/>
        </p:nvSpPr>
        <p:spPr>
          <a:xfrm>
            <a:off x="2589784" y="5029200"/>
            <a:ext cx="8510016" cy="9906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25000"/>
              </a:lnSpc>
            </a:pP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映像は止まりません。画面の下端に「契約期限が切れています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…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」と出ます。正しいキーを適用すると案内は消えます。誤ったキーでは以前の状態のままです。ログの場所も管理画面に出ます。</a:t>
            </a:r>
          </a:p>
        </p:txBody>
      </p:sp>
    </p:spTree>
    <p:extLst>
      <p:ext uri="{BB962C8B-B14F-4D97-AF65-F5344CB8AC3E}">
        <p14:creationId xmlns:p14="http://schemas.microsoft.com/office/powerpoint/2010/main" val="6810755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70FB0A07-45BD-F535-4C97-BE5F3C89E06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63160AE0-D3D5-FFBD-05E3-70952149CDEF}"/>
              </a:ext>
            </a:extLst>
          </p:cNvPr>
          <p:cNvSpPr/>
          <p:nvPr/>
        </p:nvSpPr>
        <p:spPr>
          <a:xfrm>
            <a:off x="812800" y="584200"/>
            <a:ext cx="63500" cy="5842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04E69F4-F09C-4EF1-0E59-B5866457C1BA}"/>
              </a:ext>
            </a:extLst>
          </p:cNvPr>
          <p:cNvSpPr txBox="1"/>
          <p:nvPr/>
        </p:nvSpPr>
        <p:spPr>
          <a:xfrm>
            <a:off x="1028700" y="571500"/>
            <a:ext cx="7620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05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FOR ADMINISTRATOR</a:t>
            </a:r>
            <a:endParaRPr kumimoji="1" lang="ja-JP" altLang="en-US" sz="1050" b="1">
              <a:solidFill>
                <a:srgbClr val="2563EB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66F6B63-9510-756E-922A-CC6A0A9A680A}"/>
              </a:ext>
            </a:extLst>
          </p:cNvPr>
          <p:cNvSpPr txBox="1"/>
          <p:nvPr/>
        </p:nvSpPr>
        <p:spPr>
          <a:xfrm>
            <a:off x="1028700" y="774700"/>
            <a:ext cx="8128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夜に止めて、朝は自動で始める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7ED12BC-84EB-2F7E-1D9C-030A418F4387}"/>
              </a:ext>
            </a:extLst>
          </p:cNvPr>
          <p:cNvSpPr/>
          <p:nvPr/>
        </p:nvSpPr>
        <p:spPr>
          <a:xfrm>
            <a:off x="812800" y="1498600"/>
            <a:ext cx="10566400" cy="12700"/>
          </a:xfrm>
          <a:prstGeom prst="rect">
            <a:avLst/>
          </a:prstGeom>
          <a:solidFill>
            <a:srgbClr val="DEE5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89B9C0FE-4B21-8AAE-3F84-5032AAE60721}"/>
              </a:ext>
            </a:extLst>
          </p:cNvPr>
          <p:cNvSpPr/>
          <p:nvPr/>
        </p:nvSpPr>
        <p:spPr>
          <a:xfrm>
            <a:off x="10006203" y="736600"/>
            <a:ext cx="1372997" cy="3302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79AC9A7B-5B21-D460-9971-AD519DCD9F5D}"/>
              </a:ext>
            </a:extLst>
          </p:cNvPr>
          <p:cNvSpPr txBox="1"/>
          <p:nvPr/>
        </p:nvSpPr>
        <p:spPr>
          <a:xfrm>
            <a:off x="10006203" y="736600"/>
            <a:ext cx="1372997" cy="330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ja-JP" altLang="en-US" sz="115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システム管理者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3CA8B8F-0DEA-8DE9-3362-5D9622F8B601}"/>
              </a:ext>
            </a:extLst>
          </p:cNvPr>
          <p:cNvSpPr txBox="1"/>
          <p:nvPr/>
        </p:nvSpPr>
        <p:spPr>
          <a:xfrm>
            <a:off x="812800" y="6375400"/>
            <a:ext cx="6604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簡単！シンプル！サイネージ ｜ 操作ガイド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45CB80F8-B4B4-E0D5-9F3E-E8CE79F94EAD}"/>
              </a:ext>
            </a:extLst>
          </p:cNvPr>
          <p:cNvSpPr txBox="1"/>
          <p:nvPr/>
        </p:nvSpPr>
        <p:spPr>
          <a:xfrm>
            <a:off x="10109200" y="6375400"/>
            <a:ext cx="127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kumimoji="1" lang="en-US" altLang="ja-JP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13</a:t>
            </a:r>
            <a:endParaRPr kumimoji="1" lang="ja-JP" altLang="en-US" sz="900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954DA528-F834-C26F-6637-34A7BD53E089}"/>
              </a:ext>
            </a:extLst>
          </p:cNvPr>
          <p:cNvSpPr txBox="1"/>
          <p:nvPr/>
        </p:nvSpPr>
        <p:spPr>
          <a:xfrm>
            <a:off x="812800" y="1905000"/>
            <a:ext cx="105664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スケジュール設定と </a:t>
            </a:r>
            <a:r>
              <a:rPr kumimoji="1" lang="en-US" altLang="ja-JP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Windows </a:t>
            </a: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自動起動を組み合わせると、毎日の入切が不要になります。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96F3FDE5-E9A0-7A4A-892E-3EF6B08A2B8E}"/>
              </a:ext>
            </a:extLst>
          </p:cNvPr>
          <p:cNvSpPr/>
          <p:nvPr/>
        </p:nvSpPr>
        <p:spPr>
          <a:xfrm>
            <a:off x="1320800" y="3556000"/>
            <a:ext cx="9550400" cy="25400"/>
          </a:xfrm>
          <a:prstGeom prst="rect">
            <a:avLst/>
          </a:prstGeom>
          <a:solidFill>
            <a:srgbClr val="DEE5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BAECC493-4377-AFED-313E-C1E2A20BD898}"/>
              </a:ext>
            </a:extLst>
          </p:cNvPr>
          <p:cNvSpPr txBox="1"/>
          <p:nvPr/>
        </p:nvSpPr>
        <p:spPr>
          <a:xfrm>
            <a:off x="812800" y="2743200"/>
            <a:ext cx="24892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70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18:00</a:t>
            </a:r>
            <a:endParaRPr kumimoji="1" lang="ja-JP" altLang="en-US" sz="1700" b="1">
              <a:solidFill>
                <a:srgbClr val="2563EB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4" name="楕円 13">
            <a:extLst>
              <a:ext uri="{FF2B5EF4-FFF2-40B4-BE49-F238E27FC236}">
                <a16:creationId xmlns:a16="http://schemas.microsoft.com/office/drawing/2014/main" id="{D7CD1232-7CD8-448B-F5A0-5A140094AEE0}"/>
              </a:ext>
            </a:extLst>
          </p:cNvPr>
          <p:cNvSpPr/>
          <p:nvPr/>
        </p:nvSpPr>
        <p:spPr>
          <a:xfrm>
            <a:off x="1943100" y="3454400"/>
            <a:ext cx="228600" cy="2286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2563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0F7F6002-5674-542F-474E-EF73AE9403D5}"/>
              </a:ext>
            </a:extLst>
          </p:cNvPr>
          <p:cNvSpPr/>
          <p:nvPr/>
        </p:nvSpPr>
        <p:spPr>
          <a:xfrm>
            <a:off x="812800" y="3937000"/>
            <a:ext cx="2489200" cy="1219200"/>
          </a:xfrm>
          <a:prstGeom prst="roundRect">
            <a:avLst>
              <a:gd name="adj" fmla="val 10000"/>
            </a:avLst>
          </a:prstGeom>
          <a:solidFill>
            <a:srgbClr val="E9F0F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EAFDC5A7-E8C9-0D84-1DAF-8108B3437908}"/>
              </a:ext>
            </a:extLst>
          </p:cNvPr>
          <p:cNvSpPr txBox="1"/>
          <p:nvPr/>
        </p:nvSpPr>
        <p:spPr>
          <a:xfrm>
            <a:off x="1016000" y="4165600"/>
            <a:ext cx="2082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ja-JP" altLang="en-US" sz="145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アプリ終了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D1ECF7D4-18BC-A1CB-3291-82D1B42DECC3}"/>
              </a:ext>
            </a:extLst>
          </p:cNvPr>
          <p:cNvSpPr txBox="1"/>
          <p:nvPr/>
        </p:nvSpPr>
        <p:spPr>
          <a:xfrm>
            <a:off x="1016000" y="4521200"/>
            <a:ext cx="2082800" cy="457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kumimoji="1" lang="ja-JP" altLang="en-US" sz="11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サイネージ表示を終了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F947E347-DF35-40BC-1881-A2B82600FE6B}"/>
              </a:ext>
            </a:extLst>
          </p:cNvPr>
          <p:cNvSpPr txBox="1"/>
          <p:nvPr/>
        </p:nvSpPr>
        <p:spPr>
          <a:xfrm>
            <a:off x="3505200" y="2743200"/>
            <a:ext cx="24892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70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18:03</a:t>
            </a:r>
            <a:endParaRPr kumimoji="1" lang="ja-JP" altLang="en-US" sz="1700" b="1">
              <a:solidFill>
                <a:srgbClr val="2563EB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9" name="楕円 18">
            <a:extLst>
              <a:ext uri="{FF2B5EF4-FFF2-40B4-BE49-F238E27FC236}">
                <a16:creationId xmlns:a16="http://schemas.microsoft.com/office/drawing/2014/main" id="{3A3AA7B3-F5DB-C7BF-1EB0-F1F27D9E65D8}"/>
              </a:ext>
            </a:extLst>
          </p:cNvPr>
          <p:cNvSpPr/>
          <p:nvPr/>
        </p:nvSpPr>
        <p:spPr>
          <a:xfrm>
            <a:off x="4635500" y="3454400"/>
            <a:ext cx="228600" cy="2286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2563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CFFDC965-C1B0-D868-4B18-1EA4C8EFDC20}"/>
              </a:ext>
            </a:extLst>
          </p:cNvPr>
          <p:cNvSpPr/>
          <p:nvPr/>
        </p:nvSpPr>
        <p:spPr>
          <a:xfrm>
            <a:off x="3505200" y="3937000"/>
            <a:ext cx="2489200" cy="1219200"/>
          </a:xfrm>
          <a:prstGeom prst="roundRect">
            <a:avLst>
              <a:gd name="adj" fmla="val 10000"/>
            </a:avLst>
          </a:prstGeom>
          <a:solidFill>
            <a:srgbClr val="E9F0F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87FC4F2F-056E-7D18-3E67-40BDC71A9C3B}"/>
              </a:ext>
            </a:extLst>
          </p:cNvPr>
          <p:cNvSpPr txBox="1"/>
          <p:nvPr/>
        </p:nvSpPr>
        <p:spPr>
          <a:xfrm>
            <a:off x="3708400" y="4165600"/>
            <a:ext cx="2082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45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PC </a:t>
            </a:r>
            <a:r>
              <a:rPr kumimoji="1" lang="ja-JP" altLang="en-US" sz="145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電源オフ</a:t>
            </a: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190B99FD-16D1-A3A2-5C5D-524463B2841A}"/>
              </a:ext>
            </a:extLst>
          </p:cNvPr>
          <p:cNvSpPr txBox="1"/>
          <p:nvPr/>
        </p:nvSpPr>
        <p:spPr>
          <a:xfrm>
            <a:off x="3708400" y="4521200"/>
            <a:ext cx="2082800" cy="457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kumimoji="1" lang="ja-JP" altLang="en-US" sz="11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任意。無効にもできる</a:t>
            </a: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99A08EE0-3D24-F697-D869-AE9445667AD9}"/>
              </a:ext>
            </a:extLst>
          </p:cNvPr>
          <p:cNvSpPr txBox="1"/>
          <p:nvPr/>
        </p:nvSpPr>
        <p:spPr>
          <a:xfrm>
            <a:off x="6197600" y="2743200"/>
            <a:ext cx="24892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ja-JP" altLang="en-US" sz="170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翌朝</a:t>
            </a:r>
          </a:p>
        </p:txBody>
      </p:sp>
      <p:sp>
        <p:nvSpPr>
          <p:cNvPr id="24" name="楕円 23">
            <a:extLst>
              <a:ext uri="{FF2B5EF4-FFF2-40B4-BE49-F238E27FC236}">
                <a16:creationId xmlns:a16="http://schemas.microsoft.com/office/drawing/2014/main" id="{D52A29E4-4909-2605-3083-533181D603A3}"/>
              </a:ext>
            </a:extLst>
          </p:cNvPr>
          <p:cNvSpPr/>
          <p:nvPr/>
        </p:nvSpPr>
        <p:spPr>
          <a:xfrm>
            <a:off x="7327900" y="3454400"/>
            <a:ext cx="228600" cy="2286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0F8E9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四角形: 角を丸くする 24">
            <a:extLst>
              <a:ext uri="{FF2B5EF4-FFF2-40B4-BE49-F238E27FC236}">
                <a16:creationId xmlns:a16="http://schemas.microsoft.com/office/drawing/2014/main" id="{55B867C7-EBCE-0E6C-18E3-4827E805ABEA}"/>
              </a:ext>
            </a:extLst>
          </p:cNvPr>
          <p:cNvSpPr/>
          <p:nvPr/>
        </p:nvSpPr>
        <p:spPr>
          <a:xfrm>
            <a:off x="6197600" y="3937000"/>
            <a:ext cx="2489200" cy="1219200"/>
          </a:xfrm>
          <a:prstGeom prst="roundRect">
            <a:avLst>
              <a:gd name="adj" fmla="val 10000"/>
            </a:avLst>
          </a:prstGeom>
          <a:solidFill>
            <a:srgbClr val="E3F4F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AB9D29CC-6189-F376-5796-8EB0EE8DF1FE}"/>
              </a:ext>
            </a:extLst>
          </p:cNvPr>
          <p:cNvSpPr txBox="1"/>
          <p:nvPr/>
        </p:nvSpPr>
        <p:spPr>
          <a:xfrm>
            <a:off x="6400800" y="4165600"/>
            <a:ext cx="2082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45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PC </a:t>
            </a:r>
            <a:r>
              <a:rPr kumimoji="1" lang="ja-JP" altLang="en-US" sz="145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起動・ログオン</a:t>
            </a: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99ACE78B-265A-1920-FAA7-A805A8848A1D}"/>
              </a:ext>
            </a:extLst>
          </p:cNvPr>
          <p:cNvSpPr txBox="1"/>
          <p:nvPr/>
        </p:nvSpPr>
        <p:spPr>
          <a:xfrm>
            <a:off x="6400800" y="4521200"/>
            <a:ext cx="2082800" cy="457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kumimoji="1" lang="ja-JP" altLang="en-US" sz="11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出勤時や電源スケジュールで</a:t>
            </a: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7E6D0A1A-C26A-88A5-E027-08BD73FA86B0}"/>
              </a:ext>
            </a:extLst>
          </p:cNvPr>
          <p:cNvSpPr txBox="1"/>
          <p:nvPr/>
        </p:nvSpPr>
        <p:spPr>
          <a:xfrm>
            <a:off x="8890000" y="2743200"/>
            <a:ext cx="24892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ja-JP" altLang="en-US" sz="170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自動</a:t>
            </a:r>
          </a:p>
        </p:txBody>
      </p:sp>
      <p:sp>
        <p:nvSpPr>
          <p:cNvPr id="29" name="楕円 28">
            <a:extLst>
              <a:ext uri="{FF2B5EF4-FFF2-40B4-BE49-F238E27FC236}">
                <a16:creationId xmlns:a16="http://schemas.microsoft.com/office/drawing/2014/main" id="{C732DDE5-D02A-B09F-9578-AB8E6D71FA57}"/>
              </a:ext>
            </a:extLst>
          </p:cNvPr>
          <p:cNvSpPr/>
          <p:nvPr/>
        </p:nvSpPr>
        <p:spPr>
          <a:xfrm>
            <a:off x="10020300" y="3454400"/>
            <a:ext cx="228600" cy="2286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0F8E9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四角形: 角を丸くする 29">
            <a:extLst>
              <a:ext uri="{FF2B5EF4-FFF2-40B4-BE49-F238E27FC236}">
                <a16:creationId xmlns:a16="http://schemas.microsoft.com/office/drawing/2014/main" id="{DF8B7C0A-3DE0-1E30-DC2F-13D5FD13395E}"/>
              </a:ext>
            </a:extLst>
          </p:cNvPr>
          <p:cNvSpPr/>
          <p:nvPr/>
        </p:nvSpPr>
        <p:spPr>
          <a:xfrm>
            <a:off x="8890000" y="3937000"/>
            <a:ext cx="2489200" cy="1219200"/>
          </a:xfrm>
          <a:prstGeom prst="roundRect">
            <a:avLst>
              <a:gd name="adj" fmla="val 10000"/>
            </a:avLst>
          </a:prstGeom>
          <a:solidFill>
            <a:srgbClr val="E3F4F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823B533C-256C-5225-B9A7-E9C1E6409262}"/>
              </a:ext>
            </a:extLst>
          </p:cNvPr>
          <p:cNvSpPr txBox="1"/>
          <p:nvPr/>
        </p:nvSpPr>
        <p:spPr>
          <a:xfrm>
            <a:off x="9093200" y="4165600"/>
            <a:ext cx="2082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ja-JP" altLang="en-US" sz="145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サイネージ開始</a:t>
            </a: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A87C7A21-2034-8FF4-FABD-35894D56A617}"/>
              </a:ext>
            </a:extLst>
          </p:cNvPr>
          <p:cNvSpPr txBox="1"/>
          <p:nvPr/>
        </p:nvSpPr>
        <p:spPr>
          <a:xfrm>
            <a:off x="9093200" y="4521200"/>
            <a:ext cx="2082800" cy="457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kumimoji="1" lang="en-US" altLang="ja-JP" sz="11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Windows </a:t>
            </a:r>
            <a:r>
              <a:rPr kumimoji="1" lang="ja-JP" altLang="en-US" sz="11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自動起動が </a:t>
            </a:r>
            <a:r>
              <a:rPr kumimoji="1" lang="en-US" altLang="ja-JP" sz="11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ON </a:t>
            </a:r>
            <a:r>
              <a:rPr kumimoji="1" lang="ja-JP" altLang="en-US" sz="11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なら</a:t>
            </a:r>
          </a:p>
        </p:txBody>
      </p:sp>
      <p:sp>
        <p:nvSpPr>
          <p:cNvPr id="33" name="四角形: 角を丸くする 32">
            <a:extLst>
              <a:ext uri="{FF2B5EF4-FFF2-40B4-BE49-F238E27FC236}">
                <a16:creationId xmlns:a16="http://schemas.microsoft.com/office/drawing/2014/main" id="{98DC5847-C1F0-211F-94D4-58B9C8080FF7}"/>
              </a:ext>
            </a:extLst>
          </p:cNvPr>
          <p:cNvSpPr/>
          <p:nvPr/>
        </p:nvSpPr>
        <p:spPr>
          <a:xfrm>
            <a:off x="812800" y="5435600"/>
            <a:ext cx="10566400" cy="762000"/>
          </a:xfrm>
          <a:prstGeom prst="roundRect">
            <a:avLst>
              <a:gd name="adj" fmla="val 12000"/>
            </a:avLst>
          </a:prstGeom>
          <a:solidFill>
            <a:srgbClr val="F5F7F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72AC4C7E-4C0F-11C6-D805-6CEB70C4C248}"/>
              </a:ext>
            </a:extLst>
          </p:cNvPr>
          <p:cNvSpPr/>
          <p:nvPr/>
        </p:nvSpPr>
        <p:spPr>
          <a:xfrm>
            <a:off x="812800" y="5435600"/>
            <a:ext cx="50800" cy="762000"/>
          </a:xfrm>
          <a:prstGeom prst="rect">
            <a:avLst/>
          </a:prstGeom>
          <a:solidFill>
            <a:srgbClr val="8794A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22968ED0-6537-6B67-58D4-F1EDE3F37C08}"/>
              </a:ext>
            </a:extLst>
          </p:cNvPr>
          <p:cNvSpPr txBox="1"/>
          <p:nvPr/>
        </p:nvSpPr>
        <p:spPr>
          <a:xfrm>
            <a:off x="1092200" y="5435600"/>
            <a:ext cx="551942" cy="762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150" b="1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補足</a:t>
            </a: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08052EE5-FB35-1650-8813-5D578B691034}"/>
              </a:ext>
            </a:extLst>
          </p:cNvPr>
          <p:cNvSpPr txBox="1"/>
          <p:nvPr/>
        </p:nvSpPr>
        <p:spPr>
          <a:xfrm>
            <a:off x="1644142" y="5435600"/>
            <a:ext cx="9455658" cy="762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25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アプリ終了時刻を有効にすると、</a:t>
            </a: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PC 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電源オフの初期値はその </a:t>
            </a: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3 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分後になります（変更可）。電源オフに失敗した場合はログに記録されるため、社内の </a:t>
            </a: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PC 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管理ポリシーを確認してください。</a:t>
            </a:r>
          </a:p>
        </p:txBody>
      </p:sp>
    </p:spTree>
    <p:extLst>
      <p:ext uri="{BB962C8B-B14F-4D97-AF65-F5344CB8AC3E}">
        <p14:creationId xmlns:p14="http://schemas.microsoft.com/office/powerpoint/2010/main" val="22284137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0CD0CDBD-D631-107B-86A6-231E48ACE2F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BE8BCE28-BCC6-CE63-46F3-05F92BD0D202}"/>
              </a:ext>
            </a:extLst>
          </p:cNvPr>
          <p:cNvSpPr/>
          <p:nvPr/>
        </p:nvSpPr>
        <p:spPr>
          <a:xfrm>
            <a:off x="812800" y="584200"/>
            <a:ext cx="63500" cy="5842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C5F4BB3-24A9-7FB2-1ADD-41E3B41DE6C0}"/>
              </a:ext>
            </a:extLst>
          </p:cNvPr>
          <p:cNvSpPr txBox="1"/>
          <p:nvPr/>
        </p:nvSpPr>
        <p:spPr>
          <a:xfrm>
            <a:off x="1028700" y="571500"/>
            <a:ext cx="7620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05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FOR ADMINISTRATOR</a:t>
            </a:r>
            <a:endParaRPr kumimoji="1" lang="ja-JP" altLang="en-US" sz="1050" b="1">
              <a:solidFill>
                <a:srgbClr val="2563EB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37148D3-6393-CC02-18D9-754955DF506C}"/>
              </a:ext>
            </a:extLst>
          </p:cNvPr>
          <p:cNvSpPr txBox="1"/>
          <p:nvPr/>
        </p:nvSpPr>
        <p:spPr>
          <a:xfrm>
            <a:off x="1028700" y="774700"/>
            <a:ext cx="8128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アプリの終了とログの場所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C3A7AE3-ACD4-63FE-E132-3A997EF16273}"/>
              </a:ext>
            </a:extLst>
          </p:cNvPr>
          <p:cNvSpPr/>
          <p:nvPr/>
        </p:nvSpPr>
        <p:spPr>
          <a:xfrm>
            <a:off x="812800" y="1498600"/>
            <a:ext cx="10566400" cy="12700"/>
          </a:xfrm>
          <a:prstGeom prst="rect">
            <a:avLst/>
          </a:prstGeom>
          <a:solidFill>
            <a:srgbClr val="DEE5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7C10AD60-EE45-22DE-5539-9C1232F93DA1}"/>
              </a:ext>
            </a:extLst>
          </p:cNvPr>
          <p:cNvSpPr/>
          <p:nvPr/>
        </p:nvSpPr>
        <p:spPr>
          <a:xfrm>
            <a:off x="10006203" y="736600"/>
            <a:ext cx="1372997" cy="3302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6699026F-F474-775D-E70A-480FBB53A8BE}"/>
              </a:ext>
            </a:extLst>
          </p:cNvPr>
          <p:cNvSpPr txBox="1"/>
          <p:nvPr/>
        </p:nvSpPr>
        <p:spPr>
          <a:xfrm>
            <a:off x="10006203" y="736600"/>
            <a:ext cx="1372997" cy="330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ja-JP" altLang="en-US" sz="115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システム管理者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BB0781C8-018C-C838-F5E7-3558169EACA8}"/>
              </a:ext>
            </a:extLst>
          </p:cNvPr>
          <p:cNvSpPr txBox="1"/>
          <p:nvPr/>
        </p:nvSpPr>
        <p:spPr>
          <a:xfrm>
            <a:off x="812800" y="6375400"/>
            <a:ext cx="6604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簡単！シンプル！サイネージ ｜ 操作ガイド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AC2446E6-3664-A2F2-4858-4920F617A592}"/>
              </a:ext>
            </a:extLst>
          </p:cNvPr>
          <p:cNvSpPr txBox="1"/>
          <p:nvPr/>
        </p:nvSpPr>
        <p:spPr>
          <a:xfrm>
            <a:off x="10109200" y="6375400"/>
            <a:ext cx="127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kumimoji="1" lang="en-US" altLang="ja-JP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14</a:t>
            </a:r>
            <a:endParaRPr kumimoji="1" lang="ja-JP" altLang="en-US" sz="900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E75F9E82-CAEB-FBF8-AC36-F490CB8548C6}"/>
              </a:ext>
            </a:extLst>
          </p:cNvPr>
          <p:cNvSpPr/>
          <p:nvPr/>
        </p:nvSpPr>
        <p:spPr>
          <a:xfrm>
            <a:off x="812800" y="1905000"/>
            <a:ext cx="5130800" cy="3708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AA8662B3-4B1B-F528-6D89-8A9E38AC6E46}"/>
              </a:ext>
            </a:extLst>
          </p:cNvPr>
          <p:cNvSpPr/>
          <p:nvPr/>
        </p:nvSpPr>
        <p:spPr>
          <a:xfrm>
            <a:off x="812800" y="1905000"/>
            <a:ext cx="5130800" cy="635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2F891A6B-388C-D3FF-BBB4-1522B85B316C}"/>
              </a:ext>
            </a:extLst>
          </p:cNvPr>
          <p:cNvSpPr txBox="1"/>
          <p:nvPr/>
        </p:nvSpPr>
        <p:spPr>
          <a:xfrm>
            <a:off x="1143000" y="2286000"/>
            <a:ext cx="4470400" cy="355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9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アプリを終了する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AF716112-BF39-F8AE-8734-F0B617E1B818}"/>
              </a:ext>
            </a:extLst>
          </p:cNvPr>
          <p:cNvSpPr txBox="1"/>
          <p:nvPr/>
        </p:nvSpPr>
        <p:spPr>
          <a:xfrm>
            <a:off x="1143000" y="2870200"/>
            <a:ext cx="44704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30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管理画面から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D865DBA6-A39F-C87E-A912-9094D09DBE79}"/>
              </a:ext>
            </a:extLst>
          </p:cNvPr>
          <p:cNvSpPr txBox="1"/>
          <p:nvPr/>
        </p:nvSpPr>
        <p:spPr>
          <a:xfrm>
            <a:off x="1143000" y="3149600"/>
            <a:ext cx="44704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Ctrl 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＋ </a:t>
            </a: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Shift 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＋ </a:t>
            </a: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M →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「アプリを終了」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09A7C82A-8476-5F60-37AD-52C4507EC030}"/>
              </a:ext>
            </a:extLst>
          </p:cNvPr>
          <p:cNvSpPr txBox="1"/>
          <p:nvPr/>
        </p:nvSpPr>
        <p:spPr>
          <a:xfrm>
            <a:off x="1143000" y="3683000"/>
            <a:ext cx="44704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30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管理画面を閉じる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B3EDB487-DA2E-F452-AF64-E8A61D000A65}"/>
              </a:ext>
            </a:extLst>
          </p:cNvPr>
          <p:cNvSpPr txBox="1"/>
          <p:nvPr/>
        </p:nvSpPr>
        <p:spPr>
          <a:xfrm>
            <a:off x="1143000" y="3962400"/>
            <a:ext cx="44704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管理画面の </a:t>
            </a: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× 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ボタンで閉じるとアプリも終了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F0FADF39-36BF-B3AA-8ED1-B582FC67DE1A}"/>
              </a:ext>
            </a:extLst>
          </p:cNvPr>
          <p:cNvSpPr txBox="1"/>
          <p:nvPr/>
        </p:nvSpPr>
        <p:spPr>
          <a:xfrm>
            <a:off x="1143000" y="4495800"/>
            <a:ext cx="44704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30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スケジュール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A0CC6D2E-F140-ED4E-CDD3-CECD0E991BD2}"/>
              </a:ext>
            </a:extLst>
          </p:cNvPr>
          <p:cNvSpPr txBox="1"/>
          <p:nvPr/>
        </p:nvSpPr>
        <p:spPr>
          <a:xfrm>
            <a:off x="1143000" y="4775200"/>
            <a:ext cx="44704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設定した終了時刻に到達すると自動で終了</a:t>
            </a:r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472B2E9C-106A-508A-EA72-2EF1EDF9131E}"/>
              </a:ext>
            </a:extLst>
          </p:cNvPr>
          <p:cNvSpPr/>
          <p:nvPr/>
        </p:nvSpPr>
        <p:spPr>
          <a:xfrm>
            <a:off x="6248400" y="1905000"/>
            <a:ext cx="5130800" cy="3708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C7DA7BA8-A382-5282-83A6-6B21F426A520}"/>
              </a:ext>
            </a:extLst>
          </p:cNvPr>
          <p:cNvSpPr/>
          <p:nvPr/>
        </p:nvSpPr>
        <p:spPr>
          <a:xfrm>
            <a:off x="6248400" y="1905000"/>
            <a:ext cx="5130800" cy="63500"/>
          </a:xfrm>
          <a:prstGeom prst="rect">
            <a:avLst/>
          </a:prstGeom>
          <a:solidFill>
            <a:srgbClr val="B4690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7C509BCA-D8BF-D4AE-9CF2-F7651FE2FBF8}"/>
              </a:ext>
            </a:extLst>
          </p:cNvPr>
          <p:cNvSpPr txBox="1"/>
          <p:nvPr/>
        </p:nvSpPr>
        <p:spPr>
          <a:xfrm>
            <a:off x="6578600" y="2286000"/>
            <a:ext cx="4470400" cy="355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9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ログを確認する</a:t>
            </a: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F4DE8FDC-D67C-2FBD-343B-7568D428660B}"/>
              </a:ext>
            </a:extLst>
          </p:cNvPr>
          <p:cNvSpPr txBox="1"/>
          <p:nvPr/>
        </p:nvSpPr>
        <p:spPr>
          <a:xfrm>
            <a:off x="6578600" y="2743200"/>
            <a:ext cx="44704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表示に問題があるときは、管理者がログを確認できます。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DA009BE1-4C8A-D580-008E-59C0BA51C8F5}"/>
              </a:ext>
            </a:extLst>
          </p:cNvPr>
          <p:cNvSpPr/>
          <p:nvPr/>
        </p:nvSpPr>
        <p:spPr>
          <a:xfrm>
            <a:off x="6578600" y="3175000"/>
            <a:ext cx="38100" cy="508000"/>
          </a:xfrm>
          <a:prstGeom prst="rect">
            <a:avLst/>
          </a:prstGeom>
          <a:solidFill>
            <a:srgbClr val="FDF3E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83F6A048-C968-F880-18A2-224098426985}"/>
              </a:ext>
            </a:extLst>
          </p:cNvPr>
          <p:cNvSpPr txBox="1"/>
          <p:nvPr/>
        </p:nvSpPr>
        <p:spPr>
          <a:xfrm>
            <a:off x="6781800" y="3124200"/>
            <a:ext cx="4470400" cy="228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150" b="1">
                <a:solidFill>
                  <a:srgbClr val="B4690E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場所</a:t>
            </a: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AAB23264-20AF-41F4-7C4E-1C9CCDD9C97A}"/>
              </a:ext>
            </a:extLst>
          </p:cNvPr>
          <p:cNvSpPr txBox="1"/>
          <p:nvPr/>
        </p:nvSpPr>
        <p:spPr>
          <a:xfrm>
            <a:off x="6781800" y="3378200"/>
            <a:ext cx="42672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この </a:t>
            </a: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PC 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の </a:t>
            </a: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LocalAppData\PdfSignage\logs</a:t>
            </a:r>
            <a:endParaRPr kumimoji="1" lang="ja-JP" altLang="en-US" sz="1250">
              <a:solidFill>
                <a:srgbClr val="465263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C17B472E-2E4B-F83A-EEBE-99E515DFA9AA}"/>
              </a:ext>
            </a:extLst>
          </p:cNvPr>
          <p:cNvSpPr/>
          <p:nvPr/>
        </p:nvSpPr>
        <p:spPr>
          <a:xfrm>
            <a:off x="6578600" y="3886200"/>
            <a:ext cx="38100" cy="508000"/>
          </a:xfrm>
          <a:prstGeom prst="rect">
            <a:avLst/>
          </a:prstGeom>
          <a:solidFill>
            <a:srgbClr val="FDF3E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81C8AAB7-6C70-9F38-0E09-4F815EEAEC9C}"/>
              </a:ext>
            </a:extLst>
          </p:cNvPr>
          <p:cNvSpPr txBox="1"/>
          <p:nvPr/>
        </p:nvSpPr>
        <p:spPr>
          <a:xfrm>
            <a:off x="6781800" y="3835400"/>
            <a:ext cx="4470400" cy="228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150" b="1">
                <a:solidFill>
                  <a:srgbClr val="B4690E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確認</a:t>
            </a: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679DC9E2-BD43-DC55-6385-CCE21C5055F0}"/>
              </a:ext>
            </a:extLst>
          </p:cNvPr>
          <p:cNvSpPr txBox="1"/>
          <p:nvPr/>
        </p:nvSpPr>
        <p:spPr>
          <a:xfrm>
            <a:off x="6781800" y="4089400"/>
            <a:ext cx="42672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管理画面の「ログフォルダ」に実パスが出る</a:t>
            </a:r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96CF41E1-EDA9-034F-5280-A8E6E74F104A}"/>
              </a:ext>
            </a:extLst>
          </p:cNvPr>
          <p:cNvSpPr/>
          <p:nvPr/>
        </p:nvSpPr>
        <p:spPr>
          <a:xfrm>
            <a:off x="6578600" y="4597400"/>
            <a:ext cx="38100" cy="508000"/>
          </a:xfrm>
          <a:prstGeom prst="rect">
            <a:avLst/>
          </a:prstGeom>
          <a:solidFill>
            <a:srgbClr val="FDF3E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7CA893E5-93B0-03AD-F3ED-2CCA6ABE3090}"/>
              </a:ext>
            </a:extLst>
          </p:cNvPr>
          <p:cNvSpPr txBox="1"/>
          <p:nvPr/>
        </p:nvSpPr>
        <p:spPr>
          <a:xfrm>
            <a:off x="6781800" y="4546600"/>
            <a:ext cx="4470400" cy="228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150" b="1">
                <a:solidFill>
                  <a:srgbClr val="B4690E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保存期間</a:t>
            </a: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5DED035A-2C52-FFCD-CACC-B5070C13B583}"/>
              </a:ext>
            </a:extLst>
          </p:cNvPr>
          <p:cNvSpPr txBox="1"/>
          <p:nvPr/>
        </p:nvSpPr>
        <p:spPr>
          <a:xfrm>
            <a:off x="6781800" y="4800600"/>
            <a:ext cx="42672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7 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日間（古いログは自動削除）</a:t>
            </a:r>
          </a:p>
        </p:txBody>
      </p:sp>
    </p:spTree>
    <p:extLst>
      <p:ext uri="{BB962C8B-B14F-4D97-AF65-F5344CB8AC3E}">
        <p14:creationId xmlns:p14="http://schemas.microsoft.com/office/powerpoint/2010/main" val="12360902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1A1805DA-716C-2D99-518F-46DA950D1A8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1C39BF94-5D87-D49D-9355-CB5B8D71D08D}"/>
              </a:ext>
            </a:extLst>
          </p:cNvPr>
          <p:cNvSpPr/>
          <p:nvPr/>
        </p:nvSpPr>
        <p:spPr>
          <a:xfrm>
            <a:off x="812800" y="584200"/>
            <a:ext cx="63500" cy="5842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2CD2EEFB-562E-6E0B-464D-9F26773BF23B}"/>
              </a:ext>
            </a:extLst>
          </p:cNvPr>
          <p:cNvSpPr txBox="1"/>
          <p:nvPr/>
        </p:nvSpPr>
        <p:spPr>
          <a:xfrm>
            <a:off x="1028700" y="571500"/>
            <a:ext cx="7620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05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FAQ</a:t>
            </a:r>
            <a:endParaRPr kumimoji="1" lang="ja-JP" altLang="en-US" sz="1050" b="1">
              <a:solidFill>
                <a:srgbClr val="2563EB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09A0CB8-66F6-519C-1B98-C1AA72FF4B4E}"/>
              </a:ext>
            </a:extLst>
          </p:cNvPr>
          <p:cNvSpPr txBox="1"/>
          <p:nvPr/>
        </p:nvSpPr>
        <p:spPr>
          <a:xfrm>
            <a:off x="1028700" y="774700"/>
            <a:ext cx="8128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よくある質問（</a:t>
            </a:r>
            <a:r>
              <a:rPr kumimoji="1" lang="en-US" altLang="ja-JP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1/3</a:t>
            </a: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）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2A2E908-5ADF-526C-2F02-0073F5069F0E}"/>
              </a:ext>
            </a:extLst>
          </p:cNvPr>
          <p:cNvSpPr/>
          <p:nvPr/>
        </p:nvSpPr>
        <p:spPr>
          <a:xfrm>
            <a:off x="812800" y="1498600"/>
            <a:ext cx="10566400" cy="12700"/>
          </a:xfrm>
          <a:prstGeom prst="rect">
            <a:avLst/>
          </a:prstGeom>
          <a:solidFill>
            <a:srgbClr val="DEE5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B351FB3-3B43-F019-38F1-83EC05F9CFFC}"/>
              </a:ext>
            </a:extLst>
          </p:cNvPr>
          <p:cNvSpPr txBox="1"/>
          <p:nvPr/>
        </p:nvSpPr>
        <p:spPr>
          <a:xfrm>
            <a:off x="812800" y="6375400"/>
            <a:ext cx="6604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簡単！シンプル！サイネージ ｜ 操作ガイド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1F8076D2-9095-CC59-0744-429DD40BA6FC}"/>
              </a:ext>
            </a:extLst>
          </p:cNvPr>
          <p:cNvSpPr txBox="1"/>
          <p:nvPr/>
        </p:nvSpPr>
        <p:spPr>
          <a:xfrm>
            <a:off x="10109200" y="6375400"/>
            <a:ext cx="127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kumimoji="1" lang="en-US" altLang="ja-JP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15</a:t>
            </a:r>
            <a:endParaRPr kumimoji="1" lang="ja-JP" altLang="en-US" sz="900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FCF0925C-C8B5-BBDB-4F86-49AACC2C2302}"/>
              </a:ext>
            </a:extLst>
          </p:cNvPr>
          <p:cNvSpPr/>
          <p:nvPr/>
        </p:nvSpPr>
        <p:spPr>
          <a:xfrm>
            <a:off x="812800" y="1930400"/>
            <a:ext cx="10566400" cy="1168400"/>
          </a:xfrm>
          <a:prstGeom prst="roundRect">
            <a:avLst>
              <a:gd name="adj" fmla="val 16000"/>
            </a:avLst>
          </a:prstGeom>
          <a:solidFill>
            <a:srgbClr val="F5F7F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楕円 9">
            <a:extLst>
              <a:ext uri="{FF2B5EF4-FFF2-40B4-BE49-F238E27FC236}">
                <a16:creationId xmlns:a16="http://schemas.microsoft.com/office/drawing/2014/main" id="{6823B9DC-9AB3-8068-6FB8-877CB785170D}"/>
              </a:ext>
            </a:extLst>
          </p:cNvPr>
          <p:cNvSpPr/>
          <p:nvPr/>
        </p:nvSpPr>
        <p:spPr>
          <a:xfrm>
            <a:off x="1092200" y="2184400"/>
            <a:ext cx="381000" cy="381000"/>
          </a:xfrm>
          <a:prstGeom prst="ellipse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9BF0E47C-3D97-98C3-155C-AC7842527D0C}"/>
              </a:ext>
            </a:extLst>
          </p:cNvPr>
          <p:cNvSpPr txBox="1"/>
          <p:nvPr/>
        </p:nvSpPr>
        <p:spPr>
          <a:xfrm>
            <a:off x="1092200" y="2184400"/>
            <a:ext cx="381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4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Q</a:t>
            </a:r>
            <a:endParaRPr kumimoji="1" lang="ja-JP" altLang="en-US" sz="1400" b="1">
              <a:solidFill>
                <a:srgbClr val="FFFFFF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3A1BED1B-FB84-8C72-35ED-E7724FA9BC66}"/>
              </a:ext>
            </a:extLst>
          </p:cNvPr>
          <p:cNvSpPr txBox="1"/>
          <p:nvPr/>
        </p:nvSpPr>
        <p:spPr>
          <a:xfrm>
            <a:off x="1651000" y="2159000"/>
            <a:ext cx="93472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45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ファイルを入れたのに、すぐ変わりません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1D688BA6-250C-1296-DA95-F456B73F7482}"/>
              </a:ext>
            </a:extLst>
          </p:cNvPr>
          <p:cNvSpPr txBox="1"/>
          <p:nvPr/>
        </p:nvSpPr>
        <p:spPr>
          <a:xfrm>
            <a:off x="1651000" y="2501900"/>
            <a:ext cx="93472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いま表示中のスライドが終わるまで待ちます。動画の場合は再生が完了するまで切り替わりません。</a:t>
            </a:r>
          </a:p>
        </p:txBody>
      </p: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CE05D059-10D7-9181-226F-6CB8B7F37F92}"/>
              </a:ext>
            </a:extLst>
          </p:cNvPr>
          <p:cNvSpPr/>
          <p:nvPr/>
        </p:nvSpPr>
        <p:spPr>
          <a:xfrm>
            <a:off x="812800" y="3251200"/>
            <a:ext cx="10566400" cy="1168400"/>
          </a:xfrm>
          <a:prstGeom prst="roundRect">
            <a:avLst>
              <a:gd name="adj" fmla="val 16000"/>
            </a:avLst>
          </a:prstGeom>
          <a:solidFill>
            <a:srgbClr val="F5F7F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楕円 14">
            <a:extLst>
              <a:ext uri="{FF2B5EF4-FFF2-40B4-BE49-F238E27FC236}">
                <a16:creationId xmlns:a16="http://schemas.microsoft.com/office/drawing/2014/main" id="{0F0E9C3F-CCD9-51E5-BFFB-AD75086AA57C}"/>
              </a:ext>
            </a:extLst>
          </p:cNvPr>
          <p:cNvSpPr/>
          <p:nvPr/>
        </p:nvSpPr>
        <p:spPr>
          <a:xfrm>
            <a:off x="1092200" y="3505200"/>
            <a:ext cx="381000" cy="381000"/>
          </a:xfrm>
          <a:prstGeom prst="ellipse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3037F71F-3A65-4576-1745-5E3F0CAB3D61}"/>
              </a:ext>
            </a:extLst>
          </p:cNvPr>
          <p:cNvSpPr txBox="1"/>
          <p:nvPr/>
        </p:nvSpPr>
        <p:spPr>
          <a:xfrm>
            <a:off x="1092200" y="3505200"/>
            <a:ext cx="381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4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Q</a:t>
            </a:r>
            <a:endParaRPr kumimoji="1" lang="ja-JP" altLang="en-US" sz="1400" b="1">
              <a:solidFill>
                <a:srgbClr val="FFFFFF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D5B842CC-41FD-CD5F-969F-45361C725D2B}"/>
              </a:ext>
            </a:extLst>
          </p:cNvPr>
          <p:cNvSpPr txBox="1"/>
          <p:nvPr/>
        </p:nvSpPr>
        <p:spPr>
          <a:xfrm>
            <a:off x="1651000" y="3479800"/>
            <a:ext cx="93472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45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サブフォルダに入れたファイルが表示されません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8A5E5359-3D90-6969-23D6-D68CFEDEAF1F}"/>
              </a:ext>
            </a:extLst>
          </p:cNvPr>
          <p:cNvSpPr txBox="1"/>
          <p:nvPr/>
        </p:nvSpPr>
        <p:spPr>
          <a:xfrm>
            <a:off x="1651000" y="3822700"/>
            <a:ext cx="93472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監視フォルダの直下だけが対象です。ファイルを一つ上のフォルダへ移動してください。</a:t>
            </a:r>
          </a:p>
        </p:txBody>
      </p: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12AE1FFC-2B50-C8DE-7EE2-80D988759885}"/>
              </a:ext>
            </a:extLst>
          </p:cNvPr>
          <p:cNvSpPr/>
          <p:nvPr/>
        </p:nvSpPr>
        <p:spPr>
          <a:xfrm>
            <a:off x="812800" y="4572000"/>
            <a:ext cx="10566400" cy="1168400"/>
          </a:xfrm>
          <a:prstGeom prst="roundRect">
            <a:avLst>
              <a:gd name="adj" fmla="val 16000"/>
            </a:avLst>
          </a:prstGeom>
          <a:solidFill>
            <a:srgbClr val="F5F7F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楕円 19">
            <a:extLst>
              <a:ext uri="{FF2B5EF4-FFF2-40B4-BE49-F238E27FC236}">
                <a16:creationId xmlns:a16="http://schemas.microsoft.com/office/drawing/2014/main" id="{D2CEE5A9-601D-7114-7154-36B580118737}"/>
              </a:ext>
            </a:extLst>
          </p:cNvPr>
          <p:cNvSpPr/>
          <p:nvPr/>
        </p:nvSpPr>
        <p:spPr>
          <a:xfrm>
            <a:off x="1092200" y="4826000"/>
            <a:ext cx="381000" cy="381000"/>
          </a:xfrm>
          <a:prstGeom prst="ellipse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EFE48E74-C8A0-CED7-C720-87C3280ABFEA}"/>
              </a:ext>
            </a:extLst>
          </p:cNvPr>
          <p:cNvSpPr txBox="1"/>
          <p:nvPr/>
        </p:nvSpPr>
        <p:spPr>
          <a:xfrm>
            <a:off x="1092200" y="4826000"/>
            <a:ext cx="381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4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Q</a:t>
            </a:r>
            <a:endParaRPr kumimoji="1" lang="ja-JP" altLang="en-US" sz="1400" b="1">
              <a:solidFill>
                <a:srgbClr val="FFFFFF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6CA8C61F-877B-9826-CABE-9B8E96FD4D50}"/>
              </a:ext>
            </a:extLst>
          </p:cNvPr>
          <p:cNvSpPr txBox="1"/>
          <p:nvPr/>
        </p:nvSpPr>
        <p:spPr>
          <a:xfrm>
            <a:off x="1651000" y="4800600"/>
            <a:ext cx="93472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45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管理画面が開けません</a:t>
            </a: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11377E4C-5B53-F91D-1E60-392F0146EEDD}"/>
              </a:ext>
            </a:extLst>
          </p:cNvPr>
          <p:cNvSpPr txBox="1"/>
          <p:nvPr/>
        </p:nvSpPr>
        <p:spPr>
          <a:xfrm>
            <a:off x="1651000" y="5143500"/>
            <a:ext cx="93472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Ctrl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</a:t>
            </a: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Shift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</a:t>
            </a: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M 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を同時に押してください。キオスク表示の画面がアクティブな状態で試すのがポイントです。</a:t>
            </a:r>
          </a:p>
        </p:txBody>
      </p:sp>
    </p:spTree>
    <p:extLst>
      <p:ext uri="{BB962C8B-B14F-4D97-AF65-F5344CB8AC3E}">
        <p14:creationId xmlns:p14="http://schemas.microsoft.com/office/powerpoint/2010/main" val="2584513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46E80978-4C8D-A91C-B6FA-3C98FE1C458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223F85D4-4F01-25A3-E2A1-FFE99F054DDB}"/>
              </a:ext>
            </a:extLst>
          </p:cNvPr>
          <p:cNvSpPr/>
          <p:nvPr/>
        </p:nvSpPr>
        <p:spPr>
          <a:xfrm>
            <a:off x="812800" y="584200"/>
            <a:ext cx="63500" cy="5842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24E541B1-6FC0-241B-2338-9F1398A2D962}"/>
              </a:ext>
            </a:extLst>
          </p:cNvPr>
          <p:cNvSpPr txBox="1"/>
          <p:nvPr/>
        </p:nvSpPr>
        <p:spPr>
          <a:xfrm>
            <a:off x="1028700" y="571500"/>
            <a:ext cx="7620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05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FAQ</a:t>
            </a:r>
            <a:endParaRPr kumimoji="1" lang="ja-JP" altLang="en-US" sz="1050" b="1">
              <a:solidFill>
                <a:srgbClr val="2563EB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C6F961E-CE86-9B5E-12B0-E53ADFEE3DF8}"/>
              </a:ext>
            </a:extLst>
          </p:cNvPr>
          <p:cNvSpPr txBox="1"/>
          <p:nvPr/>
        </p:nvSpPr>
        <p:spPr>
          <a:xfrm>
            <a:off x="1028700" y="774700"/>
            <a:ext cx="8128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よくある質問（</a:t>
            </a:r>
            <a:r>
              <a:rPr kumimoji="1" lang="en-US" altLang="ja-JP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2/3</a:t>
            </a: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）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9098A252-965B-0E12-34D7-D60430AD7FA4}"/>
              </a:ext>
            </a:extLst>
          </p:cNvPr>
          <p:cNvSpPr/>
          <p:nvPr/>
        </p:nvSpPr>
        <p:spPr>
          <a:xfrm>
            <a:off x="812800" y="1498600"/>
            <a:ext cx="10566400" cy="12700"/>
          </a:xfrm>
          <a:prstGeom prst="rect">
            <a:avLst/>
          </a:prstGeom>
          <a:solidFill>
            <a:srgbClr val="DEE5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985B18FC-57C1-054F-9E73-0F4392F5E35D}"/>
              </a:ext>
            </a:extLst>
          </p:cNvPr>
          <p:cNvSpPr txBox="1"/>
          <p:nvPr/>
        </p:nvSpPr>
        <p:spPr>
          <a:xfrm>
            <a:off x="812800" y="6375400"/>
            <a:ext cx="6604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簡単！シンプル！サイネージ ｜ 操作ガイド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2D5B95AD-0E9B-7B17-72AB-F529F1F82023}"/>
              </a:ext>
            </a:extLst>
          </p:cNvPr>
          <p:cNvSpPr txBox="1"/>
          <p:nvPr/>
        </p:nvSpPr>
        <p:spPr>
          <a:xfrm>
            <a:off x="10109200" y="6375400"/>
            <a:ext cx="127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kumimoji="1" lang="en-US" altLang="ja-JP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16</a:t>
            </a:r>
            <a:endParaRPr kumimoji="1" lang="ja-JP" altLang="en-US" sz="900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17BFDF8E-0DAC-95DF-44AA-FFDB48DD8F00}"/>
              </a:ext>
            </a:extLst>
          </p:cNvPr>
          <p:cNvSpPr/>
          <p:nvPr/>
        </p:nvSpPr>
        <p:spPr>
          <a:xfrm>
            <a:off x="812800" y="1930400"/>
            <a:ext cx="10566400" cy="1270000"/>
          </a:xfrm>
          <a:prstGeom prst="roundRect">
            <a:avLst>
              <a:gd name="adj" fmla="val 16000"/>
            </a:avLst>
          </a:prstGeom>
          <a:solidFill>
            <a:srgbClr val="F5F7F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楕円 9">
            <a:extLst>
              <a:ext uri="{FF2B5EF4-FFF2-40B4-BE49-F238E27FC236}">
                <a16:creationId xmlns:a16="http://schemas.microsoft.com/office/drawing/2014/main" id="{0D1D4DE4-928D-4E90-0B92-C6BF98E67113}"/>
              </a:ext>
            </a:extLst>
          </p:cNvPr>
          <p:cNvSpPr/>
          <p:nvPr/>
        </p:nvSpPr>
        <p:spPr>
          <a:xfrm>
            <a:off x="1092200" y="2184400"/>
            <a:ext cx="381000" cy="381000"/>
          </a:xfrm>
          <a:prstGeom prst="ellipse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CEEEBEC7-1FAE-3A59-D8CC-F245657A2F0A}"/>
              </a:ext>
            </a:extLst>
          </p:cNvPr>
          <p:cNvSpPr txBox="1"/>
          <p:nvPr/>
        </p:nvSpPr>
        <p:spPr>
          <a:xfrm>
            <a:off x="1092200" y="2184400"/>
            <a:ext cx="381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4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Q</a:t>
            </a:r>
            <a:endParaRPr kumimoji="1" lang="ja-JP" altLang="en-US" sz="1400" b="1">
              <a:solidFill>
                <a:srgbClr val="FFFFFF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083A6C9F-DA7C-9483-FCB3-D42FC04543D4}"/>
              </a:ext>
            </a:extLst>
          </p:cNvPr>
          <p:cNvSpPr txBox="1"/>
          <p:nvPr/>
        </p:nvSpPr>
        <p:spPr>
          <a:xfrm>
            <a:off x="1651000" y="2159000"/>
            <a:ext cx="93472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45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画面に「表示を復旧しています」と出ます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4E488C4C-2C82-5B0C-5EA4-F2BB883CAD8E}"/>
              </a:ext>
            </a:extLst>
          </p:cNvPr>
          <p:cNvSpPr txBox="1"/>
          <p:nvPr/>
        </p:nvSpPr>
        <p:spPr>
          <a:xfrm>
            <a:off x="1651000" y="2501900"/>
            <a:ext cx="9347200" cy="533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フォルダ内のファイルがすべて読み込めない状態です。管理画面を開くと「壊れたファイル」ダイアログで対象ファイル名が出ます。文言は「復帰不能時メッセージ」で変更できます。</a:t>
            </a:r>
          </a:p>
        </p:txBody>
      </p: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6768BDCD-BFF5-5144-E6F0-7AA8482A59F3}"/>
              </a:ext>
            </a:extLst>
          </p:cNvPr>
          <p:cNvSpPr/>
          <p:nvPr/>
        </p:nvSpPr>
        <p:spPr>
          <a:xfrm>
            <a:off x="812800" y="3352800"/>
            <a:ext cx="10566400" cy="1168400"/>
          </a:xfrm>
          <a:prstGeom prst="roundRect">
            <a:avLst>
              <a:gd name="adj" fmla="val 16000"/>
            </a:avLst>
          </a:prstGeom>
          <a:solidFill>
            <a:srgbClr val="F5F7F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楕円 14">
            <a:extLst>
              <a:ext uri="{FF2B5EF4-FFF2-40B4-BE49-F238E27FC236}">
                <a16:creationId xmlns:a16="http://schemas.microsoft.com/office/drawing/2014/main" id="{6B7B74B6-B93B-BF22-C483-15B9661D956E}"/>
              </a:ext>
            </a:extLst>
          </p:cNvPr>
          <p:cNvSpPr/>
          <p:nvPr/>
        </p:nvSpPr>
        <p:spPr>
          <a:xfrm>
            <a:off x="1092200" y="3606800"/>
            <a:ext cx="381000" cy="381000"/>
          </a:xfrm>
          <a:prstGeom prst="ellipse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5E4282BF-FBBB-D922-D3CE-C32E280D2EFB}"/>
              </a:ext>
            </a:extLst>
          </p:cNvPr>
          <p:cNvSpPr txBox="1"/>
          <p:nvPr/>
        </p:nvSpPr>
        <p:spPr>
          <a:xfrm>
            <a:off x="1092200" y="3606800"/>
            <a:ext cx="381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4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Q</a:t>
            </a:r>
            <a:endParaRPr kumimoji="1" lang="ja-JP" altLang="en-US" sz="1400" b="1">
              <a:solidFill>
                <a:srgbClr val="FFFFFF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F66152B7-F6D0-B273-1023-C7C938BAB8EE}"/>
              </a:ext>
            </a:extLst>
          </p:cNvPr>
          <p:cNvSpPr txBox="1"/>
          <p:nvPr/>
        </p:nvSpPr>
        <p:spPr>
          <a:xfrm>
            <a:off x="1651000" y="3581400"/>
            <a:ext cx="93472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45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壊れたファイルがあるか知りたい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CB0CF7CF-0B3C-B67F-7AA2-F538D3A9A5FA}"/>
              </a:ext>
            </a:extLst>
          </p:cNvPr>
          <p:cNvSpPr txBox="1"/>
          <p:nvPr/>
        </p:nvSpPr>
        <p:spPr>
          <a:xfrm>
            <a:off x="1651000" y="3924300"/>
            <a:ext cx="93472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管理画面（</a:t>
            </a: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Ctrl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＋</a:t>
            </a: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Shift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＋</a:t>
            </a: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M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）を開くたびに、「壊れたファイル」ダイアログで対象ファイル名が出ます。再生は続き、壊れたファイルだけ飛ばします。</a:t>
            </a:r>
          </a:p>
        </p:txBody>
      </p: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6B990316-08F8-2010-802F-50C54C6720DD}"/>
              </a:ext>
            </a:extLst>
          </p:cNvPr>
          <p:cNvSpPr/>
          <p:nvPr/>
        </p:nvSpPr>
        <p:spPr>
          <a:xfrm>
            <a:off x="812800" y="4673600"/>
            <a:ext cx="10566400" cy="1270000"/>
          </a:xfrm>
          <a:prstGeom prst="roundRect">
            <a:avLst>
              <a:gd name="adj" fmla="val 16000"/>
            </a:avLst>
          </a:prstGeom>
          <a:solidFill>
            <a:srgbClr val="F5F7F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楕円 19">
            <a:extLst>
              <a:ext uri="{FF2B5EF4-FFF2-40B4-BE49-F238E27FC236}">
                <a16:creationId xmlns:a16="http://schemas.microsoft.com/office/drawing/2014/main" id="{5CAA7422-4AC2-E4BE-7C75-40CCB3E8A1A3}"/>
              </a:ext>
            </a:extLst>
          </p:cNvPr>
          <p:cNvSpPr/>
          <p:nvPr/>
        </p:nvSpPr>
        <p:spPr>
          <a:xfrm>
            <a:off x="1092200" y="4927600"/>
            <a:ext cx="381000" cy="381000"/>
          </a:xfrm>
          <a:prstGeom prst="ellipse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5B627BF7-CFBF-7508-0395-0F69622EB3C7}"/>
              </a:ext>
            </a:extLst>
          </p:cNvPr>
          <p:cNvSpPr txBox="1"/>
          <p:nvPr/>
        </p:nvSpPr>
        <p:spPr>
          <a:xfrm>
            <a:off x="1092200" y="4927600"/>
            <a:ext cx="381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4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Q</a:t>
            </a:r>
            <a:endParaRPr kumimoji="1" lang="ja-JP" altLang="en-US" sz="1400" b="1">
              <a:solidFill>
                <a:srgbClr val="FFFFFF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C25BC35D-4E59-3F27-3432-A273E75FDBAD}"/>
              </a:ext>
            </a:extLst>
          </p:cNvPr>
          <p:cNvSpPr txBox="1"/>
          <p:nvPr/>
        </p:nvSpPr>
        <p:spPr>
          <a:xfrm>
            <a:off x="1651000" y="4902200"/>
            <a:ext cx="93472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45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複数の </a:t>
            </a:r>
            <a:r>
              <a:rPr kumimoji="1" lang="en-US" altLang="ja-JP" sz="145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PC </a:t>
            </a:r>
            <a:r>
              <a:rPr kumimoji="1" lang="ja-JP" altLang="en-US" sz="145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で同じフォルダを見せたい</a:t>
            </a: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86C163FA-90B8-3AD6-1B29-A78F4EC148D2}"/>
              </a:ext>
            </a:extLst>
          </p:cNvPr>
          <p:cNvSpPr txBox="1"/>
          <p:nvPr/>
        </p:nvSpPr>
        <p:spPr>
          <a:xfrm>
            <a:off x="1651000" y="5245100"/>
            <a:ext cx="9347200" cy="533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各 </a:t>
            </a: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PC 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にアプリを入れて同じ共有フォルダを指定する運用は可能ですが、ネットワーク共有パスの正式サポートは将来拡張です。まずはローカルフォルダを推奨します。アクセス制限は導入先の共有設定に任せ、アプリでは権限管理しません。</a:t>
            </a:r>
          </a:p>
        </p:txBody>
      </p:sp>
    </p:spTree>
    <p:extLst>
      <p:ext uri="{BB962C8B-B14F-4D97-AF65-F5344CB8AC3E}">
        <p14:creationId xmlns:p14="http://schemas.microsoft.com/office/powerpoint/2010/main" val="2739603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8BD42442-8F25-93C4-C446-B45EE4874DD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6FC5704-910E-3852-92CE-92D493F1CCD8}"/>
              </a:ext>
            </a:extLst>
          </p:cNvPr>
          <p:cNvSpPr/>
          <p:nvPr/>
        </p:nvSpPr>
        <p:spPr>
          <a:xfrm>
            <a:off x="812800" y="584200"/>
            <a:ext cx="63500" cy="5842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318A030-4230-A91A-C5A1-C39D5B7BD15E}"/>
              </a:ext>
            </a:extLst>
          </p:cNvPr>
          <p:cNvSpPr txBox="1"/>
          <p:nvPr/>
        </p:nvSpPr>
        <p:spPr>
          <a:xfrm>
            <a:off x="1028700" y="571500"/>
            <a:ext cx="7620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05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FAQ</a:t>
            </a:r>
            <a:endParaRPr kumimoji="1" lang="ja-JP" altLang="en-US" sz="1050" b="1">
              <a:solidFill>
                <a:srgbClr val="2563EB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72833A0-8CBD-1AAA-6181-B9028FE6B720}"/>
              </a:ext>
            </a:extLst>
          </p:cNvPr>
          <p:cNvSpPr txBox="1"/>
          <p:nvPr/>
        </p:nvSpPr>
        <p:spPr>
          <a:xfrm>
            <a:off x="1028700" y="774700"/>
            <a:ext cx="8128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よくある質問（</a:t>
            </a:r>
            <a:r>
              <a:rPr kumimoji="1" lang="en-US" altLang="ja-JP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3/3</a:t>
            </a: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）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D6B6BEE-12C5-D6B6-F90E-88C3AF7B36CA}"/>
              </a:ext>
            </a:extLst>
          </p:cNvPr>
          <p:cNvSpPr/>
          <p:nvPr/>
        </p:nvSpPr>
        <p:spPr>
          <a:xfrm>
            <a:off x="812800" y="1498600"/>
            <a:ext cx="10566400" cy="12700"/>
          </a:xfrm>
          <a:prstGeom prst="rect">
            <a:avLst/>
          </a:prstGeom>
          <a:solidFill>
            <a:srgbClr val="DEE5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86A0A23-B03C-2178-F377-D7BE98EE1276}"/>
              </a:ext>
            </a:extLst>
          </p:cNvPr>
          <p:cNvSpPr txBox="1"/>
          <p:nvPr/>
        </p:nvSpPr>
        <p:spPr>
          <a:xfrm>
            <a:off x="812800" y="6375400"/>
            <a:ext cx="6604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簡単！シンプル！サイネージ ｜ 操作ガイド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BD1C4708-485C-31F8-A790-B3CEABE7AED1}"/>
              </a:ext>
            </a:extLst>
          </p:cNvPr>
          <p:cNvSpPr txBox="1"/>
          <p:nvPr/>
        </p:nvSpPr>
        <p:spPr>
          <a:xfrm>
            <a:off x="10109200" y="6375400"/>
            <a:ext cx="127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kumimoji="1" lang="en-US" altLang="ja-JP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17</a:t>
            </a:r>
            <a:endParaRPr kumimoji="1" lang="ja-JP" altLang="en-US" sz="900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39D0F87B-68A7-1291-F57B-B20167DD4F19}"/>
              </a:ext>
            </a:extLst>
          </p:cNvPr>
          <p:cNvSpPr/>
          <p:nvPr/>
        </p:nvSpPr>
        <p:spPr>
          <a:xfrm>
            <a:off x="812800" y="1930400"/>
            <a:ext cx="10566400" cy="1168400"/>
          </a:xfrm>
          <a:prstGeom prst="roundRect">
            <a:avLst>
              <a:gd name="adj" fmla="val 16000"/>
            </a:avLst>
          </a:prstGeom>
          <a:solidFill>
            <a:srgbClr val="F5F7F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楕円 9">
            <a:extLst>
              <a:ext uri="{FF2B5EF4-FFF2-40B4-BE49-F238E27FC236}">
                <a16:creationId xmlns:a16="http://schemas.microsoft.com/office/drawing/2014/main" id="{C3E83695-C8FC-0F03-2F37-467DDDCADC32}"/>
              </a:ext>
            </a:extLst>
          </p:cNvPr>
          <p:cNvSpPr/>
          <p:nvPr/>
        </p:nvSpPr>
        <p:spPr>
          <a:xfrm>
            <a:off x="1092200" y="2184400"/>
            <a:ext cx="381000" cy="381000"/>
          </a:xfrm>
          <a:prstGeom prst="ellipse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E35B5F30-7AAE-2AEC-0000-7BE21CADFA2D}"/>
              </a:ext>
            </a:extLst>
          </p:cNvPr>
          <p:cNvSpPr txBox="1"/>
          <p:nvPr/>
        </p:nvSpPr>
        <p:spPr>
          <a:xfrm>
            <a:off x="1092200" y="2184400"/>
            <a:ext cx="381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4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Q</a:t>
            </a:r>
            <a:endParaRPr kumimoji="1" lang="ja-JP" altLang="en-US" sz="1400" b="1">
              <a:solidFill>
                <a:srgbClr val="FFFFFF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CDA48E56-CB19-76C7-9F4C-B0B30600361D}"/>
              </a:ext>
            </a:extLst>
          </p:cNvPr>
          <p:cNvSpPr txBox="1"/>
          <p:nvPr/>
        </p:nvSpPr>
        <p:spPr>
          <a:xfrm>
            <a:off x="1651000" y="2159000"/>
            <a:ext cx="93472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45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画面の下に「契約期限が切れています」と出る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7CAC797F-C747-0148-05A1-FF61097C5493}"/>
              </a:ext>
            </a:extLst>
          </p:cNvPr>
          <p:cNvSpPr txBox="1"/>
          <p:nvPr/>
        </p:nvSpPr>
        <p:spPr>
          <a:xfrm>
            <a:off x="1651000" y="2501900"/>
            <a:ext cx="93472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試用または契約の期限が切れています。表示はそのまま続きます。届いたアクセスキーを、管理画面（</a:t>
            </a: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Ctrl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＋</a:t>
            </a: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Shift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＋</a:t>
            </a: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M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）に貼り付けて「アクセスキーを適用」してください。</a:t>
            </a:r>
          </a:p>
        </p:txBody>
      </p:sp>
    </p:spTree>
    <p:extLst>
      <p:ext uri="{BB962C8B-B14F-4D97-AF65-F5344CB8AC3E}">
        <p14:creationId xmlns:p14="http://schemas.microsoft.com/office/powerpoint/2010/main" val="369001268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97FE98E4-5B56-7077-3A78-35CFD57B4F2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129A47A6-E413-D27C-C759-FC8467EC7BE0}"/>
              </a:ext>
            </a:extLst>
          </p:cNvPr>
          <p:cNvSpPr/>
          <p:nvPr/>
        </p:nvSpPr>
        <p:spPr>
          <a:xfrm>
            <a:off x="812800" y="584200"/>
            <a:ext cx="63500" cy="5842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D7331F67-7022-E07A-9F4E-71B61FA3C894}"/>
              </a:ext>
            </a:extLst>
          </p:cNvPr>
          <p:cNvSpPr txBox="1"/>
          <p:nvPr/>
        </p:nvSpPr>
        <p:spPr>
          <a:xfrm>
            <a:off x="1028700" y="571500"/>
            <a:ext cx="7620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05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CHEAT SHEET</a:t>
            </a:r>
            <a:endParaRPr kumimoji="1" lang="ja-JP" altLang="en-US" sz="1050" b="1">
              <a:solidFill>
                <a:srgbClr val="2563EB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BDBE855-3DCA-FEDD-1342-6D50A0296854}"/>
              </a:ext>
            </a:extLst>
          </p:cNvPr>
          <p:cNvSpPr txBox="1"/>
          <p:nvPr/>
        </p:nvSpPr>
        <p:spPr>
          <a:xfrm>
            <a:off x="1028700" y="774700"/>
            <a:ext cx="8128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操作の早見表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D9567B1-5597-8238-2858-A77F0255F742}"/>
              </a:ext>
            </a:extLst>
          </p:cNvPr>
          <p:cNvSpPr/>
          <p:nvPr/>
        </p:nvSpPr>
        <p:spPr>
          <a:xfrm>
            <a:off x="812800" y="1498600"/>
            <a:ext cx="10566400" cy="12700"/>
          </a:xfrm>
          <a:prstGeom prst="rect">
            <a:avLst/>
          </a:prstGeom>
          <a:solidFill>
            <a:srgbClr val="DEE5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6C307F47-2A5B-8384-2496-05950539D731}"/>
              </a:ext>
            </a:extLst>
          </p:cNvPr>
          <p:cNvSpPr txBox="1"/>
          <p:nvPr/>
        </p:nvSpPr>
        <p:spPr>
          <a:xfrm>
            <a:off x="812800" y="6375400"/>
            <a:ext cx="6604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簡単！シンプル！サイネージ ｜ 操作ガイド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D8BBB233-F95F-9B1D-5758-82DC92BDC172}"/>
              </a:ext>
            </a:extLst>
          </p:cNvPr>
          <p:cNvSpPr txBox="1"/>
          <p:nvPr/>
        </p:nvSpPr>
        <p:spPr>
          <a:xfrm>
            <a:off x="10109200" y="6375400"/>
            <a:ext cx="127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kumimoji="1" lang="en-US" altLang="ja-JP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18</a:t>
            </a:r>
            <a:endParaRPr kumimoji="1" lang="ja-JP" altLang="en-US" sz="900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275B079E-5BD8-2BCF-80B6-5E30BC6F8B83}"/>
              </a:ext>
            </a:extLst>
          </p:cNvPr>
          <p:cNvSpPr txBox="1"/>
          <p:nvPr/>
        </p:nvSpPr>
        <p:spPr>
          <a:xfrm>
            <a:off x="812800" y="1930400"/>
            <a:ext cx="5130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50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コンテンツ担当者</a:t>
            </a:r>
          </a:p>
        </p:txBody>
      </p:sp>
      <p:graphicFrame>
        <p:nvGraphicFramePr>
          <p:cNvPr id="10" name="表 9">
            <a:extLst>
              <a:ext uri="{FF2B5EF4-FFF2-40B4-BE49-F238E27FC236}">
                <a16:creationId xmlns:a16="http://schemas.microsoft.com/office/drawing/2014/main" id="{8EF1F93A-A6A2-0DCE-1C41-F4F317E1EB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2125221"/>
              </p:ext>
            </p:extLst>
          </p:nvPr>
        </p:nvGraphicFramePr>
        <p:xfrm>
          <a:off x="812800" y="2336800"/>
          <a:ext cx="5130800" cy="32004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05000">
                  <a:extLst>
                    <a:ext uri="{9D8B030D-6E8A-4147-A177-3AD203B41FA5}">
                      <a16:colId xmlns:a16="http://schemas.microsoft.com/office/drawing/2014/main" val="1276524973"/>
                    </a:ext>
                  </a:extLst>
                </a:gridCol>
                <a:gridCol w="3225800">
                  <a:extLst>
                    <a:ext uri="{9D8B030D-6E8A-4147-A177-3AD203B41FA5}">
                      <a16:colId xmlns:a16="http://schemas.microsoft.com/office/drawing/2014/main" val="2889801482"/>
                    </a:ext>
                  </a:extLst>
                </a:gridCol>
              </a:tblGrid>
              <a:tr h="406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00" b="1">
                          <a:solidFill>
                            <a:srgbClr val="FFFFFF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やりたいこと</a:t>
                      </a:r>
                    </a:p>
                  </a:txBody>
                  <a:tcPr marL="152400" marR="152400" marT="63500" marB="63500" anchor="ctr">
                    <a:lnB w="19050">
                      <a:solidFill>
                        <a:srgbClr val="0F8E92"/>
                      </a:solidFill>
                    </a:lnB>
                    <a:solidFill>
                      <a:srgbClr val="0F8E9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00" b="1">
                          <a:solidFill>
                            <a:srgbClr val="FFFFFF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操作</a:t>
                      </a:r>
                    </a:p>
                  </a:txBody>
                  <a:tcPr marL="152400" marR="152400" marT="63500" marB="63500" anchor="ctr">
                    <a:lnB w="19050">
                      <a:solidFill>
                        <a:srgbClr val="0F8E92"/>
                      </a:solidFill>
                    </a:lnB>
                    <a:solidFill>
                      <a:srgbClr val="0F8E9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932322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5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表示を追加</a:t>
                      </a:r>
                    </a:p>
                  </a:txBody>
                  <a:tcPr marL="152400" marR="152400" marT="63500" marB="63500" anchor="ctr">
                    <a:lnT w="19050">
                      <a:solidFill>
                        <a:srgbClr val="0F8E92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監視フォルダ直下にファイルを保存</a:t>
                      </a:r>
                    </a:p>
                  </a:txBody>
                  <a:tcPr marL="152400" marR="152400" marT="63500" marB="63500" anchor="ctr">
                    <a:lnT w="19050">
                      <a:solidFill>
                        <a:srgbClr val="0F8E92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0950076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5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表示を削除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監視フォルダからファイルを削除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4621479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5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表示順を変える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ファイル名を変更（</a:t>
                      </a:r>
                      <a:r>
                        <a:rPr kumimoji="1" lang="en-US" altLang="ja-JP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001, 002 …</a:t>
                      </a:r>
                      <a:r>
                        <a:rPr kumimoji="1" lang="ja-JP" altLang="en-US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）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2423619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5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表示時間を変える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末尾に </a:t>
                      </a:r>
                      <a:r>
                        <a:rPr kumimoji="1" lang="en-US" altLang="ja-JP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_</a:t>
                      </a:r>
                      <a:r>
                        <a:rPr kumimoji="1" lang="ja-JP" altLang="en-US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秒数（動画を除く）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9523256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5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再生期限を付ける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末尾に </a:t>
                      </a:r>
                      <a:r>
                        <a:rPr kumimoji="1" lang="en-US" altLang="ja-JP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_20260904 </a:t>
                      </a:r>
                      <a:r>
                        <a:rPr kumimoji="1" lang="ja-JP" altLang="en-US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のような日付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7773127"/>
                  </a:ext>
                </a:extLst>
              </a:tr>
            </a:tbl>
          </a:graphicData>
        </a:graphic>
      </p:graphicFrame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0F67542C-980A-A227-5975-B54850B6B57E}"/>
              </a:ext>
            </a:extLst>
          </p:cNvPr>
          <p:cNvSpPr txBox="1"/>
          <p:nvPr/>
        </p:nvSpPr>
        <p:spPr>
          <a:xfrm>
            <a:off x="6248400" y="1930400"/>
            <a:ext cx="5130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50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システム管理者</a:t>
            </a:r>
          </a:p>
        </p:txBody>
      </p:sp>
      <p:graphicFrame>
        <p:nvGraphicFramePr>
          <p:cNvPr id="12" name="表 11">
            <a:extLst>
              <a:ext uri="{FF2B5EF4-FFF2-40B4-BE49-F238E27FC236}">
                <a16:creationId xmlns:a16="http://schemas.microsoft.com/office/drawing/2014/main" id="{67EDE27B-F935-0D93-2E1F-AA5D6BD708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7167431"/>
              </p:ext>
            </p:extLst>
          </p:nvPr>
        </p:nvGraphicFramePr>
        <p:xfrm>
          <a:off x="6248400" y="2336800"/>
          <a:ext cx="5130800" cy="3149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05000">
                  <a:extLst>
                    <a:ext uri="{9D8B030D-6E8A-4147-A177-3AD203B41FA5}">
                      <a16:colId xmlns:a16="http://schemas.microsoft.com/office/drawing/2014/main" val="2774599461"/>
                    </a:ext>
                  </a:extLst>
                </a:gridCol>
                <a:gridCol w="3225800">
                  <a:extLst>
                    <a:ext uri="{9D8B030D-6E8A-4147-A177-3AD203B41FA5}">
                      <a16:colId xmlns:a16="http://schemas.microsoft.com/office/drawing/2014/main" val="4222058806"/>
                    </a:ext>
                  </a:extLst>
                </a:gridCol>
              </a:tblGrid>
              <a:tr h="406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00" b="1">
                          <a:solidFill>
                            <a:srgbClr val="FFFFFF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やりたいこと</a:t>
                      </a:r>
                    </a:p>
                  </a:txBody>
                  <a:tcPr marL="152400" marR="152400" marT="63500" marB="63500" anchor="ctr">
                    <a:lnB w="19050">
                      <a:solidFill>
                        <a:srgbClr val="2563EB"/>
                      </a:solidFill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00" b="1">
                          <a:solidFill>
                            <a:srgbClr val="FFFFFF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操作</a:t>
                      </a:r>
                    </a:p>
                  </a:txBody>
                  <a:tcPr marL="152400" marR="152400" marT="63500" marB="63500" anchor="ctr">
                    <a:lnB w="19050">
                      <a:solidFill>
                        <a:srgbClr val="2563EB"/>
                      </a:solidFill>
                    </a:lnB>
                    <a:solidFill>
                      <a:srgbClr val="2563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6393109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0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設定を変更</a:t>
                      </a:r>
                    </a:p>
                  </a:txBody>
                  <a:tcPr marL="152400" marR="152400" marT="63500" marB="63500" anchor="ctr">
                    <a:lnT w="19050">
                      <a:solidFill>
                        <a:srgbClr val="2563EB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en-US" altLang="ja-JP" sz="11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Ctrl</a:t>
                      </a:r>
                      <a:r>
                        <a:rPr kumimoji="1" lang="ja-JP" altLang="en-US" sz="11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＋</a:t>
                      </a:r>
                      <a:r>
                        <a:rPr kumimoji="1" lang="en-US" altLang="ja-JP" sz="11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Shift</a:t>
                      </a:r>
                      <a:r>
                        <a:rPr kumimoji="1" lang="ja-JP" altLang="en-US" sz="11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＋</a:t>
                      </a:r>
                      <a:r>
                        <a:rPr kumimoji="1" lang="en-US" altLang="ja-JP" sz="11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M →</a:t>
                      </a:r>
                      <a:r>
                        <a:rPr kumimoji="1" lang="ja-JP" altLang="en-US" sz="11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変更→「保存して設定する」</a:t>
                      </a:r>
                    </a:p>
                  </a:txBody>
                  <a:tcPr marL="152400" marR="152400" marT="63500" marB="63500" anchor="ctr">
                    <a:lnT w="19050">
                      <a:solidFill>
                        <a:srgbClr val="2563EB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953117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0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キオスクに戻る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「通常モード（キオスク）に戻る」または </a:t>
                      </a:r>
                      <a:r>
                        <a:rPr kumimoji="1" lang="en-US" altLang="ja-JP" sz="11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Ctrl</a:t>
                      </a:r>
                      <a:r>
                        <a:rPr kumimoji="1" lang="ja-JP" altLang="en-US" sz="11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＋</a:t>
                      </a:r>
                      <a:r>
                        <a:rPr kumimoji="1" lang="en-US" altLang="ja-JP" sz="11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Shift</a:t>
                      </a:r>
                      <a:r>
                        <a:rPr kumimoji="1" lang="ja-JP" altLang="en-US" sz="11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＋</a:t>
                      </a:r>
                      <a:r>
                        <a:rPr kumimoji="1" lang="en-US" altLang="ja-JP" sz="11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M</a:t>
                      </a:r>
                      <a:endParaRPr kumimoji="1" lang="ja-JP" altLang="en-US" sz="1100" b="0">
                        <a:solidFill>
                          <a:srgbClr val="465263"/>
                        </a:solidFill>
                        <a:latin typeface="Yu Gothic UI" panose="020B0500000000000000" pitchFamily="50" charset="-128"/>
                        <a:ea typeface="Yu Gothic UI" panose="020B0500000000000000" pitchFamily="50" charset="-128"/>
                      </a:endParaRP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546495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0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アプリを終了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管理画面の「アプリを終了」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18492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0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夜に止めて朝始める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アプリ終了時刻・</a:t>
                      </a:r>
                      <a:r>
                        <a:rPr kumimoji="1" lang="en-US" altLang="ja-JP" sz="11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PC </a:t>
                      </a:r>
                      <a:r>
                        <a:rPr kumimoji="1" lang="ja-JP" altLang="en-US" sz="11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電源オフ時刻＋自動起動を </a:t>
                      </a:r>
                      <a:r>
                        <a:rPr kumimoji="1" lang="en-US" altLang="ja-JP" sz="11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ON</a:t>
                      </a:r>
                      <a:endParaRPr kumimoji="1" lang="ja-JP" altLang="en-US" sz="1100" b="0">
                        <a:solidFill>
                          <a:srgbClr val="465263"/>
                        </a:solidFill>
                        <a:latin typeface="Yu Gothic UI" panose="020B0500000000000000" pitchFamily="50" charset="-128"/>
                        <a:ea typeface="Yu Gothic UI" panose="020B0500000000000000" pitchFamily="50" charset="-128"/>
                      </a:endParaRP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530441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0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アクセスキーを入れる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貼り付け →「アクセスキーを適用」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0272159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0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ログの場所を確認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管理画面の「ログフォルダ」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31403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9597933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37EC668E-9514-A504-34A4-544D8133516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4443AA3C-1F31-8AB7-9023-A4053F5B681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C2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楕円 3">
            <a:extLst>
              <a:ext uri="{FF2B5EF4-FFF2-40B4-BE49-F238E27FC236}">
                <a16:creationId xmlns:a16="http://schemas.microsoft.com/office/drawing/2014/main" id="{8CF18A96-A0A9-C5D2-D2E6-F9DF76909A96}"/>
              </a:ext>
            </a:extLst>
          </p:cNvPr>
          <p:cNvSpPr/>
          <p:nvPr/>
        </p:nvSpPr>
        <p:spPr>
          <a:xfrm>
            <a:off x="-2032000" y="3810000"/>
            <a:ext cx="5842000" cy="5842000"/>
          </a:xfrm>
          <a:prstGeom prst="ellipse">
            <a:avLst/>
          </a:prstGeom>
          <a:solidFill>
            <a:srgbClr val="2563EB">
              <a:alpha val="15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FD2267A8-0E53-A286-3633-9FBB23E197AF}"/>
              </a:ext>
            </a:extLst>
          </p:cNvPr>
          <p:cNvSpPr/>
          <p:nvPr/>
        </p:nvSpPr>
        <p:spPr>
          <a:xfrm>
            <a:off x="812800" y="1219200"/>
            <a:ext cx="863600" cy="635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066F4381-E368-AAC5-5673-776F6D885E9E}"/>
              </a:ext>
            </a:extLst>
          </p:cNvPr>
          <p:cNvSpPr txBox="1"/>
          <p:nvPr/>
        </p:nvSpPr>
        <p:spPr>
          <a:xfrm>
            <a:off x="812800" y="1574800"/>
            <a:ext cx="7620000" cy="635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38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困ったときは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7A1B8A7-483B-BEC1-4FDA-04B77E7EB805}"/>
              </a:ext>
            </a:extLst>
          </p:cNvPr>
          <p:cNvSpPr txBox="1"/>
          <p:nvPr/>
        </p:nvSpPr>
        <p:spPr>
          <a:xfrm>
            <a:off x="812800" y="2463800"/>
            <a:ext cx="8890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400">
                <a:solidFill>
                  <a:srgbClr val="C6D2E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まずは「反映は次のスライドから」「フォルダ直下だけ」「</a:t>
            </a:r>
            <a:r>
              <a:rPr kumimoji="1" lang="en-US" altLang="ja-JP" sz="1400">
                <a:solidFill>
                  <a:srgbClr val="C6D2E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Ctrl</a:t>
            </a:r>
            <a:r>
              <a:rPr kumimoji="1" lang="ja-JP" altLang="en-US" sz="1400">
                <a:solidFill>
                  <a:srgbClr val="C6D2E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＋</a:t>
            </a:r>
            <a:r>
              <a:rPr kumimoji="1" lang="en-US" altLang="ja-JP" sz="1400">
                <a:solidFill>
                  <a:srgbClr val="C6D2E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Shift</a:t>
            </a:r>
            <a:r>
              <a:rPr kumimoji="1" lang="ja-JP" altLang="en-US" sz="1400">
                <a:solidFill>
                  <a:srgbClr val="C6D2E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＋</a:t>
            </a:r>
            <a:r>
              <a:rPr kumimoji="1" lang="en-US" altLang="ja-JP" sz="1400">
                <a:solidFill>
                  <a:srgbClr val="C6D2E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M</a:t>
            </a:r>
            <a:r>
              <a:rPr kumimoji="1" lang="ja-JP" altLang="en-US" sz="1400">
                <a:solidFill>
                  <a:srgbClr val="C6D2E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」の </a:t>
            </a:r>
            <a:r>
              <a:rPr kumimoji="1" lang="en-US" altLang="ja-JP" sz="1400">
                <a:solidFill>
                  <a:srgbClr val="C6D2E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3 </a:t>
            </a:r>
            <a:r>
              <a:rPr kumimoji="1" lang="ja-JP" altLang="en-US" sz="1400">
                <a:solidFill>
                  <a:srgbClr val="C6D2E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つを確認。</a:t>
            </a:r>
          </a:p>
        </p:txBody>
      </p: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832335D1-D4DC-24DD-6554-CAACB78DB352}"/>
              </a:ext>
            </a:extLst>
          </p:cNvPr>
          <p:cNvSpPr/>
          <p:nvPr/>
        </p:nvSpPr>
        <p:spPr>
          <a:xfrm>
            <a:off x="812800" y="3225800"/>
            <a:ext cx="3352800" cy="1473200"/>
          </a:xfrm>
          <a:prstGeom prst="roundRect">
            <a:avLst>
              <a:gd name="adj" fmla="val 9000"/>
            </a:avLst>
          </a:prstGeom>
          <a:solidFill>
            <a:srgbClr val="1B2C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E556DFD6-9DE7-8091-4062-F026F2175943}"/>
              </a:ext>
            </a:extLst>
          </p:cNvPr>
          <p:cNvSpPr/>
          <p:nvPr/>
        </p:nvSpPr>
        <p:spPr>
          <a:xfrm>
            <a:off x="1117600" y="3530600"/>
            <a:ext cx="355600" cy="38100"/>
          </a:xfrm>
          <a:prstGeom prst="rect">
            <a:avLst/>
          </a:prstGeom>
          <a:solidFill>
            <a:srgbClr val="7FA6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2AE04E3C-CA4F-35FD-D2E2-8E0D4D843E5E}"/>
              </a:ext>
            </a:extLst>
          </p:cNvPr>
          <p:cNvSpPr txBox="1"/>
          <p:nvPr/>
        </p:nvSpPr>
        <p:spPr>
          <a:xfrm>
            <a:off x="1117600" y="3759200"/>
            <a:ext cx="2743200" cy="330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7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運用ガイド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D5111886-B349-9232-F4BC-C054365152D7}"/>
              </a:ext>
            </a:extLst>
          </p:cNvPr>
          <p:cNvSpPr txBox="1"/>
          <p:nvPr/>
        </p:nvSpPr>
        <p:spPr>
          <a:xfrm>
            <a:off x="1117600" y="4140200"/>
            <a:ext cx="2743200" cy="406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150">
                <a:solidFill>
                  <a:srgbClr val="9FB4D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ログ・権限・技術的な制限事項</a:t>
            </a:r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A177D0BC-343F-E6E5-CC5B-20A0F19B1DE2}"/>
              </a:ext>
            </a:extLst>
          </p:cNvPr>
          <p:cNvSpPr/>
          <p:nvPr/>
        </p:nvSpPr>
        <p:spPr>
          <a:xfrm>
            <a:off x="4419600" y="3225800"/>
            <a:ext cx="3352800" cy="1473200"/>
          </a:xfrm>
          <a:prstGeom prst="roundRect">
            <a:avLst>
              <a:gd name="adj" fmla="val 9000"/>
            </a:avLst>
          </a:prstGeom>
          <a:solidFill>
            <a:srgbClr val="1B2C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C27A8C82-D149-620C-06B2-884036081898}"/>
              </a:ext>
            </a:extLst>
          </p:cNvPr>
          <p:cNvSpPr/>
          <p:nvPr/>
        </p:nvSpPr>
        <p:spPr>
          <a:xfrm>
            <a:off x="4724400" y="3530600"/>
            <a:ext cx="355600" cy="38100"/>
          </a:xfrm>
          <a:prstGeom prst="rect">
            <a:avLst/>
          </a:prstGeom>
          <a:solidFill>
            <a:srgbClr val="7FA6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E36075E8-597C-C67A-1112-DEC83A95D2B3}"/>
              </a:ext>
            </a:extLst>
          </p:cNvPr>
          <p:cNvSpPr txBox="1"/>
          <p:nvPr/>
        </p:nvSpPr>
        <p:spPr>
          <a:xfrm>
            <a:off x="4724400" y="3759200"/>
            <a:ext cx="2743200" cy="330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7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受け入れテスト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5727C43A-CA6C-321F-57DB-187C8BB9CC7E}"/>
              </a:ext>
            </a:extLst>
          </p:cNvPr>
          <p:cNvSpPr txBox="1"/>
          <p:nvPr/>
        </p:nvSpPr>
        <p:spPr>
          <a:xfrm>
            <a:off x="4724400" y="4140200"/>
            <a:ext cx="2743200" cy="406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150">
                <a:solidFill>
                  <a:srgbClr val="9FB4D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導入時の確認チェックリスト</a:t>
            </a:r>
          </a:p>
        </p:txBody>
      </p: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DDB24ECA-6C8D-7161-FB94-F312C8432C18}"/>
              </a:ext>
            </a:extLst>
          </p:cNvPr>
          <p:cNvSpPr/>
          <p:nvPr/>
        </p:nvSpPr>
        <p:spPr>
          <a:xfrm>
            <a:off x="8026400" y="3225800"/>
            <a:ext cx="3352800" cy="1473200"/>
          </a:xfrm>
          <a:prstGeom prst="roundRect">
            <a:avLst>
              <a:gd name="adj" fmla="val 9000"/>
            </a:avLst>
          </a:prstGeom>
          <a:solidFill>
            <a:srgbClr val="1B2C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2A808348-61C4-FDA0-E097-00B3B1AE4879}"/>
              </a:ext>
            </a:extLst>
          </p:cNvPr>
          <p:cNvSpPr/>
          <p:nvPr/>
        </p:nvSpPr>
        <p:spPr>
          <a:xfrm>
            <a:off x="8331200" y="3530600"/>
            <a:ext cx="355600" cy="38100"/>
          </a:xfrm>
          <a:prstGeom prst="rect">
            <a:avLst/>
          </a:prstGeom>
          <a:solidFill>
            <a:srgbClr val="7FA6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879DC607-B009-8784-1459-B3011749A439}"/>
              </a:ext>
            </a:extLst>
          </p:cNvPr>
          <p:cNvSpPr txBox="1"/>
          <p:nvPr/>
        </p:nvSpPr>
        <p:spPr>
          <a:xfrm>
            <a:off x="8331200" y="3759200"/>
            <a:ext cx="2743200" cy="330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7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アプリ要件定義書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49934C4B-EB05-375F-67B1-44F348BCEBE0}"/>
              </a:ext>
            </a:extLst>
          </p:cNvPr>
          <p:cNvSpPr txBox="1"/>
          <p:nvPr/>
        </p:nvSpPr>
        <p:spPr>
          <a:xfrm>
            <a:off x="8331200" y="4140200"/>
            <a:ext cx="2743200" cy="406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150">
                <a:solidFill>
                  <a:srgbClr val="9FB4D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機能仕様の詳細</a:t>
            </a: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5A0C8F54-2324-4FDE-AAD1-5EE7D2F120D2}"/>
              </a:ext>
            </a:extLst>
          </p:cNvPr>
          <p:cNvSpPr/>
          <p:nvPr/>
        </p:nvSpPr>
        <p:spPr>
          <a:xfrm>
            <a:off x="812800" y="5308600"/>
            <a:ext cx="10566400" cy="12700"/>
          </a:xfrm>
          <a:prstGeom prst="rect">
            <a:avLst/>
          </a:prstGeom>
          <a:solidFill>
            <a:srgbClr val="2E405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E9818CA0-DF51-3BEB-58E0-9EA1BC14DB8B}"/>
              </a:ext>
            </a:extLst>
          </p:cNvPr>
          <p:cNvSpPr txBox="1"/>
          <p:nvPr/>
        </p:nvSpPr>
        <p:spPr>
          <a:xfrm>
            <a:off x="812800" y="5537200"/>
            <a:ext cx="88900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150">
                <a:solidFill>
                  <a:srgbClr val="7C8CA6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簡単！シンプル！サイネージ ｜ 操作ガイド　（出典：操作ガイド</a:t>
            </a:r>
            <a:r>
              <a:rPr kumimoji="1" lang="en-US" altLang="ja-JP" sz="1150">
                <a:solidFill>
                  <a:srgbClr val="7C8CA6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.md</a:t>
            </a:r>
            <a:r>
              <a:rPr kumimoji="1" lang="ja-JP" altLang="en-US" sz="1150">
                <a:solidFill>
                  <a:srgbClr val="7C8CA6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15844014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2383</Words>
  <Application>Microsoft Office PowerPoint</Application>
  <PresentationFormat>ユーザー設定</PresentationFormat>
  <Paragraphs>317</Paragraphs>
  <Slides>19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19</vt:i4>
      </vt:variant>
    </vt:vector>
  </HeadingPairs>
  <TitlesOfParts>
    <vt:vector size="25" baseType="lpstr">
      <vt:lpstr>Yu Gothic UI</vt:lpstr>
      <vt:lpstr>游ゴシック</vt:lpstr>
      <vt:lpstr>游ゴシック Light</vt:lpstr>
      <vt:lpstr>Arial</vt:lpstr>
      <vt:lpstr>Consolas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Noriyuki Kamata</dc:creator>
  <cp:lastModifiedBy>Noriyuki Kamata</cp:lastModifiedBy>
  <cp:revision>1</cp:revision>
  <dcterms:created xsi:type="dcterms:W3CDTF">2026-09-12T08:43:55Z</dcterms:created>
  <dcterms:modified xsi:type="dcterms:W3CDTF">2026-09-12T08:43:55Z</dcterms:modified>
</cp:coreProperties>
</file>