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ja-JP"/>
    </a:defPPr>
    <a:lvl1pPr marL="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312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1BAA6E-65ED-3A67-1B36-9D772F9B4C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A6400D4-5F5A-93B2-6C2C-343F6DD097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7DE81B-F928-43D4-8B14-7C726B257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886D3-06D5-4435-B2EA-390E8383DB1E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5642AD-B283-ADAD-5907-A19E765BF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2734F2-8FD0-B85A-C6C5-D124CB636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F35719-C832-4345-91C1-3D89956FDE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48854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6A1F80-3E58-F8E6-8FCE-EF59C281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A828EB7-7F01-9CB8-CCAE-2FB52952B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EFEDA0-FC49-99D4-8DC5-39DD57758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886D3-06D5-4435-B2EA-390E8383DB1E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BF64DC0-89FC-4F47-2492-5F8E9306B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7AD5EBF-0E67-3545-7986-28B3F267E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F35719-C832-4345-91C1-3D89956FDE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561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431140-E4E9-4571-BEE8-FF6B11813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B8E41B4-E74C-F236-C4DD-85462371BE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3F2C2B9-627B-93DA-BFE5-929287C93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886D3-06D5-4435-B2EA-390E8383DB1E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C341254-62F6-BE61-233F-9A40D78D3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DB1AF6-06DF-9878-8523-0D179B7F7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F35719-C832-4345-91C1-3D89956FDE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7143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498AB4-A277-9BF6-1078-F89416489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D89172A-0FAB-4E30-CCDC-9A7476AA6F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6CA823B-9128-BE58-CE61-A3C95C4383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EF0CE2B-FCEE-8FFF-1F10-F77A69108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886D3-06D5-4435-B2EA-390E8383DB1E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477055F-8444-0748-F9D3-09954C01D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E6864A8-1EA8-A9D5-C4EE-97D82D4AA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F35719-C832-4345-91C1-3D89956FDE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9307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4A2016-C040-F17A-FF02-CDE1859022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7C7C812-6F58-1FC7-0425-89BDF5289C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9A58550-CABA-D8A0-C776-A7B59B885F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7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ED8571F-E998-DC3D-2B90-4265CBE613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568FF13-D31B-6EF2-F6B1-32AA4B455C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7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BDBCA75-B22C-B2A2-FCEB-4C077A572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886D3-06D5-4435-B2EA-390E8383DB1E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927D8E1-6B5A-686B-9FF5-F37A4D132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4078101-8383-956C-37F5-8FC57A4DC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F35719-C832-4345-91C1-3D89956FDE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4028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7C9CFA-CF86-2CD5-3B1E-FAA8B166B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6D2A0C4-2BD0-1DB9-2B2A-683718D49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886D3-06D5-4435-B2EA-390E8383DB1E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C2CF08-A744-DD20-F20D-E5936D1B8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8721139-1AB4-4CE7-68F5-BC5EDA9C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F35719-C832-4345-91C1-3D89956FDE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2071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38D013C-6AE7-EBA3-8B11-79BDE50B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886D3-06D5-4435-B2EA-390E8383DB1E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4DA3AD1-9550-3F8F-B3B5-B20961C1B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B55A291-50E9-7ECB-AD9A-1646F35D1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F35719-C832-4345-91C1-3D89956FDE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6805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BE0079-65E3-604C-4058-2FFF6B185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BF7E25D-317F-91B0-3483-2B821FD4E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3B93E18-6DE6-8573-C73B-87EEA8ECE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A68BF96-CF86-35D6-EBAB-61F85954F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886D3-06D5-4435-B2EA-390E8383DB1E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21533C4-122D-92DE-34FD-F2B880C1F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485C055-056C-EDE2-51A5-71F13FE89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F35719-C832-4345-91C1-3D89956FDE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816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E46629-0782-CADC-4472-1DE05157A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96BD7CB-F3DC-F127-72D6-ECA4660436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5486D0-3BA5-D5D8-08D3-0442651EFF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1D4E4F4-E4C1-5790-8F92-C4B4002B9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886D3-06D5-4435-B2EA-390E8383DB1E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84D1FE4-046D-6EFF-8163-3E277949B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94F3A9C-F21F-1ABE-0C5A-770525910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F35719-C832-4345-91C1-3D89956FDE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1414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864C32-6666-5BC3-E680-EC04C9762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6E5E7EA-17C4-EC71-F986-93ADD721C2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5EEC4E-6AEC-608A-4BCD-419F22FCF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886D3-06D5-4435-B2EA-390E8383DB1E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76BE82-D13A-3A67-599F-A00F3FEB2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6874B0-06B1-6A00-9D4C-6292FE912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F35719-C832-4345-91C1-3D89956FDE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3688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BE9D214-C1CE-A86E-3C42-72DAB04336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7"/>
            <a:ext cx="2628900" cy="5811839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14BBBC7-589A-1DB8-71F3-9EC3101A1E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7"/>
            <a:ext cx="7734300" cy="5811839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A476F34-8D9D-F1C9-89CD-0C641D356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886D3-06D5-4435-B2EA-390E8383DB1E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F5697C0-0934-FBDF-02E8-35F4F8AEB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EAC89EE-DB3D-57D5-4901-6956DA028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F35719-C832-4345-91C1-3D89956FDE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3315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608B7F3-74AE-E3D8-D281-27056671E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E17F86-99A6-FB26-43DE-56A2EB4FA7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D1532D-A0C4-2434-7D75-63AE799189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8886D3-06D5-4435-B2EA-390E8383DB1E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9A51C37-60D6-EE97-A324-0109CAD425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44F60D-2002-23C6-9574-B6E0186BC7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F35719-C832-4345-91C1-3D89956FDE1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950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0F781E6-A24E-BDE4-6A0C-46D532FDC54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C8E3133-ED86-82A9-9731-81692DBBBB7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C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A9441F18-B414-E642-63EF-B1EA5821AE9B}"/>
              </a:ext>
            </a:extLst>
          </p:cNvPr>
          <p:cNvSpPr/>
          <p:nvPr/>
        </p:nvSpPr>
        <p:spPr>
          <a:xfrm>
            <a:off x="7747000" y="-1778000"/>
            <a:ext cx="6604000" cy="6604000"/>
          </a:xfrm>
          <a:prstGeom prst="ellipse">
            <a:avLst/>
          </a:prstGeom>
          <a:solidFill>
            <a:srgbClr val="2563EB">
              <a:alpha val="18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B184CB33-782C-594B-686A-1C12C4549D43}"/>
              </a:ext>
            </a:extLst>
          </p:cNvPr>
          <p:cNvSpPr/>
          <p:nvPr/>
        </p:nvSpPr>
        <p:spPr>
          <a:xfrm>
            <a:off x="9271000" y="3175000"/>
            <a:ext cx="4826000" cy="4826000"/>
          </a:xfrm>
          <a:prstGeom prst="ellipse">
            <a:avLst/>
          </a:prstGeom>
          <a:solidFill>
            <a:srgbClr val="0F8E92">
              <a:alpha val="14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C929589-4652-C547-61EA-C8681F35F159}"/>
              </a:ext>
            </a:extLst>
          </p:cNvPr>
          <p:cNvSpPr/>
          <p:nvPr/>
        </p:nvSpPr>
        <p:spPr>
          <a:xfrm>
            <a:off x="812800" y="1905000"/>
            <a:ext cx="8636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E7799B8-382C-3863-BE1B-49F9ED5D09D4}"/>
              </a:ext>
            </a:extLst>
          </p:cNvPr>
          <p:cNvSpPr txBox="1"/>
          <p:nvPr/>
        </p:nvSpPr>
        <p:spPr>
          <a:xfrm>
            <a:off x="812800" y="1498600"/>
            <a:ext cx="6350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250" b="1">
                <a:solidFill>
                  <a:srgbClr val="7FA6F5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SIMPLE DIGITAL SIGNAGE</a:t>
            </a:r>
            <a:endParaRPr kumimoji="1" lang="ja-JP" altLang="en-US" sz="1250" b="1">
              <a:solidFill>
                <a:srgbClr val="7FA6F5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37335ED-A146-5BE2-6EA6-D34BFC23907C}"/>
              </a:ext>
            </a:extLst>
          </p:cNvPr>
          <p:cNvSpPr txBox="1"/>
          <p:nvPr/>
        </p:nvSpPr>
        <p:spPr>
          <a:xfrm>
            <a:off x="812800" y="2286000"/>
            <a:ext cx="7874000" cy="914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52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操作ガイド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1538F52-C9D0-41BB-0A60-BC13DBD735B6}"/>
              </a:ext>
            </a:extLst>
          </p:cNvPr>
          <p:cNvSpPr txBox="1"/>
          <p:nvPr/>
        </p:nvSpPr>
        <p:spPr>
          <a:xfrm>
            <a:off x="812800" y="3378200"/>
            <a:ext cx="71120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kumimoji="1" lang="ja-JP" altLang="en-US" sz="15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フォルダに入れるだけ。あとは全画面で自動ループ。</a:t>
            </a:r>
          </a:p>
          <a:p>
            <a:pPr>
              <a:lnSpc>
                <a:spcPct val="150000"/>
              </a:lnSpc>
            </a:pPr>
            <a:r>
              <a:rPr kumimoji="1" lang="en-US" altLang="ja-JP" sz="15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5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・画像・動画をそのまま掲示できるサイネージアプリの使いかた。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96075B0B-97C2-6F1B-25FD-906133521855}"/>
              </a:ext>
            </a:extLst>
          </p:cNvPr>
          <p:cNvSpPr/>
          <p:nvPr/>
        </p:nvSpPr>
        <p:spPr>
          <a:xfrm>
            <a:off x="812800" y="4546600"/>
            <a:ext cx="1884680" cy="381000"/>
          </a:xfrm>
          <a:prstGeom prst="roundRect">
            <a:avLst>
              <a:gd name="adj" fmla="val 50000"/>
            </a:avLst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361A0F7-C29F-D006-3D5D-34A16D3D03F2}"/>
              </a:ext>
            </a:extLst>
          </p:cNvPr>
          <p:cNvSpPr txBox="1"/>
          <p:nvPr/>
        </p:nvSpPr>
        <p:spPr>
          <a:xfrm>
            <a:off x="812800" y="4546600"/>
            <a:ext cx="188468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200" b="1">
                <a:solidFill>
                  <a:srgbClr val="BBD1FA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コンテンツ担当者向け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51939BEE-4039-8AA8-C5AE-38D65AC4975F}"/>
              </a:ext>
            </a:extLst>
          </p:cNvPr>
          <p:cNvSpPr/>
          <p:nvPr/>
        </p:nvSpPr>
        <p:spPr>
          <a:xfrm>
            <a:off x="2946400" y="4546600"/>
            <a:ext cx="1729232" cy="381000"/>
          </a:xfrm>
          <a:prstGeom prst="roundRect">
            <a:avLst>
              <a:gd name="adj" fmla="val 50000"/>
            </a:avLst>
          </a:prstGeom>
          <a:solidFill>
            <a:srgbClr val="1741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73C89B2-2A39-5F0F-A335-F2245250D309}"/>
              </a:ext>
            </a:extLst>
          </p:cNvPr>
          <p:cNvSpPr txBox="1"/>
          <p:nvPr/>
        </p:nvSpPr>
        <p:spPr>
          <a:xfrm>
            <a:off x="2946400" y="4546600"/>
            <a:ext cx="1729232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200" b="1">
                <a:solidFill>
                  <a:srgbClr val="A9DDD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システム管理者向け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64FF7FF-07CC-2EF1-4FF8-DFD5EA458902}"/>
              </a:ext>
            </a:extLst>
          </p:cNvPr>
          <p:cNvSpPr/>
          <p:nvPr/>
        </p:nvSpPr>
        <p:spPr>
          <a:xfrm>
            <a:off x="812800" y="5486400"/>
            <a:ext cx="3810000" cy="12700"/>
          </a:xfrm>
          <a:prstGeom prst="rect">
            <a:avLst/>
          </a:prstGeom>
          <a:solidFill>
            <a:srgbClr val="2E405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5E5B1B9-0CA1-C273-40F6-B71B8053588E}"/>
              </a:ext>
            </a:extLst>
          </p:cNvPr>
          <p:cNvSpPr txBox="1"/>
          <p:nvPr/>
        </p:nvSpPr>
        <p:spPr>
          <a:xfrm>
            <a:off x="812800" y="5689600"/>
            <a:ext cx="609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2026</a:t>
            </a:r>
            <a:r>
              <a:rPr kumimoji="1" lang="ja-JP" altLang="en-US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年</a:t>
            </a:r>
            <a:r>
              <a:rPr kumimoji="1" lang="en-US" altLang="ja-JP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8</a:t>
            </a:r>
            <a:r>
              <a:rPr kumimoji="1" lang="ja-JP" altLang="en-US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月版　｜　操作ガイド</a:t>
            </a:r>
            <a:r>
              <a:rPr kumimoji="1" lang="en-US" altLang="ja-JP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.md </a:t>
            </a:r>
            <a:r>
              <a:rPr kumimoji="1" lang="ja-JP" altLang="en-US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より作成</a:t>
            </a:r>
          </a:p>
        </p:txBody>
      </p:sp>
    </p:spTree>
    <p:extLst>
      <p:ext uri="{BB962C8B-B14F-4D97-AF65-F5344CB8AC3E}">
        <p14:creationId xmlns:p14="http://schemas.microsoft.com/office/powerpoint/2010/main" val="1400925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E9A0575-FF77-5AB5-FCA3-AFE1FF7C17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5D39797-5404-1E65-1910-49C609397E5B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2E70247-FFB4-D450-761A-5A53C42BEF62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OVERVIEW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68AC513-E5A3-0CAB-D2D5-295ABAE8D21F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このガイドの対象と役割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7C4C017-D9A0-D6AD-9480-28EA25720C5C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2E34B8E-25E7-A52B-E1D0-0B463F8FB7BF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A5C319B-56B3-ABEE-A068-B65F7CC2AEA5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7A855E8-D57A-B434-35FD-7E877AA173A6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日常の運用は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つの役割に分かれます。自分の役割のページだけ読めば運用できます。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683FC622-0913-6F64-E44E-AF8400C9A4CF}"/>
              </a:ext>
            </a:extLst>
          </p:cNvPr>
          <p:cNvSpPr/>
          <p:nvPr/>
        </p:nvSpPr>
        <p:spPr>
          <a:xfrm>
            <a:off x="812800" y="2362200"/>
            <a:ext cx="5130800" cy="299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4FF06AF-EBDC-16BD-7E8E-25FCDE472519}"/>
              </a:ext>
            </a:extLst>
          </p:cNvPr>
          <p:cNvSpPr/>
          <p:nvPr/>
        </p:nvSpPr>
        <p:spPr>
          <a:xfrm>
            <a:off x="812800" y="2362200"/>
            <a:ext cx="5130800" cy="635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417CF0-73DC-E41F-E5A0-2EE04E3F8758}"/>
              </a:ext>
            </a:extLst>
          </p:cNvPr>
          <p:cNvSpPr/>
          <p:nvPr/>
        </p:nvSpPr>
        <p:spPr>
          <a:xfrm>
            <a:off x="1143000" y="2692400"/>
            <a:ext cx="828040" cy="279400"/>
          </a:xfrm>
          <a:prstGeom prst="roundRect">
            <a:avLst>
              <a:gd name="adj" fmla="val 5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A641D61-2BF7-FDA9-3457-949AA073DF74}"/>
              </a:ext>
            </a:extLst>
          </p:cNvPr>
          <p:cNvSpPr txBox="1"/>
          <p:nvPr/>
        </p:nvSpPr>
        <p:spPr>
          <a:xfrm>
            <a:off x="1143000" y="2692400"/>
            <a:ext cx="82804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ROLE 01</a:t>
            </a:r>
            <a:endParaRPr kumimoji="1" lang="ja-JP" altLang="en-US" sz="10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DD7524E-85B0-00B0-1CD8-6323425D00FB}"/>
              </a:ext>
            </a:extLst>
          </p:cNvPr>
          <p:cNvSpPr txBox="1"/>
          <p:nvPr/>
        </p:nvSpPr>
        <p:spPr>
          <a:xfrm>
            <a:off x="1143000" y="3098800"/>
            <a:ext cx="4470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1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E1CF2F2-57A2-B547-74DB-8EBCAFD7E6DA}"/>
              </a:ext>
            </a:extLst>
          </p:cNvPr>
          <p:cNvSpPr txBox="1"/>
          <p:nvPr/>
        </p:nvSpPr>
        <p:spPr>
          <a:xfrm>
            <a:off x="1143000" y="3505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表示するファイルを扱う人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653288A-B2BA-22CB-924B-BE084CD16EEF}"/>
              </a:ext>
            </a:extLst>
          </p:cNvPr>
          <p:cNvSpPr txBox="1"/>
          <p:nvPr/>
        </p:nvSpPr>
        <p:spPr>
          <a:xfrm>
            <a:off x="1143000" y="3937000"/>
            <a:ext cx="44704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・表示したいファイルをフォルダに入れる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・不要になったファイルを削除する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・ファイル名で表示順と表示時間を調整する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7D16BCE6-B761-FC57-873D-ABDCC67FB32F}"/>
              </a:ext>
            </a:extLst>
          </p:cNvPr>
          <p:cNvSpPr/>
          <p:nvPr/>
        </p:nvSpPr>
        <p:spPr>
          <a:xfrm>
            <a:off x="6248400" y="2362200"/>
            <a:ext cx="5130800" cy="299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0D55144-9A90-2299-BC49-8CEC37EE5A7F}"/>
              </a:ext>
            </a:extLst>
          </p:cNvPr>
          <p:cNvSpPr/>
          <p:nvPr/>
        </p:nvSpPr>
        <p:spPr>
          <a:xfrm>
            <a:off x="6248400" y="2362200"/>
            <a:ext cx="51308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DD35E504-2C5D-E35E-8590-EEB5BD7A9C76}"/>
              </a:ext>
            </a:extLst>
          </p:cNvPr>
          <p:cNvSpPr/>
          <p:nvPr/>
        </p:nvSpPr>
        <p:spPr>
          <a:xfrm>
            <a:off x="6578600" y="2692400"/>
            <a:ext cx="828040" cy="279400"/>
          </a:xfrm>
          <a:prstGeom prst="roundRect">
            <a:avLst>
              <a:gd name="adj" fmla="val 5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21C7C62-3008-C17C-9A70-0A36AA6A89C0}"/>
              </a:ext>
            </a:extLst>
          </p:cNvPr>
          <p:cNvSpPr txBox="1"/>
          <p:nvPr/>
        </p:nvSpPr>
        <p:spPr>
          <a:xfrm>
            <a:off x="6578600" y="2692400"/>
            <a:ext cx="82804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ROLE 02</a:t>
            </a:r>
            <a:endParaRPr kumimoji="1" lang="ja-JP" altLang="en-US" sz="10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C96E4FA-7E57-65E2-5F88-1FD1445985B8}"/>
              </a:ext>
            </a:extLst>
          </p:cNvPr>
          <p:cNvSpPr txBox="1"/>
          <p:nvPr/>
        </p:nvSpPr>
        <p:spPr>
          <a:xfrm>
            <a:off x="6578600" y="3098800"/>
            <a:ext cx="4470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1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158B66D-9E8E-5721-2966-0E2C161EB25F}"/>
              </a:ext>
            </a:extLst>
          </p:cNvPr>
          <p:cNvSpPr txBox="1"/>
          <p:nvPr/>
        </p:nvSpPr>
        <p:spPr>
          <a:xfrm>
            <a:off x="6578600" y="3505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アプリと設定を扱う人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E575B9BC-FBDE-D4B3-0965-87E006865CC4}"/>
              </a:ext>
            </a:extLst>
          </p:cNvPr>
          <p:cNvSpPr txBox="1"/>
          <p:nvPr/>
        </p:nvSpPr>
        <p:spPr>
          <a:xfrm>
            <a:off x="6578600" y="3937000"/>
            <a:ext cx="44704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・アプリの起動と管理画面の操作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・監視フォルダ・表示秒数などの設定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・夜間停止と朝の自動起動、ログの確認</a:t>
            </a: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5E33799D-8A4D-4B7D-8500-B227DBBB118E}"/>
              </a:ext>
            </a:extLst>
          </p:cNvPr>
          <p:cNvSpPr/>
          <p:nvPr/>
        </p:nvSpPr>
        <p:spPr>
          <a:xfrm>
            <a:off x="812800" y="5638800"/>
            <a:ext cx="10566400" cy="584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7F27875D-A364-71D3-226E-7B4642466C71}"/>
              </a:ext>
            </a:extLst>
          </p:cNvPr>
          <p:cNvSpPr/>
          <p:nvPr/>
        </p:nvSpPr>
        <p:spPr>
          <a:xfrm>
            <a:off x="812800" y="5638800"/>
            <a:ext cx="50800" cy="584200"/>
          </a:xfrm>
          <a:prstGeom prst="rect">
            <a:avLst/>
          </a:prstGeom>
          <a:solidFill>
            <a:srgbClr val="8794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3534B2A-E3EC-74E9-65F2-AC3D887C54D1}"/>
              </a:ext>
            </a:extLst>
          </p:cNvPr>
          <p:cNvSpPr txBox="1"/>
          <p:nvPr/>
        </p:nvSpPr>
        <p:spPr>
          <a:xfrm>
            <a:off x="1092200" y="5638800"/>
            <a:ext cx="581152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150" b="1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MEMO</a:t>
            </a:r>
            <a:endParaRPr kumimoji="1" lang="ja-JP" altLang="en-US" sz="1150" b="1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E2D8026-52A8-B53A-70C3-B6F2FDD72413}"/>
              </a:ext>
            </a:extLst>
          </p:cNvPr>
          <p:cNvSpPr txBox="1"/>
          <p:nvPr/>
        </p:nvSpPr>
        <p:spPr>
          <a:xfrm>
            <a:off x="1673352" y="5638800"/>
            <a:ext cx="9426448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ログ・権限・技術的な制限事項などの詳細は「運用ガイド」を参照してください。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4077495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665926D-1C55-4B5B-94D1-C81721723AD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68A0B70-EE1F-72AB-CAE5-D25107D4F331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B460E08-86F9-300B-8D2A-C17ED08DED35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HOW IT WORKS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B37D63E-D490-8D51-735C-CA40B78FD318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表示のしくみ（全体像）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D2D85B9-144F-89E2-1489-DCE70DF3DCA7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3FE631B-898C-EB70-8C00-5B7A8824A060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AD583F7-2F1F-3C12-DEB4-977325468548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05F1AF5-6F34-553F-8CF4-3B43EED30A2D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操作はフォルダにファイルを置くだけ。検知も表示もアプリが自動で行います。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EB3F4A82-2C46-2083-92AE-6C291113633D}"/>
              </a:ext>
            </a:extLst>
          </p:cNvPr>
          <p:cNvSpPr/>
          <p:nvPr/>
        </p:nvSpPr>
        <p:spPr>
          <a:xfrm>
            <a:off x="812800" y="2413000"/>
            <a:ext cx="31750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D8711E98-C2CF-7BAD-A77A-951C5FA07F7D}"/>
              </a:ext>
            </a:extLst>
          </p:cNvPr>
          <p:cNvSpPr/>
          <p:nvPr/>
        </p:nvSpPr>
        <p:spPr>
          <a:xfrm>
            <a:off x="1117600" y="2717800"/>
            <a:ext cx="457200" cy="457200"/>
          </a:xfrm>
          <a:prstGeom prst="ellipse">
            <a:avLst/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383D9AE-02CA-9535-1040-91CA141092DA}"/>
              </a:ext>
            </a:extLst>
          </p:cNvPr>
          <p:cNvSpPr txBox="1"/>
          <p:nvPr/>
        </p:nvSpPr>
        <p:spPr>
          <a:xfrm>
            <a:off x="1117600" y="2717800"/>
            <a:ext cx="45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endParaRPr kumimoji="1" lang="ja-JP" altLang="en-US" sz="15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39B139A-83A7-C997-F792-05F0B14D4CB9}"/>
              </a:ext>
            </a:extLst>
          </p:cNvPr>
          <p:cNvSpPr txBox="1"/>
          <p:nvPr/>
        </p:nvSpPr>
        <p:spPr>
          <a:xfrm>
            <a:off x="1117600" y="3352800"/>
            <a:ext cx="25654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ファイルを置く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ED8079B-83E0-DB0C-B28E-B2A5FAE63042}"/>
              </a:ext>
            </a:extLst>
          </p:cNvPr>
          <p:cNvSpPr txBox="1"/>
          <p:nvPr/>
        </p:nvSpPr>
        <p:spPr>
          <a:xfrm>
            <a:off x="1117600" y="3733800"/>
            <a:ext cx="2565400" cy="838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指定した監視フォルダの直下に</a:t>
            </a:r>
          </a:p>
          <a:p>
            <a:pPr>
              <a:lnSpc>
                <a:spcPct val="140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・画像・動画を保存します。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A1035741-0C41-4578-6D8D-13AABB5B3480}"/>
              </a:ext>
            </a:extLst>
          </p:cNvPr>
          <p:cNvSpPr/>
          <p:nvPr/>
        </p:nvSpPr>
        <p:spPr>
          <a:xfrm>
            <a:off x="4508500" y="2413000"/>
            <a:ext cx="31750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ADBEE842-FA2B-80D9-87C3-511D31DD0A63}"/>
              </a:ext>
            </a:extLst>
          </p:cNvPr>
          <p:cNvSpPr/>
          <p:nvPr/>
        </p:nvSpPr>
        <p:spPr>
          <a:xfrm>
            <a:off x="4813300" y="2717800"/>
            <a:ext cx="457200" cy="457200"/>
          </a:xfrm>
          <a:prstGeom prst="ellipse">
            <a:avLst/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B48BF8B-1AE2-4E2B-5109-A8F6DDCC6097}"/>
              </a:ext>
            </a:extLst>
          </p:cNvPr>
          <p:cNvSpPr txBox="1"/>
          <p:nvPr/>
        </p:nvSpPr>
        <p:spPr>
          <a:xfrm>
            <a:off x="4813300" y="2717800"/>
            <a:ext cx="45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endParaRPr kumimoji="1" lang="ja-JP" altLang="en-US" sz="15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7B7050D-7C28-BBE1-62A3-2ED87DEC61D5}"/>
              </a:ext>
            </a:extLst>
          </p:cNvPr>
          <p:cNvSpPr txBox="1"/>
          <p:nvPr/>
        </p:nvSpPr>
        <p:spPr>
          <a:xfrm>
            <a:off x="4813300" y="3352800"/>
            <a:ext cx="25654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アプリが検知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0A027B5-F013-5556-363C-99D71F6A84B8}"/>
              </a:ext>
            </a:extLst>
          </p:cNvPr>
          <p:cNvSpPr txBox="1"/>
          <p:nvPr/>
        </p:nvSpPr>
        <p:spPr>
          <a:xfrm>
            <a:off x="4813300" y="3733800"/>
            <a:ext cx="2565400" cy="838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追加・削除を自動で見つけて</a:t>
            </a:r>
          </a:p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再生リストを作り直します。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7356F7A-DB20-3D96-9963-EDD291620813}"/>
              </a:ext>
            </a:extLst>
          </p:cNvPr>
          <p:cNvSpPr/>
          <p:nvPr/>
        </p:nvSpPr>
        <p:spPr>
          <a:xfrm>
            <a:off x="8204200" y="2413000"/>
            <a:ext cx="31750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楕円 20">
            <a:extLst>
              <a:ext uri="{FF2B5EF4-FFF2-40B4-BE49-F238E27FC236}">
                <a16:creationId xmlns:a16="http://schemas.microsoft.com/office/drawing/2014/main" id="{EDDC90D0-DF6E-2808-F02A-DADF12D6F351}"/>
              </a:ext>
            </a:extLst>
          </p:cNvPr>
          <p:cNvSpPr/>
          <p:nvPr/>
        </p:nvSpPr>
        <p:spPr>
          <a:xfrm>
            <a:off x="8509000" y="2717800"/>
            <a:ext cx="457200" cy="457200"/>
          </a:xfrm>
          <a:prstGeom prst="ellipse">
            <a:avLst/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29CC64A9-5D17-1C77-FF00-8F184F822924}"/>
              </a:ext>
            </a:extLst>
          </p:cNvPr>
          <p:cNvSpPr txBox="1"/>
          <p:nvPr/>
        </p:nvSpPr>
        <p:spPr>
          <a:xfrm>
            <a:off x="8509000" y="2717800"/>
            <a:ext cx="45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</a:t>
            </a:r>
            <a:endParaRPr kumimoji="1" lang="ja-JP" altLang="en-US" sz="15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5668AB5-F672-CF43-5789-9757FD779E00}"/>
              </a:ext>
            </a:extLst>
          </p:cNvPr>
          <p:cNvSpPr txBox="1"/>
          <p:nvPr/>
        </p:nvSpPr>
        <p:spPr>
          <a:xfrm>
            <a:off x="8509000" y="3352800"/>
            <a:ext cx="25654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全画面でループ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7E42F221-46C4-58CE-375C-97EF63B3033E}"/>
              </a:ext>
            </a:extLst>
          </p:cNvPr>
          <p:cNvSpPr txBox="1"/>
          <p:nvPr/>
        </p:nvSpPr>
        <p:spPr>
          <a:xfrm>
            <a:off x="8509000" y="3733800"/>
            <a:ext cx="2565400" cy="838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順番に全画面表示し、</a:t>
            </a:r>
          </a:p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最後まで行くと先頭へ戻ります。</a:t>
            </a:r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A92CEEE6-6DB6-0C7C-85B6-55AEAB431F7F}"/>
              </a:ext>
            </a:extLst>
          </p:cNvPr>
          <p:cNvSpPr/>
          <p:nvPr/>
        </p:nvSpPr>
        <p:spPr>
          <a:xfrm>
            <a:off x="4089400" y="3327400"/>
            <a:ext cx="317500" cy="254000"/>
          </a:xfrm>
          <a:prstGeom prst="rightArrow">
            <a:avLst/>
          </a:prstGeom>
          <a:solidFill>
            <a:srgbClr val="BFD0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矢印: 右 25">
            <a:extLst>
              <a:ext uri="{FF2B5EF4-FFF2-40B4-BE49-F238E27FC236}">
                <a16:creationId xmlns:a16="http://schemas.microsoft.com/office/drawing/2014/main" id="{FCD0E786-FA43-04DB-6AAB-E0CF3B0B7FD4}"/>
              </a:ext>
            </a:extLst>
          </p:cNvPr>
          <p:cNvSpPr/>
          <p:nvPr/>
        </p:nvSpPr>
        <p:spPr>
          <a:xfrm>
            <a:off x="7785100" y="3327400"/>
            <a:ext cx="317500" cy="254000"/>
          </a:xfrm>
          <a:prstGeom prst="rightArrow">
            <a:avLst/>
          </a:prstGeom>
          <a:solidFill>
            <a:srgbClr val="BFD0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1C13CE43-E77E-2A0D-C963-1DA6DA93B927}"/>
              </a:ext>
            </a:extLst>
          </p:cNvPr>
          <p:cNvSpPr/>
          <p:nvPr/>
        </p:nvSpPr>
        <p:spPr>
          <a:xfrm>
            <a:off x="812800" y="5130800"/>
            <a:ext cx="10566400" cy="787400"/>
          </a:xfrm>
          <a:prstGeom prst="roundRect">
            <a:avLst>
              <a:gd name="adj" fmla="val 12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09D4F6F7-1BD4-4804-008C-D7C998666E45}"/>
              </a:ext>
            </a:extLst>
          </p:cNvPr>
          <p:cNvSpPr/>
          <p:nvPr/>
        </p:nvSpPr>
        <p:spPr>
          <a:xfrm>
            <a:off x="812800" y="5130800"/>
            <a:ext cx="50800" cy="7874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FA979FD8-207B-E989-3427-B7F3198B7ADC}"/>
              </a:ext>
            </a:extLst>
          </p:cNvPr>
          <p:cNvSpPr txBox="1"/>
          <p:nvPr/>
        </p:nvSpPr>
        <p:spPr>
          <a:xfrm>
            <a:off x="1092200" y="5130800"/>
            <a:ext cx="1497584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反映のタイミング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A3C3D61-2CBE-6F45-1968-43E4C0B287C6}"/>
              </a:ext>
            </a:extLst>
          </p:cNvPr>
          <p:cNvSpPr txBox="1"/>
          <p:nvPr/>
        </p:nvSpPr>
        <p:spPr>
          <a:xfrm>
            <a:off x="2589784" y="5130800"/>
            <a:ext cx="8510016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ファイルを追加・削除しても、いま表示しているスライドが終わったあとに切り替わります。普段は全画面（キオスクモード）のまま運用します。</a:t>
            </a:r>
          </a:p>
        </p:txBody>
      </p:sp>
    </p:spTree>
    <p:extLst>
      <p:ext uri="{BB962C8B-B14F-4D97-AF65-F5344CB8AC3E}">
        <p14:creationId xmlns:p14="http://schemas.microsoft.com/office/powerpoint/2010/main" val="1157316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B5689B8-7CB8-21CB-60C8-C3A3E44994C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653528C-5D8A-FE42-6534-3D3BDC7A1A76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33EB29C-F0D2-EA6D-A0D7-D9D16EAB7CF8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DF8D410-8BBC-C0DE-F5A3-B72579C48BAE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ファイルを追加する・止める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57166C8-F5C7-4453-355F-74263A353A33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92A7EC3-BF60-71ED-E9FB-5CC682691843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803A7A6-FBAD-C667-FE01-714757E6FA06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68AEA0A-DC09-E7CD-BF5A-3DF5BE758DDB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35AC65B-D8D7-0C71-DB50-CBAA99ABB773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4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DC2364ED-C38A-E376-7218-F47C150AD9DE}"/>
              </a:ext>
            </a:extLst>
          </p:cNvPr>
          <p:cNvSpPr/>
          <p:nvPr/>
        </p:nvSpPr>
        <p:spPr>
          <a:xfrm>
            <a:off x="812800" y="1930400"/>
            <a:ext cx="10566400" cy="76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B17FB09A-4213-2E29-63F5-BC250D2DDC94}"/>
              </a:ext>
            </a:extLst>
          </p:cNvPr>
          <p:cNvSpPr/>
          <p:nvPr/>
        </p:nvSpPr>
        <p:spPr>
          <a:xfrm>
            <a:off x="1066800" y="2133600"/>
            <a:ext cx="381000" cy="381000"/>
          </a:xfrm>
          <a:prstGeom prst="ellipse">
            <a:avLst/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D6E6577-BA62-CE1E-4117-E7A6A140EB3A}"/>
              </a:ext>
            </a:extLst>
          </p:cNvPr>
          <p:cNvSpPr txBox="1"/>
          <p:nvPr/>
        </p:nvSpPr>
        <p:spPr>
          <a:xfrm>
            <a:off x="1066800" y="21336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endParaRPr kumimoji="1" lang="ja-JP" altLang="en-US" sz="14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7D43E16-84C2-E0EB-609E-68203835C2AD}"/>
              </a:ext>
            </a:extLst>
          </p:cNvPr>
          <p:cNvSpPr txBox="1"/>
          <p:nvPr/>
        </p:nvSpPr>
        <p:spPr>
          <a:xfrm>
            <a:off x="1625600" y="20828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監視フォルダを開く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58AE453-8AF5-0966-4FA7-6FDCB1732BBA}"/>
              </a:ext>
            </a:extLst>
          </p:cNvPr>
          <p:cNvSpPr txBox="1"/>
          <p:nvPr/>
        </p:nvSpPr>
        <p:spPr>
          <a:xfrm>
            <a:off x="1625600" y="2362200"/>
            <a:ext cx="9347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本番の例：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D:\Signage</a:t>
            </a: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（場所は管理者に確認）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5A59040A-9776-5DA7-8A0A-F8C9577FBB85}"/>
              </a:ext>
            </a:extLst>
          </p:cNvPr>
          <p:cNvSpPr/>
          <p:nvPr/>
        </p:nvSpPr>
        <p:spPr>
          <a:xfrm>
            <a:off x="812800" y="2844800"/>
            <a:ext cx="10566400" cy="76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楕円 16">
            <a:extLst>
              <a:ext uri="{FF2B5EF4-FFF2-40B4-BE49-F238E27FC236}">
                <a16:creationId xmlns:a16="http://schemas.microsoft.com/office/drawing/2014/main" id="{FE3AFCEF-A2BE-7D67-F37D-CD68115B77B6}"/>
              </a:ext>
            </a:extLst>
          </p:cNvPr>
          <p:cNvSpPr/>
          <p:nvPr/>
        </p:nvSpPr>
        <p:spPr>
          <a:xfrm>
            <a:off x="1066800" y="3048000"/>
            <a:ext cx="381000" cy="381000"/>
          </a:xfrm>
          <a:prstGeom prst="ellipse">
            <a:avLst/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92D8B70-848B-C295-4E4E-79675760A893}"/>
              </a:ext>
            </a:extLst>
          </p:cNvPr>
          <p:cNvSpPr txBox="1"/>
          <p:nvPr/>
        </p:nvSpPr>
        <p:spPr>
          <a:xfrm>
            <a:off x="1066800" y="30480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endParaRPr kumimoji="1" lang="ja-JP" altLang="en-US" sz="14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50BCBD1-FB29-9059-B70F-FDFBAB69CA84}"/>
              </a:ext>
            </a:extLst>
          </p:cNvPr>
          <p:cNvSpPr txBox="1"/>
          <p:nvPr/>
        </p:nvSpPr>
        <p:spPr>
          <a:xfrm>
            <a:off x="1625600" y="29972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ファイルをフォルダ直下にコピーする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909F696-894F-0257-51BE-345ADB778B78}"/>
              </a:ext>
            </a:extLst>
          </p:cNvPr>
          <p:cNvSpPr txBox="1"/>
          <p:nvPr/>
        </p:nvSpPr>
        <p:spPr>
          <a:xfrm>
            <a:off x="1625600" y="3276600"/>
            <a:ext cx="9347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対応形式は 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JPG / JPEG</a:t>
            </a: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MP4</a:t>
            </a:r>
            <a:endParaRPr kumimoji="1" lang="ja-JP" altLang="en-US" sz="12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093213B3-7513-EF27-7AAA-399F9AD665FE}"/>
              </a:ext>
            </a:extLst>
          </p:cNvPr>
          <p:cNvSpPr/>
          <p:nvPr/>
        </p:nvSpPr>
        <p:spPr>
          <a:xfrm>
            <a:off x="812800" y="3759200"/>
            <a:ext cx="10566400" cy="76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楕円 21">
            <a:extLst>
              <a:ext uri="{FF2B5EF4-FFF2-40B4-BE49-F238E27FC236}">
                <a16:creationId xmlns:a16="http://schemas.microsoft.com/office/drawing/2014/main" id="{D8E2DC57-D502-8E31-5BA3-5BD07F833F1A}"/>
              </a:ext>
            </a:extLst>
          </p:cNvPr>
          <p:cNvSpPr/>
          <p:nvPr/>
        </p:nvSpPr>
        <p:spPr>
          <a:xfrm>
            <a:off x="1066800" y="3962400"/>
            <a:ext cx="381000" cy="381000"/>
          </a:xfrm>
          <a:prstGeom prst="ellipse">
            <a:avLst/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4C8143F-FE0D-85E2-987B-3018C96FE835}"/>
              </a:ext>
            </a:extLst>
          </p:cNvPr>
          <p:cNvSpPr txBox="1"/>
          <p:nvPr/>
        </p:nvSpPr>
        <p:spPr>
          <a:xfrm>
            <a:off x="1066800" y="3962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</a:t>
            </a:r>
            <a:endParaRPr kumimoji="1" lang="ja-JP" altLang="en-US" sz="14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778A07A-5F4C-7721-0523-BE764FE31448}"/>
              </a:ext>
            </a:extLst>
          </p:cNvPr>
          <p:cNvSpPr txBox="1"/>
          <p:nvPr/>
        </p:nvSpPr>
        <p:spPr>
          <a:xfrm>
            <a:off x="1625600" y="39116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自動で表示に反映される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F1120D6-854E-0CD4-FC8A-CB3A8ABA29F6}"/>
              </a:ext>
            </a:extLst>
          </p:cNvPr>
          <p:cNvSpPr txBox="1"/>
          <p:nvPr/>
        </p:nvSpPr>
        <p:spPr>
          <a:xfrm>
            <a:off x="1625600" y="4191000"/>
            <a:ext cx="9347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現在のスライドが終わったタイミングで切り替わります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CE0E34AA-C8A3-576E-0A3A-7682E5B89DEE}"/>
              </a:ext>
            </a:extLst>
          </p:cNvPr>
          <p:cNvSpPr/>
          <p:nvPr/>
        </p:nvSpPr>
        <p:spPr>
          <a:xfrm>
            <a:off x="812800" y="4724400"/>
            <a:ext cx="10566400" cy="6350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402F09D-587D-A510-A2BE-B420B33DD759}"/>
              </a:ext>
            </a:extLst>
          </p:cNvPr>
          <p:cNvSpPr/>
          <p:nvPr/>
        </p:nvSpPr>
        <p:spPr>
          <a:xfrm>
            <a:off x="812800" y="4724400"/>
            <a:ext cx="50800" cy="6350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F91A075-C15D-AFB7-050C-8F01D7FFD74C}"/>
              </a:ext>
            </a:extLst>
          </p:cNvPr>
          <p:cNvSpPr txBox="1"/>
          <p:nvPr/>
        </p:nvSpPr>
        <p:spPr>
          <a:xfrm>
            <a:off x="1092200" y="4724400"/>
            <a:ext cx="564896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注意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CA7413F9-F78B-549F-1669-A5CEB733444B}"/>
              </a:ext>
            </a:extLst>
          </p:cNvPr>
          <p:cNvSpPr txBox="1"/>
          <p:nvPr/>
        </p:nvSpPr>
        <p:spPr>
          <a:xfrm>
            <a:off x="1657096" y="4724400"/>
            <a:ext cx="9442704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サブフォルダの中のファイルは表示されません。必ずフォルダ直下に置いてください。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8CE4C9BC-F3F1-0D88-8B5C-5B785B395C90}"/>
              </a:ext>
            </a:extLst>
          </p:cNvPr>
          <p:cNvSpPr/>
          <p:nvPr/>
        </p:nvSpPr>
        <p:spPr>
          <a:xfrm>
            <a:off x="812800" y="5461000"/>
            <a:ext cx="10566400" cy="63500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FC1A40B0-0C29-E522-E6DC-849EBD39280B}"/>
              </a:ext>
            </a:extLst>
          </p:cNvPr>
          <p:cNvSpPr/>
          <p:nvPr/>
        </p:nvSpPr>
        <p:spPr>
          <a:xfrm>
            <a:off x="812800" y="5461000"/>
            <a:ext cx="50800" cy="6350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2716B062-0D55-1A16-B61B-1B3BF874AC8E}"/>
              </a:ext>
            </a:extLst>
          </p:cNvPr>
          <p:cNvSpPr txBox="1"/>
          <p:nvPr/>
        </p:nvSpPr>
        <p:spPr>
          <a:xfrm>
            <a:off x="1092200" y="5461000"/>
            <a:ext cx="1031240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止めるとき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B38F82A-ED4D-2ABF-199E-0C3CE58F2605}"/>
              </a:ext>
            </a:extLst>
          </p:cNvPr>
          <p:cNvSpPr txBox="1"/>
          <p:nvPr/>
        </p:nvSpPr>
        <p:spPr>
          <a:xfrm>
            <a:off x="2123440" y="5461000"/>
            <a:ext cx="8976360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監視フォルダから該当のファイルを削除するだけです。反映はやはり現在のスライドが終わったあとです。</a:t>
            </a:r>
          </a:p>
        </p:txBody>
      </p:sp>
    </p:spTree>
    <p:extLst>
      <p:ext uri="{BB962C8B-B14F-4D97-AF65-F5344CB8AC3E}">
        <p14:creationId xmlns:p14="http://schemas.microsoft.com/office/powerpoint/2010/main" val="2630435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3D02608-482A-3B4C-8773-B04D9FC65F2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5C9B35F-D4F3-2314-7A0F-32DA26969057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EAF1DAA-921B-7B57-C713-EE1BC886F968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95D47B8-DA62-B9AA-FC40-BF48D3E3845D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使えるファイルの種類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2F260B3-2564-0B3B-C1CC-1F065D1D158E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9C63AE1C-A08F-63A5-F159-415C30AA9245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0767EDE-BEF6-A49E-A9E6-BED0645BE60B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A79C5F-3F23-6242-02BB-EDA9DC6FD720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CF44966-01E5-EFD6-B954-0B103107EF37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5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53E39FD-C5AF-E86D-5755-24657560369C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次の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種類だけが表示対象です。それ以外の形式は無視されます。</a:t>
            </a: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661BDC2E-ED21-F2A5-3409-7AF91D028B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6173914"/>
              </p:ext>
            </p:extLst>
          </p:nvPr>
        </p:nvGraphicFramePr>
        <p:xfrm>
          <a:off x="812800" y="2438400"/>
          <a:ext cx="10566400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832974920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1300155195"/>
                    </a:ext>
                  </a:extLst>
                </a:gridCol>
                <a:gridCol w="6248400">
                  <a:extLst>
                    <a:ext uri="{9D8B030D-6E8A-4147-A177-3AD203B41FA5}">
                      <a16:colId xmlns:a16="http://schemas.microsoft.com/office/drawing/2014/main" val="381446898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種類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拡張子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表示のしかた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014425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画像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.jpg / .jpeg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 </a:t>
                      </a: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= 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枚のスライド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9206145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PDF</a:t>
                      </a:r>
                      <a:endParaRPr kumimoji="1" lang="ja-JP" altLang="en-US" sz="1250" b="1">
                        <a:solidFill>
                          <a:srgbClr val="1B2430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.pdf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ページ </a:t>
                      </a: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= 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枚のスライド（ページ順に表示）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1532786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動画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.mp4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最後まで再生してから次のスライドへ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1200599"/>
                  </a:ext>
                </a:extLst>
              </a:tr>
            </a:tbl>
          </a:graphicData>
        </a:graphic>
      </p:graphicFrame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4723131-1692-7442-E5CC-F657FC569A49}"/>
              </a:ext>
            </a:extLst>
          </p:cNvPr>
          <p:cNvSpPr/>
          <p:nvPr/>
        </p:nvSpPr>
        <p:spPr>
          <a:xfrm>
            <a:off x="812800" y="5207000"/>
            <a:ext cx="10566400" cy="6604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43C5D30B-9BAD-2E4B-928C-974AA031EB7E}"/>
              </a:ext>
            </a:extLst>
          </p:cNvPr>
          <p:cNvSpPr/>
          <p:nvPr/>
        </p:nvSpPr>
        <p:spPr>
          <a:xfrm>
            <a:off x="812800" y="5207000"/>
            <a:ext cx="50800" cy="6604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3147EE7-188D-F58B-502A-3D278E06AEEA}"/>
              </a:ext>
            </a:extLst>
          </p:cNvPr>
          <p:cNvSpPr txBox="1"/>
          <p:nvPr/>
        </p:nvSpPr>
        <p:spPr>
          <a:xfrm>
            <a:off x="1092200" y="5207000"/>
            <a:ext cx="1186688" cy="660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使えない形式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F4A1CAA-A80B-E2ED-BB5B-062C421392E4}"/>
              </a:ext>
            </a:extLst>
          </p:cNvPr>
          <p:cNvSpPr txBox="1"/>
          <p:nvPr/>
        </p:nvSpPr>
        <p:spPr>
          <a:xfrm>
            <a:off x="2278888" y="5207000"/>
            <a:ext cx="8820912" cy="660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PNG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GIF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MOV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などは表示できません。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JPEG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MP4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に変換してから置いてください。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1419630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48EFBE2-6A64-0F1C-037B-639C058E1D4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95BAE7F-5DEE-F703-EFC2-CB7701DD1DB8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0B028EF-4D04-FE6C-1AFD-2B350A271180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89A5BA-84E0-7D18-80E5-FC9E4F8B4AA8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表示順はファイル名で決まる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806D3E3-F4A3-3B29-DF5B-1A9EE5508446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1C074EE9-90D9-0B9C-C994-EC24854AE78B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1CF1D07-95A7-8870-8340-A52732EF9EC6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94100AD-1C81-4414-03C1-8149092C7B8F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D441E5F-54A1-99DF-1458-0BE9B545B5C1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6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7211823-C18D-10A1-BE9C-33E1F25F8B43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ファイル名の自然な順（人が読む順に近い並び）で表示します。</a:t>
            </a: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E2A8B320-9730-87DB-17AE-6F2CA02269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805254"/>
              </p:ext>
            </p:extLst>
          </p:nvPr>
        </p:nvGraphicFramePr>
        <p:xfrm>
          <a:off x="812800" y="2438400"/>
          <a:ext cx="10566400" cy="1930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461000">
                  <a:extLst>
                    <a:ext uri="{9D8B030D-6E8A-4147-A177-3AD203B41FA5}">
                      <a16:colId xmlns:a16="http://schemas.microsoft.com/office/drawing/2014/main" val="1369730800"/>
                    </a:ext>
                  </a:extLst>
                </a:gridCol>
                <a:gridCol w="5105400">
                  <a:extLst>
                    <a:ext uri="{9D8B030D-6E8A-4147-A177-3AD203B41FA5}">
                      <a16:colId xmlns:a16="http://schemas.microsoft.com/office/drawing/2014/main" val="291684185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ファイル名の例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実際の表示順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7779265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001.jpg → 002.jpg → 010.jpg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001 → 002 → 010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（意図どおり）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3115591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1.jpg → 10.jpg → 2.jpg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 → 10 → 2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（意図とずれることがある）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935884"/>
                  </a:ext>
                </a:extLst>
              </a:tr>
            </a:tbl>
          </a:graphicData>
        </a:graphic>
      </p:graphicFrame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1EBBB59C-97E2-0A32-85A0-9335F8FEB8B8}"/>
              </a:ext>
            </a:extLst>
          </p:cNvPr>
          <p:cNvSpPr/>
          <p:nvPr/>
        </p:nvSpPr>
        <p:spPr>
          <a:xfrm>
            <a:off x="812800" y="4775200"/>
            <a:ext cx="10566400" cy="76200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A954B78-1F70-743D-C582-244D8E6FFDF9}"/>
              </a:ext>
            </a:extLst>
          </p:cNvPr>
          <p:cNvSpPr/>
          <p:nvPr/>
        </p:nvSpPr>
        <p:spPr>
          <a:xfrm>
            <a:off x="812800" y="4775200"/>
            <a:ext cx="50800" cy="7620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A00453-D84A-2A6E-D7B9-E09F0C84BBBA}"/>
              </a:ext>
            </a:extLst>
          </p:cNvPr>
          <p:cNvSpPr txBox="1"/>
          <p:nvPr/>
        </p:nvSpPr>
        <p:spPr>
          <a:xfrm>
            <a:off x="1092200" y="4775200"/>
            <a:ext cx="875792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おすすめ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92A2AEE-24BA-D6E8-D796-667EB8EC0EE9}"/>
              </a:ext>
            </a:extLst>
          </p:cNvPr>
          <p:cNvSpPr txBox="1"/>
          <p:nvPr/>
        </p:nvSpPr>
        <p:spPr>
          <a:xfrm>
            <a:off x="1967992" y="4775200"/>
            <a:ext cx="9131808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先頭を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001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002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003 …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のように桁を揃えておくと、並び替えも差し替えも管理しやすくなります。</a:t>
            </a:r>
          </a:p>
        </p:txBody>
      </p:sp>
    </p:spTree>
    <p:extLst>
      <p:ext uri="{BB962C8B-B14F-4D97-AF65-F5344CB8AC3E}">
        <p14:creationId xmlns:p14="http://schemas.microsoft.com/office/powerpoint/2010/main" val="39867593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ECDBF21-3D2F-CC29-9D17-F30295EF88C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109A8BE-D646-0484-72C8-DE0070CDB124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C7E8786-114C-54BB-A4B7-A0681DC2B70E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AFFF445-1228-BA36-DC03-BC31966AF630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表示時間はファイル名で変えられる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43FCA22-5BC1-B35C-9A7D-09E3CB641DD3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74B1F074-3A0B-DF3F-1BA9-F11476411DEF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7AF0045-12F9-3E7F-6A35-CCB648827D52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2F8E7C4-2228-346A-A434-45D1E6074F7B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7D5DC51-92F8-6F97-4BA7-82D0D8E9E660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7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34658D3-E21A-0DC6-167F-EF8B38D91127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画像と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は、拡張子の直前に「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秒数」を付けると、そのファイルだけ表示時間を変えられます。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14F61B73-32BD-369C-C515-D3AE66E0D85A}"/>
              </a:ext>
            </a:extLst>
          </p:cNvPr>
          <p:cNvSpPr/>
          <p:nvPr/>
        </p:nvSpPr>
        <p:spPr>
          <a:xfrm>
            <a:off x="812800" y="2362200"/>
            <a:ext cx="10566400" cy="1066800"/>
          </a:xfrm>
          <a:prstGeom prst="roundRect">
            <a:avLst>
              <a:gd name="adj" fmla="val 12000"/>
            </a:avLst>
          </a:prstGeom>
          <a:solidFill>
            <a:srgbClr val="102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0C274D3-B012-888C-4AD2-812CBE417DEE}"/>
              </a:ext>
            </a:extLst>
          </p:cNvPr>
          <p:cNvSpPr txBox="1"/>
          <p:nvPr/>
        </p:nvSpPr>
        <p:spPr>
          <a:xfrm>
            <a:off x="1244600" y="2540000"/>
            <a:ext cx="508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600" b="1">
                <a:solidFill>
                  <a:srgbClr val="FFFFFF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2600" b="1">
                <a:solidFill>
                  <a:srgbClr val="FFFFFF"/>
                </a:solidFill>
                <a:latin typeface="Consolas" panose="020B0609020204030204" pitchFamily="49" charset="0"/>
              </a:rPr>
              <a:t>_120.pdf</a:t>
            </a:r>
            <a:endParaRPr kumimoji="1" lang="ja-JP" altLang="en-US" sz="2600" b="1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0B5559F-5095-9437-622B-D03FFDDA5E49}"/>
              </a:ext>
            </a:extLst>
          </p:cNvPr>
          <p:cNvSpPr txBox="1"/>
          <p:nvPr/>
        </p:nvSpPr>
        <p:spPr>
          <a:xfrm>
            <a:off x="1244600" y="2997200"/>
            <a:ext cx="9702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「</a:t>
            </a:r>
            <a:r>
              <a:rPr kumimoji="1" lang="en-US" altLang="ja-JP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_120</a:t>
            </a: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」の部分が表示秒数。付けなければ管理者が決めた標準の秒数になります。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32D5FC52-7CB2-A201-13D0-7C9BDCEE0643}"/>
              </a:ext>
            </a:extLst>
          </p:cNvPr>
          <p:cNvSpPr/>
          <p:nvPr/>
        </p:nvSpPr>
        <p:spPr>
          <a:xfrm>
            <a:off x="8128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4E0CD87-C645-E1DA-97E2-9565D63473B9}"/>
              </a:ext>
            </a:extLst>
          </p:cNvPr>
          <p:cNvSpPr txBox="1"/>
          <p:nvPr/>
        </p:nvSpPr>
        <p:spPr>
          <a:xfrm>
            <a:off x="1066800" y="3937000"/>
            <a:ext cx="2844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400" b="1">
                <a:solidFill>
                  <a:srgbClr val="1B2430"/>
                </a:solidFill>
                <a:latin typeface="Consolas" panose="020B0609020204030204" pitchFamily="49" charset="0"/>
              </a:rPr>
              <a:t>.pdf</a:t>
            </a:r>
            <a:endParaRPr kumimoji="1" lang="ja-JP" altLang="en-US" sz="14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47598E5-A132-763C-CBE8-D539861FF34E}"/>
              </a:ext>
            </a:extLst>
          </p:cNvPr>
          <p:cNvSpPr txBox="1"/>
          <p:nvPr/>
        </p:nvSpPr>
        <p:spPr>
          <a:xfrm>
            <a:off x="1066800" y="4267200"/>
            <a:ext cx="28448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標準の秒数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084C315-1E46-5282-BCC8-B0BEFC105BF8}"/>
              </a:ext>
            </a:extLst>
          </p:cNvPr>
          <p:cNvSpPr txBox="1"/>
          <p:nvPr/>
        </p:nvSpPr>
        <p:spPr>
          <a:xfrm>
            <a:off x="1066800" y="4648200"/>
            <a:ext cx="28448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管理画面の設定値（初期値 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15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秒）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597A9D99-9EAF-3ABA-773B-3265BE27AE26}"/>
              </a:ext>
            </a:extLst>
          </p:cNvPr>
          <p:cNvSpPr/>
          <p:nvPr/>
        </p:nvSpPr>
        <p:spPr>
          <a:xfrm>
            <a:off x="44196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06B1E64-DD45-FC6E-672B-05D1911FF4CC}"/>
              </a:ext>
            </a:extLst>
          </p:cNvPr>
          <p:cNvSpPr txBox="1"/>
          <p:nvPr/>
        </p:nvSpPr>
        <p:spPr>
          <a:xfrm>
            <a:off x="4673600" y="3937000"/>
            <a:ext cx="2844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400" b="1">
                <a:solidFill>
                  <a:srgbClr val="1B2430"/>
                </a:solidFill>
                <a:latin typeface="Consolas" panose="020B0609020204030204" pitchFamily="49" charset="0"/>
              </a:rPr>
              <a:t>_120.pdf</a:t>
            </a:r>
            <a:endParaRPr kumimoji="1" lang="ja-JP" altLang="en-US" sz="14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E2F2148-4E48-5C65-0E7D-4C7B6C7E09A1}"/>
              </a:ext>
            </a:extLst>
          </p:cNvPr>
          <p:cNvSpPr txBox="1"/>
          <p:nvPr/>
        </p:nvSpPr>
        <p:spPr>
          <a:xfrm>
            <a:off x="4673600" y="4267200"/>
            <a:ext cx="28448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120 </a:t>
            </a:r>
            <a:r>
              <a:rPr kumimoji="1" lang="ja-JP" altLang="en-US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DD49F63-0030-719B-F034-C2D16F20F0DF}"/>
              </a:ext>
            </a:extLst>
          </p:cNvPr>
          <p:cNvSpPr txBox="1"/>
          <p:nvPr/>
        </p:nvSpPr>
        <p:spPr>
          <a:xfrm>
            <a:off x="4673600" y="4648200"/>
            <a:ext cx="28448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分間しっかり読ませたい掲示に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77A20CFD-4D1E-35B0-1D6A-BD4FE1020E68}"/>
              </a:ext>
            </a:extLst>
          </p:cNvPr>
          <p:cNvSpPr/>
          <p:nvPr/>
        </p:nvSpPr>
        <p:spPr>
          <a:xfrm>
            <a:off x="80264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C60A280-BA34-FE29-53D1-5F3E0C79A6FA}"/>
              </a:ext>
            </a:extLst>
          </p:cNvPr>
          <p:cNvSpPr txBox="1"/>
          <p:nvPr/>
        </p:nvSpPr>
        <p:spPr>
          <a:xfrm>
            <a:off x="8280400" y="3937000"/>
            <a:ext cx="2844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 b="1">
                <a:solidFill>
                  <a:srgbClr val="1B2430"/>
                </a:solidFill>
                <a:latin typeface="Consolas" panose="020B0609020204030204" pitchFamily="49" charset="0"/>
              </a:rPr>
              <a:t>写真</a:t>
            </a:r>
            <a:r>
              <a:rPr kumimoji="1" lang="en-US" altLang="ja-JP" sz="1400" b="1">
                <a:solidFill>
                  <a:srgbClr val="1B2430"/>
                </a:solidFill>
                <a:latin typeface="Consolas" panose="020B0609020204030204" pitchFamily="49" charset="0"/>
              </a:rPr>
              <a:t>_30.jpg</a:t>
            </a:r>
            <a:endParaRPr kumimoji="1" lang="ja-JP" altLang="en-US" sz="14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24CEBEF0-73B0-11BF-28B8-4996FF5E96EF}"/>
              </a:ext>
            </a:extLst>
          </p:cNvPr>
          <p:cNvSpPr txBox="1"/>
          <p:nvPr/>
        </p:nvSpPr>
        <p:spPr>
          <a:xfrm>
            <a:off x="8280400" y="4267200"/>
            <a:ext cx="28448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30 </a:t>
            </a:r>
            <a:r>
              <a:rPr kumimoji="1" lang="ja-JP" altLang="en-US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C6C60BC-D596-7072-1699-DDF6AC6B1F01}"/>
              </a:ext>
            </a:extLst>
          </p:cNvPr>
          <p:cNvSpPr txBox="1"/>
          <p:nvPr/>
        </p:nvSpPr>
        <p:spPr>
          <a:xfrm>
            <a:off x="8280400" y="4648200"/>
            <a:ext cx="28448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短めに流したい写真に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6F73CD3A-B85D-2207-3FF9-987DF1EE2A90}"/>
              </a:ext>
            </a:extLst>
          </p:cNvPr>
          <p:cNvSpPr/>
          <p:nvPr/>
        </p:nvSpPr>
        <p:spPr>
          <a:xfrm>
            <a:off x="812800" y="5334000"/>
            <a:ext cx="10566400" cy="6096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E7D0FBFA-9CBC-7AB2-52B4-68A3592A2C92}"/>
              </a:ext>
            </a:extLst>
          </p:cNvPr>
          <p:cNvSpPr/>
          <p:nvPr/>
        </p:nvSpPr>
        <p:spPr>
          <a:xfrm>
            <a:off x="812800" y="5334000"/>
            <a:ext cx="50800" cy="6096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31F65466-8654-B345-10F2-29EBDB534816}"/>
              </a:ext>
            </a:extLst>
          </p:cNvPr>
          <p:cNvSpPr txBox="1"/>
          <p:nvPr/>
        </p:nvSpPr>
        <p:spPr>
          <a:xfrm>
            <a:off x="1092200" y="5334000"/>
            <a:ext cx="103124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動画は例外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BDCE8392-2DCD-EBA4-712D-7329F88E07A7}"/>
              </a:ext>
            </a:extLst>
          </p:cNvPr>
          <p:cNvSpPr txBox="1"/>
          <p:nvPr/>
        </p:nvSpPr>
        <p:spPr>
          <a:xfrm>
            <a:off x="2123440" y="5334000"/>
            <a:ext cx="897636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.mp4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は再生が終わるまで表示します。秒数指定は効きません。</a:t>
            </a:r>
          </a:p>
        </p:txBody>
      </p:sp>
    </p:spTree>
    <p:extLst>
      <p:ext uri="{BB962C8B-B14F-4D97-AF65-F5344CB8AC3E}">
        <p14:creationId xmlns:p14="http://schemas.microsoft.com/office/powerpoint/2010/main" val="41309535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49947C4-5513-B63F-1793-B40822582B0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32953C5-5644-21E0-8FA9-6542256CE1BD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9449195-4F63-EE92-C1F4-A1559DB49EFA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1640310-3266-88BB-6770-A680433B0555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知っておきたい 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つのこと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3F0D186-FFB6-F2CC-4ECE-DD041459623B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4E503795-A651-2BB2-53EC-A6D5E489360C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71B38EE-5F99-259F-7910-ABEB4C0E8812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FE88805-BCC2-F0BE-49F8-D5394AA8DB55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110CE79-5476-2146-81B2-39FCE8D1770E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8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A39407D7-DE34-2A37-625F-5BF055292871}"/>
              </a:ext>
            </a:extLst>
          </p:cNvPr>
          <p:cNvSpPr/>
          <p:nvPr/>
        </p:nvSpPr>
        <p:spPr>
          <a:xfrm>
            <a:off x="812800" y="2133600"/>
            <a:ext cx="10566400" cy="1219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AE9CD9D3-D07B-7491-8869-5A903123DA06}"/>
              </a:ext>
            </a:extLst>
          </p:cNvPr>
          <p:cNvSpPr/>
          <p:nvPr/>
        </p:nvSpPr>
        <p:spPr>
          <a:xfrm>
            <a:off x="812800" y="2133600"/>
            <a:ext cx="50800" cy="1219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278E036-AB23-AE29-C54F-CA879123535D}"/>
              </a:ext>
            </a:extLst>
          </p:cNvPr>
          <p:cNvSpPr txBox="1"/>
          <p:nvPr/>
        </p:nvSpPr>
        <p:spPr>
          <a:xfrm>
            <a:off x="1168400" y="2413000"/>
            <a:ext cx="9855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コピー中は反映されない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943EFD9D-E356-D063-161F-86204C4BDAEB}"/>
              </a:ext>
            </a:extLst>
          </p:cNvPr>
          <p:cNvSpPr txBox="1"/>
          <p:nvPr/>
        </p:nvSpPr>
        <p:spPr>
          <a:xfrm>
            <a:off x="1168400" y="2768600"/>
            <a:ext cx="9855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ファイルのコピー途中だと読み込みに失敗することがあります。コピーが完了すれば自動で反映されます。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B36C979F-F87F-490A-40E0-4831835E5A26}"/>
              </a:ext>
            </a:extLst>
          </p:cNvPr>
          <p:cNvSpPr/>
          <p:nvPr/>
        </p:nvSpPr>
        <p:spPr>
          <a:xfrm>
            <a:off x="812800" y="3530600"/>
            <a:ext cx="10566400" cy="1219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471C7B0C-57C7-F1B9-90E6-BDC1C278AA39}"/>
              </a:ext>
            </a:extLst>
          </p:cNvPr>
          <p:cNvSpPr/>
          <p:nvPr/>
        </p:nvSpPr>
        <p:spPr>
          <a:xfrm>
            <a:off x="812800" y="3530600"/>
            <a:ext cx="50800" cy="1219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37D27A3-DC7C-9B11-DBD1-CBCC28C0864D}"/>
              </a:ext>
            </a:extLst>
          </p:cNvPr>
          <p:cNvSpPr txBox="1"/>
          <p:nvPr/>
        </p:nvSpPr>
        <p:spPr>
          <a:xfrm>
            <a:off x="1168400" y="3810000"/>
            <a:ext cx="9855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壊れたファイルはスキップ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A8FDA28-1208-C27D-B4C4-54D536480BB1}"/>
              </a:ext>
            </a:extLst>
          </p:cNvPr>
          <p:cNvSpPr txBox="1"/>
          <p:nvPr/>
        </p:nvSpPr>
        <p:spPr>
          <a:xfrm>
            <a:off x="1168400" y="4165600"/>
            <a:ext cx="9855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読めないファイルは自動で飛ばし、残りのファイルは続けて表示されます。掲示が止まることはありません。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BB072B57-DB29-7078-1A5B-DBE9C8D94380}"/>
              </a:ext>
            </a:extLst>
          </p:cNvPr>
          <p:cNvSpPr/>
          <p:nvPr/>
        </p:nvSpPr>
        <p:spPr>
          <a:xfrm>
            <a:off x="812800" y="4927600"/>
            <a:ext cx="10566400" cy="1219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AF1E0808-52E6-DE1B-F266-DE6573103D27}"/>
              </a:ext>
            </a:extLst>
          </p:cNvPr>
          <p:cNvSpPr/>
          <p:nvPr/>
        </p:nvSpPr>
        <p:spPr>
          <a:xfrm>
            <a:off x="812800" y="4927600"/>
            <a:ext cx="50800" cy="1219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0FDA571-2502-A7A7-F047-483AF320DB7A}"/>
              </a:ext>
            </a:extLst>
          </p:cNvPr>
          <p:cNvSpPr txBox="1"/>
          <p:nvPr/>
        </p:nvSpPr>
        <p:spPr>
          <a:xfrm>
            <a:off x="1168400" y="5207000"/>
            <a:ext cx="9855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設定変更は管理者が行う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13A8E30-D33E-86CB-32CD-E5443D3DEC28}"/>
              </a:ext>
            </a:extLst>
          </p:cNvPr>
          <p:cNvSpPr txBox="1"/>
          <p:nvPr/>
        </p:nvSpPr>
        <p:spPr>
          <a:xfrm>
            <a:off x="1168400" y="5562600"/>
            <a:ext cx="9855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フォルダの場所や標準の表示秒数などの変更は、管理者が管理画面で行います。</a:t>
            </a:r>
          </a:p>
        </p:txBody>
      </p:sp>
    </p:spTree>
    <p:extLst>
      <p:ext uri="{BB962C8B-B14F-4D97-AF65-F5344CB8AC3E}">
        <p14:creationId xmlns:p14="http://schemas.microsoft.com/office/powerpoint/2010/main" val="22784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AFC1608-3838-4A8D-717C-0E07BB3C574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9A76E1F-04E4-0A2C-2EA6-12B65E174FA1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5B0151A-9EF8-F8FC-DCE0-9270F3E06E88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6DECBE-F13C-7783-B401-2D458F9591E7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アプリの起動と管理画面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E7BF40A-A699-3B06-FB4F-AFC3B87611B1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168CDFCE-D3EF-CB6B-B43B-0AF0D6227846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861C7BB-783F-97CE-614C-308D9DBF0DE1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74B7EC1-D8F0-7E07-7A3C-F6D4D0B4AB27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0814D6B-0343-E1AD-16CB-E725AD9A4AA7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9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460EA644-93EE-E193-51CF-C321C884FDB5}"/>
              </a:ext>
            </a:extLst>
          </p:cNvPr>
          <p:cNvSpPr/>
          <p:nvPr/>
        </p:nvSpPr>
        <p:spPr>
          <a:xfrm>
            <a:off x="812800" y="1905000"/>
            <a:ext cx="5130800" cy="2692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43F4FED5-886C-B207-6CE9-5043C5E3EAA9}"/>
              </a:ext>
            </a:extLst>
          </p:cNvPr>
          <p:cNvSpPr/>
          <p:nvPr/>
        </p:nvSpPr>
        <p:spPr>
          <a:xfrm>
            <a:off x="1143000" y="2209800"/>
            <a:ext cx="685800" cy="279400"/>
          </a:xfrm>
          <a:prstGeom prst="roundRect">
            <a:avLst>
              <a:gd name="adj" fmla="val 5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DE3026A-5A38-E5D7-BB73-FAB117454814}"/>
              </a:ext>
            </a:extLst>
          </p:cNvPr>
          <p:cNvSpPr txBox="1"/>
          <p:nvPr/>
        </p:nvSpPr>
        <p:spPr>
          <a:xfrm>
            <a:off x="1143000" y="2209800"/>
            <a:ext cx="685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START</a:t>
            </a:r>
            <a:endParaRPr kumimoji="1" lang="ja-JP" altLang="en-US" sz="10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FBDA3F7-7F8D-CFF9-DF39-D02F7D9DA701}"/>
              </a:ext>
            </a:extLst>
          </p:cNvPr>
          <p:cNvSpPr txBox="1"/>
          <p:nvPr/>
        </p:nvSpPr>
        <p:spPr>
          <a:xfrm>
            <a:off x="1143000" y="26416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アプリを起動する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7DE65CA-57DD-3954-F4FE-ABDA07D0EC24}"/>
              </a:ext>
            </a:extLst>
          </p:cNvPr>
          <p:cNvSpPr txBox="1"/>
          <p:nvPr/>
        </p:nvSpPr>
        <p:spPr>
          <a:xfrm>
            <a:off x="1143000" y="3175000"/>
            <a:ext cx="44704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配布フォルダの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PdfSignage.exe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をダブルクリック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全画面でサイネージ表示が始まる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初回起動時は設定ファイルが自動作成される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96F24676-F1B5-3D40-4E65-33152AFC0FA8}"/>
              </a:ext>
            </a:extLst>
          </p:cNvPr>
          <p:cNvSpPr/>
          <p:nvPr/>
        </p:nvSpPr>
        <p:spPr>
          <a:xfrm>
            <a:off x="6248400" y="1905000"/>
            <a:ext cx="5130800" cy="2692400"/>
          </a:xfrm>
          <a:prstGeom prst="roundRect">
            <a:avLst>
              <a:gd name="adj" fmla="val 7000"/>
            </a:avLst>
          </a:prstGeom>
          <a:solidFill>
            <a:srgbClr val="102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186A315E-E82F-B1C4-DB74-8E366CBADCEB}"/>
              </a:ext>
            </a:extLst>
          </p:cNvPr>
          <p:cNvSpPr/>
          <p:nvPr/>
        </p:nvSpPr>
        <p:spPr>
          <a:xfrm>
            <a:off x="6578600" y="2209800"/>
            <a:ext cx="899160" cy="279400"/>
          </a:xfrm>
          <a:prstGeom prst="roundRect">
            <a:avLst>
              <a:gd name="adj" fmla="val 50000"/>
            </a:avLst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EFA2781-E641-242F-DE3C-24678F853CAC}"/>
              </a:ext>
            </a:extLst>
          </p:cNvPr>
          <p:cNvSpPr txBox="1"/>
          <p:nvPr/>
        </p:nvSpPr>
        <p:spPr>
          <a:xfrm>
            <a:off x="6578600" y="2209800"/>
            <a:ext cx="89916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BBD1FA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SHORTCUT</a:t>
            </a:r>
            <a:endParaRPr kumimoji="1" lang="ja-JP" altLang="en-US" sz="1000" b="1">
              <a:solidFill>
                <a:srgbClr val="BBD1FA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B10DA6-9A4E-0B60-71CC-18B3C24C0778}"/>
              </a:ext>
            </a:extLst>
          </p:cNvPr>
          <p:cNvSpPr txBox="1"/>
          <p:nvPr/>
        </p:nvSpPr>
        <p:spPr>
          <a:xfrm>
            <a:off x="6578600" y="26416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管理画面を開く </a:t>
            </a:r>
            <a:r>
              <a:rPr kumimoji="1" lang="en-US" altLang="ja-JP" sz="19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/ </a:t>
            </a:r>
            <a:r>
              <a:rPr kumimoji="1" lang="ja-JP" altLang="en-US" sz="19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閉じる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AEE04B3E-FBC9-9F78-078C-718459B9D0C6}"/>
              </a:ext>
            </a:extLst>
          </p:cNvPr>
          <p:cNvSpPr/>
          <p:nvPr/>
        </p:nvSpPr>
        <p:spPr>
          <a:xfrm>
            <a:off x="6578600" y="3175000"/>
            <a:ext cx="858520" cy="558800"/>
          </a:xfrm>
          <a:prstGeom prst="roundRect">
            <a:avLst>
              <a:gd name="adj" fmla="val 18000"/>
            </a:avLst>
          </a:prstGeom>
          <a:solidFill>
            <a:srgbClr val="25406E"/>
          </a:solidFill>
          <a:ln w="9525">
            <a:solidFill>
              <a:srgbClr val="3E5C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01593F4-0B24-F2A7-5B5B-4E304D4C5884}"/>
              </a:ext>
            </a:extLst>
          </p:cNvPr>
          <p:cNvSpPr txBox="1"/>
          <p:nvPr/>
        </p:nvSpPr>
        <p:spPr>
          <a:xfrm>
            <a:off x="6578600" y="3175000"/>
            <a:ext cx="85852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endParaRPr kumimoji="1" lang="ja-JP" altLang="en-US" sz="15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C139A5A0-D14D-8153-E9A5-FEE02B342645}"/>
              </a:ext>
            </a:extLst>
          </p:cNvPr>
          <p:cNvSpPr txBox="1"/>
          <p:nvPr/>
        </p:nvSpPr>
        <p:spPr>
          <a:xfrm>
            <a:off x="7437120" y="3175000"/>
            <a:ext cx="330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7FA6F5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+</a:t>
            </a:r>
            <a:endParaRPr kumimoji="1" lang="ja-JP" altLang="en-US" sz="1500" b="1">
              <a:solidFill>
                <a:srgbClr val="7FA6F5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5A3F959C-4099-4F4B-770D-402AE20932EF}"/>
              </a:ext>
            </a:extLst>
          </p:cNvPr>
          <p:cNvSpPr/>
          <p:nvPr/>
        </p:nvSpPr>
        <p:spPr>
          <a:xfrm>
            <a:off x="7767320" y="3175000"/>
            <a:ext cx="965200" cy="558800"/>
          </a:xfrm>
          <a:prstGeom prst="roundRect">
            <a:avLst>
              <a:gd name="adj" fmla="val 18000"/>
            </a:avLst>
          </a:prstGeom>
          <a:solidFill>
            <a:srgbClr val="25406E"/>
          </a:solidFill>
          <a:ln w="9525">
            <a:solidFill>
              <a:srgbClr val="3E5C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647A59CC-6E8C-34CE-C73A-15BEF683BAF8}"/>
              </a:ext>
            </a:extLst>
          </p:cNvPr>
          <p:cNvSpPr txBox="1"/>
          <p:nvPr/>
        </p:nvSpPr>
        <p:spPr>
          <a:xfrm>
            <a:off x="7767320" y="3175000"/>
            <a:ext cx="965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endParaRPr kumimoji="1" lang="ja-JP" altLang="en-US" sz="15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B08076C-7E14-802A-2D39-09B600FC7E1F}"/>
              </a:ext>
            </a:extLst>
          </p:cNvPr>
          <p:cNvSpPr txBox="1"/>
          <p:nvPr/>
        </p:nvSpPr>
        <p:spPr>
          <a:xfrm>
            <a:off x="8732520" y="3175000"/>
            <a:ext cx="330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7FA6F5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+</a:t>
            </a:r>
            <a:endParaRPr kumimoji="1" lang="ja-JP" altLang="en-US" sz="1500" b="1">
              <a:solidFill>
                <a:srgbClr val="7FA6F5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7649E6C6-87BC-B6AE-B110-7195EE139485}"/>
              </a:ext>
            </a:extLst>
          </p:cNvPr>
          <p:cNvSpPr/>
          <p:nvPr/>
        </p:nvSpPr>
        <p:spPr>
          <a:xfrm>
            <a:off x="9062720" y="3175000"/>
            <a:ext cx="538480" cy="558800"/>
          </a:xfrm>
          <a:prstGeom prst="roundRect">
            <a:avLst>
              <a:gd name="adj" fmla="val 18000"/>
            </a:avLst>
          </a:prstGeom>
          <a:solidFill>
            <a:srgbClr val="25406E"/>
          </a:solidFill>
          <a:ln w="9525">
            <a:solidFill>
              <a:srgbClr val="3E5C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1F0B329D-ABCF-F3E4-F320-8C1E04604D1C}"/>
              </a:ext>
            </a:extLst>
          </p:cNvPr>
          <p:cNvSpPr txBox="1"/>
          <p:nvPr/>
        </p:nvSpPr>
        <p:spPr>
          <a:xfrm>
            <a:off x="9062720" y="3175000"/>
            <a:ext cx="53848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</a:t>
            </a:r>
            <a:endParaRPr kumimoji="1" lang="ja-JP" altLang="en-US" sz="15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A8DD6DCE-5C0D-31CC-843F-DB61BA1D9745}"/>
              </a:ext>
            </a:extLst>
          </p:cNvPr>
          <p:cNvSpPr txBox="1"/>
          <p:nvPr/>
        </p:nvSpPr>
        <p:spPr>
          <a:xfrm>
            <a:off x="6578600" y="3886200"/>
            <a:ext cx="4470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同時に押すと管理画面が開きます。もう一度押すか「通常モード（キオスク）に戻る」でキオスク表示へ戻ります。</a:t>
            </a: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15E4EE49-576D-231E-DDE9-98740F5C2829}"/>
              </a:ext>
            </a:extLst>
          </p:cNvPr>
          <p:cNvSpPr/>
          <p:nvPr/>
        </p:nvSpPr>
        <p:spPr>
          <a:xfrm>
            <a:off x="812800" y="5029200"/>
            <a:ext cx="10566400" cy="838200"/>
          </a:xfrm>
          <a:prstGeom prst="roundRect">
            <a:avLst>
              <a:gd name="adj" fmla="val 12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B6985043-A076-6C3E-ED32-E58DEEF24AD6}"/>
              </a:ext>
            </a:extLst>
          </p:cNvPr>
          <p:cNvSpPr/>
          <p:nvPr/>
        </p:nvSpPr>
        <p:spPr>
          <a:xfrm>
            <a:off x="812800" y="5029200"/>
            <a:ext cx="50800" cy="838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DA86CEC-E5E9-A07D-425F-1F88EEB434EE}"/>
              </a:ext>
            </a:extLst>
          </p:cNvPr>
          <p:cNvSpPr txBox="1"/>
          <p:nvPr/>
        </p:nvSpPr>
        <p:spPr>
          <a:xfrm>
            <a:off x="1092200" y="5029200"/>
            <a:ext cx="1342136" cy="838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保存を忘れずに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67FEAEA5-ADA2-D139-AD85-A1F1826FB0B8}"/>
              </a:ext>
            </a:extLst>
          </p:cNvPr>
          <p:cNvSpPr txBox="1"/>
          <p:nvPr/>
        </p:nvSpPr>
        <p:spPr>
          <a:xfrm>
            <a:off x="2434336" y="5029200"/>
            <a:ext cx="8665464" cy="838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値を変更したら「保存して設定する」をクリック。再起動なしで即時反映されます。画面下部が緑なら成功、赤なら入力内容を確認してください。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29669642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05472B2-2A13-384D-421C-28320655920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4094372-16A9-351B-C3F1-9A272BA51C04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0B44CB8-EEC3-197A-4B4B-467414C7FBF0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582E637-6E82-428B-17F3-E63AF764B613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管理画面の設定項目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72CF84D-D572-6F45-09A8-296CDB58DA27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9014507B-73A5-342A-A5EF-597C89DEDD2D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E2B73C7-440B-51A7-73C9-B93C61751296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31C1BF7-9D7B-43A0-FB65-28D73E717BE5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F5409FB-6D34-77E6-CA29-D3253813F4B3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10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9A1DEEAE-B56E-56D9-2721-27DE8630AF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7692084"/>
              </p:ext>
            </p:extLst>
          </p:nvPr>
        </p:nvGraphicFramePr>
        <p:xfrm>
          <a:off x="812800" y="1854200"/>
          <a:ext cx="10566400" cy="3632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718786712"/>
                    </a:ext>
                  </a:extLst>
                </a:gridCol>
                <a:gridCol w="7366000">
                  <a:extLst>
                    <a:ext uri="{9D8B030D-6E8A-4147-A177-3AD203B41FA5}">
                      <a16:colId xmlns:a16="http://schemas.microsoft.com/office/drawing/2014/main" val="1880784165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設定項目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説明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564047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監視フォルダ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コンテンツを置くフォルダのパス。「参照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…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」から選択も可能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697856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デフォルト表示秒数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画像・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PDF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の標準表示時間（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5〜300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秒）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986186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Windows </a:t>
                      </a: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起動時に自動起動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ON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にすると 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起動・ログオン後にアプリが自動で立ち上がる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528799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アプリ終了時刻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毎日、指定時刻にアプリを終了する（例：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18:00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）。無効にすれば終了しない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169216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電源オフ時刻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毎日、指定時刻に 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の電源を切る（例：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18:03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）。無効にすれば電源オフしない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116557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復帰不能時メッセージ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すべてのファイルが表示できないときに全画面へ出す文言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5243456"/>
                  </a:ext>
                </a:extLst>
              </a:tr>
            </a:tbl>
          </a:graphicData>
        </a:graphic>
      </p:graphicFrame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9B8B0F7F-6C77-37C5-598E-213651E3ADF0}"/>
              </a:ext>
            </a:extLst>
          </p:cNvPr>
          <p:cNvSpPr/>
          <p:nvPr/>
        </p:nvSpPr>
        <p:spPr>
          <a:xfrm>
            <a:off x="812800" y="5638800"/>
            <a:ext cx="10566400" cy="635000"/>
          </a:xfrm>
          <a:prstGeom prst="roundRect">
            <a:avLst>
              <a:gd name="adj" fmla="val 12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B68600F-7BFF-57E0-01F6-8A38199AFA4C}"/>
              </a:ext>
            </a:extLst>
          </p:cNvPr>
          <p:cNvSpPr/>
          <p:nvPr/>
        </p:nvSpPr>
        <p:spPr>
          <a:xfrm>
            <a:off x="812800" y="5638800"/>
            <a:ext cx="50800" cy="6350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0360601-D628-C5A6-BEF4-4B94B5141D9F}"/>
              </a:ext>
            </a:extLst>
          </p:cNvPr>
          <p:cNvSpPr txBox="1"/>
          <p:nvPr/>
        </p:nvSpPr>
        <p:spPr>
          <a:xfrm>
            <a:off x="1092200" y="5638800"/>
            <a:ext cx="1342136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時刻の入力形式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F3A059D-BFA1-76CB-381D-C6A355C773E5}"/>
              </a:ext>
            </a:extLst>
          </p:cNvPr>
          <p:cNvSpPr txBox="1"/>
          <p:nvPr/>
        </p:nvSpPr>
        <p:spPr>
          <a:xfrm>
            <a:off x="2434336" y="5638800"/>
            <a:ext cx="8665464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HH:mm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（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24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時間制）で入力します。午後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6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時は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18:00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、午前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9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30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分は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09:30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29562276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F3156FD-9B78-4F62-8DEF-9D2B3082DD9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72F87F0-71A8-3A7D-0BD9-D35C1DB151F2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28D206E-ACFE-514D-BCB6-7034C0295C3F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A0C30E8-9673-EE8B-A3E7-FE5F46A94582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夜に止めて、朝は自動で始める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29094E-B30F-519E-4573-FEAB3F5237B1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A1D9DC69-72CF-8589-AE14-9C76A23D78F6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90274D0-D92B-FC0D-7498-47A68C468F50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6719FA2-4158-59F9-D8CF-3079C7431584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F1E5F7B-F083-AF9F-B52D-0BC893B3C903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11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BBE03D3-67FB-6402-3686-63E899570534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スケジュール設定と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Windows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自動起動を組み合わせると、毎日の入切が不要になります。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467FAC8F-36FD-DF8D-F073-4973A870F9E8}"/>
              </a:ext>
            </a:extLst>
          </p:cNvPr>
          <p:cNvSpPr/>
          <p:nvPr/>
        </p:nvSpPr>
        <p:spPr>
          <a:xfrm>
            <a:off x="1320800" y="3556000"/>
            <a:ext cx="9550400" cy="254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AB98908-AB5C-14EB-5594-C26D03C5EDA1}"/>
              </a:ext>
            </a:extLst>
          </p:cNvPr>
          <p:cNvSpPr txBox="1"/>
          <p:nvPr/>
        </p:nvSpPr>
        <p:spPr>
          <a:xfrm>
            <a:off x="8128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7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18:00</a:t>
            </a:r>
            <a:endParaRPr kumimoji="1" lang="ja-JP" altLang="en-US" sz="17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0A2463BB-CCDC-011E-BB37-F536CC5EEEFB}"/>
              </a:ext>
            </a:extLst>
          </p:cNvPr>
          <p:cNvSpPr/>
          <p:nvPr/>
        </p:nvSpPr>
        <p:spPr>
          <a:xfrm>
            <a:off x="19431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563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19D9A443-9C3A-BCC4-EB6B-F8A10CC38ACE}"/>
              </a:ext>
            </a:extLst>
          </p:cNvPr>
          <p:cNvSpPr/>
          <p:nvPr/>
        </p:nvSpPr>
        <p:spPr>
          <a:xfrm>
            <a:off x="8128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2557EB5-3158-512D-15D5-0165D1A26172}"/>
              </a:ext>
            </a:extLst>
          </p:cNvPr>
          <p:cNvSpPr txBox="1"/>
          <p:nvPr/>
        </p:nvSpPr>
        <p:spPr>
          <a:xfrm>
            <a:off x="10160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アプリ終了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DE87210-6166-6548-479E-72C9901C45C1}"/>
              </a:ext>
            </a:extLst>
          </p:cNvPr>
          <p:cNvSpPr txBox="1"/>
          <p:nvPr/>
        </p:nvSpPr>
        <p:spPr>
          <a:xfrm>
            <a:off x="10160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サイネージ表示を終了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085493D-AB3E-03AA-0DE8-BD0795F6DD27}"/>
              </a:ext>
            </a:extLst>
          </p:cNvPr>
          <p:cNvSpPr txBox="1"/>
          <p:nvPr/>
        </p:nvSpPr>
        <p:spPr>
          <a:xfrm>
            <a:off x="35052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7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18:03</a:t>
            </a:r>
            <a:endParaRPr kumimoji="1" lang="ja-JP" altLang="en-US" sz="17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904FE256-5DF0-E62E-C2CE-5C2DAD97EB45}"/>
              </a:ext>
            </a:extLst>
          </p:cNvPr>
          <p:cNvSpPr/>
          <p:nvPr/>
        </p:nvSpPr>
        <p:spPr>
          <a:xfrm>
            <a:off x="46355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563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16A374ED-1859-DFD9-D52C-56FD9C6DF0B1}"/>
              </a:ext>
            </a:extLst>
          </p:cNvPr>
          <p:cNvSpPr/>
          <p:nvPr/>
        </p:nvSpPr>
        <p:spPr>
          <a:xfrm>
            <a:off x="35052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88BDC0E-9EE9-439D-4E31-9A29135727E4}"/>
              </a:ext>
            </a:extLst>
          </p:cNvPr>
          <p:cNvSpPr txBox="1"/>
          <p:nvPr/>
        </p:nvSpPr>
        <p:spPr>
          <a:xfrm>
            <a:off x="37084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電源オフ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0B75784-5135-DC79-7F61-64AD8491220C}"/>
              </a:ext>
            </a:extLst>
          </p:cNvPr>
          <p:cNvSpPr txBox="1"/>
          <p:nvPr/>
        </p:nvSpPr>
        <p:spPr>
          <a:xfrm>
            <a:off x="37084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任意。無効にもできる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8C0F53BD-C25D-D966-CE1C-7E26863C2B00}"/>
              </a:ext>
            </a:extLst>
          </p:cNvPr>
          <p:cNvSpPr txBox="1"/>
          <p:nvPr/>
        </p:nvSpPr>
        <p:spPr>
          <a:xfrm>
            <a:off x="61976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7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翌朝</a:t>
            </a:r>
          </a:p>
        </p:txBody>
      </p:sp>
      <p:sp>
        <p:nvSpPr>
          <p:cNvPr id="24" name="楕円 23">
            <a:extLst>
              <a:ext uri="{FF2B5EF4-FFF2-40B4-BE49-F238E27FC236}">
                <a16:creationId xmlns:a16="http://schemas.microsoft.com/office/drawing/2014/main" id="{F70E73EA-0C5D-9ACE-F0AE-F94E597A62D9}"/>
              </a:ext>
            </a:extLst>
          </p:cNvPr>
          <p:cNvSpPr/>
          <p:nvPr/>
        </p:nvSpPr>
        <p:spPr>
          <a:xfrm>
            <a:off x="73279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F8E9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708712DD-60B2-F295-3273-C7AA6FE306FA}"/>
              </a:ext>
            </a:extLst>
          </p:cNvPr>
          <p:cNvSpPr/>
          <p:nvPr/>
        </p:nvSpPr>
        <p:spPr>
          <a:xfrm>
            <a:off x="61976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60B62F2-7427-1DAD-95E6-D527AF5ECB50}"/>
              </a:ext>
            </a:extLst>
          </p:cNvPr>
          <p:cNvSpPr txBox="1"/>
          <p:nvPr/>
        </p:nvSpPr>
        <p:spPr>
          <a:xfrm>
            <a:off x="64008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起動・ログオン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04BAFC1-B87E-2EEC-7E89-7D8BC3D3494C}"/>
              </a:ext>
            </a:extLst>
          </p:cNvPr>
          <p:cNvSpPr txBox="1"/>
          <p:nvPr/>
        </p:nvSpPr>
        <p:spPr>
          <a:xfrm>
            <a:off x="64008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出勤時や電源スケジュールで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01E686-6BBA-CA1F-5736-A59F2714730C}"/>
              </a:ext>
            </a:extLst>
          </p:cNvPr>
          <p:cNvSpPr txBox="1"/>
          <p:nvPr/>
        </p:nvSpPr>
        <p:spPr>
          <a:xfrm>
            <a:off x="88900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7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</a:t>
            </a:r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BF774897-C1A2-4D57-8AF9-CC386AA9D5C6}"/>
              </a:ext>
            </a:extLst>
          </p:cNvPr>
          <p:cNvSpPr/>
          <p:nvPr/>
        </p:nvSpPr>
        <p:spPr>
          <a:xfrm>
            <a:off x="100203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F8E9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435B1F77-3BC2-FDCF-1339-61969F4761CB}"/>
              </a:ext>
            </a:extLst>
          </p:cNvPr>
          <p:cNvSpPr/>
          <p:nvPr/>
        </p:nvSpPr>
        <p:spPr>
          <a:xfrm>
            <a:off x="88900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875B2FA6-9564-BDA7-1651-65E3C12060D9}"/>
              </a:ext>
            </a:extLst>
          </p:cNvPr>
          <p:cNvSpPr txBox="1"/>
          <p:nvPr/>
        </p:nvSpPr>
        <p:spPr>
          <a:xfrm>
            <a:off x="90932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サイネージ開始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E99B82DA-07D6-FF6F-1D5B-3F8A73229D79}"/>
              </a:ext>
            </a:extLst>
          </p:cNvPr>
          <p:cNvSpPr txBox="1"/>
          <p:nvPr/>
        </p:nvSpPr>
        <p:spPr>
          <a:xfrm>
            <a:off x="90932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en-US" altLang="ja-JP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Windows </a:t>
            </a: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自動起動が </a:t>
            </a:r>
            <a:r>
              <a:rPr kumimoji="1" lang="en-US" altLang="ja-JP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ON </a:t>
            </a: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なら</a:t>
            </a:r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38A1D61A-0DE2-4317-A16E-1F14294889B0}"/>
              </a:ext>
            </a:extLst>
          </p:cNvPr>
          <p:cNvSpPr/>
          <p:nvPr/>
        </p:nvSpPr>
        <p:spPr>
          <a:xfrm>
            <a:off x="812800" y="5435600"/>
            <a:ext cx="10566400" cy="7620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FBA4262D-3898-3B76-AD7C-1C8056BAE4F4}"/>
              </a:ext>
            </a:extLst>
          </p:cNvPr>
          <p:cNvSpPr/>
          <p:nvPr/>
        </p:nvSpPr>
        <p:spPr>
          <a:xfrm>
            <a:off x="812800" y="5435600"/>
            <a:ext cx="50800" cy="762000"/>
          </a:xfrm>
          <a:prstGeom prst="rect">
            <a:avLst/>
          </a:prstGeom>
          <a:solidFill>
            <a:srgbClr val="8794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E15326CE-3763-C372-5C5D-0B045F70677D}"/>
              </a:ext>
            </a:extLst>
          </p:cNvPr>
          <p:cNvSpPr txBox="1"/>
          <p:nvPr/>
        </p:nvSpPr>
        <p:spPr>
          <a:xfrm>
            <a:off x="1092200" y="5435600"/>
            <a:ext cx="551942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補足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AA4BF632-D770-3200-FAEE-905DC54AEDAF}"/>
              </a:ext>
            </a:extLst>
          </p:cNvPr>
          <p:cNvSpPr txBox="1"/>
          <p:nvPr/>
        </p:nvSpPr>
        <p:spPr>
          <a:xfrm>
            <a:off x="1644142" y="5435600"/>
            <a:ext cx="9455658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アプリ終了時刻を有効にすると、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電源オフの初期値はその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分後になります（変更可）。電源オフに失敗した場合はログに記録されるため、社内の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管理ポリシーを確認してください。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41837965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A778954-0155-D5E4-DF33-17A7BFF3AB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4EB2006-FC7B-A162-4146-58CD6A65178B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D23E420-7B4E-5AFB-EE97-A528B25C5086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C43EBA4-DF01-6F05-4C71-04A1822D7D48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アプリの終了とログの場所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E3F3435-505D-6311-4A92-E9DED4BC4B55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CD5CAF5B-FF16-967C-5E87-A22D4E4505F0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BC370D8-6911-B6BD-1A0B-46F4A1DE8879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10879A6-0ACA-403F-83F6-7F646891D588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E02E4D2-81BE-31F1-7943-B96DB50EBF2F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12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D67F67FC-20DA-8AEB-1B33-F36851F176EA}"/>
              </a:ext>
            </a:extLst>
          </p:cNvPr>
          <p:cNvSpPr/>
          <p:nvPr/>
        </p:nvSpPr>
        <p:spPr>
          <a:xfrm>
            <a:off x="812800" y="1905000"/>
            <a:ext cx="5130800" cy="370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2DF6C31-6244-9C92-3255-215DE2273AB1}"/>
              </a:ext>
            </a:extLst>
          </p:cNvPr>
          <p:cNvSpPr/>
          <p:nvPr/>
        </p:nvSpPr>
        <p:spPr>
          <a:xfrm>
            <a:off x="812800" y="1905000"/>
            <a:ext cx="51308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4527BCD-298E-9835-512A-08BA9490F0D1}"/>
              </a:ext>
            </a:extLst>
          </p:cNvPr>
          <p:cNvSpPr txBox="1"/>
          <p:nvPr/>
        </p:nvSpPr>
        <p:spPr>
          <a:xfrm>
            <a:off x="1143000" y="22860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アプリを終了する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05A24B8-6659-ABCF-7BAB-14F808EDF777}"/>
              </a:ext>
            </a:extLst>
          </p:cNvPr>
          <p:cNvSpPr txBox="1"/>
          <p:nvPr/>
        </p:nvSpPr>
        <p:spPr>
          <a:xfrm>
            <a:off x="1143000" y="2870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3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管理画面から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21117C9-28E4-0A1F-138C-477B64955C80}"/>
              </a:ext>
            </a:extLst>
          </p:cNvPr>
          <p:cNvSpPr txBox="1"/>
          <p:nvPr/>
        </p:nvSpPr>
        <p:spPr>
          <a:xfrm>
            <a:off x="1143000" y="3149600"/>
            <a:ext cx="44704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 →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「アプリを終了」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D4CF97-9C18-513E-553D-2593282109A5}"/>
              </a:ext>
            </a:extLst>
          </p:cNvPr>
          <p:cNvSpPr txBox="1"/>
          <p:nvPr/>
        </p:nvSpPr>
        <p:spPr>
          <a:xfrm>
            <a:off x="1143000" y="36830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3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管理画面を閉じる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82EAB42-98AF-EFB9-08A9-35C88F670A38}"/>
              </a:ext>
            </a:extLst>
          </p:cNvPr>
          <p:cNvSpPr txBox="1"/>
          <p:nvPr/>
        </p:nvSpPr>
        <p:spPr>
          <a:xfrm>
            <a:off x="1143000" y="3962400"/>
            <a:ext cx="44704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×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ボタンで閉じるとアプリも終了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496F109-4D95-9CE7-CA01-26FE74AD1C80}"/>
              </a:ext>
            </a:extLst>
          </p:cNvPr>
          <p:cNvSpPr txBox="1"/>
          <p:nvPr/>
        </p:nvSpPr>
        <p:spPr>
          <a:xfrm>
            <a:off x="1143000" y="44958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3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スケジュール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BDFFAD-AFED-3AC0-6779-20E0B964EC89}"/>
              </a:ext>
            </a:extLst>
          </p:cNvPr>
          <p:cNvSpPr txBox="1"/>
          <p:nvPr/>
        </p:nvSpPr>
        <p:spPr>
          <a:xfrm>
            <a:off x="1143000" y="4775200"/>
            <a:ext cx="44704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設定した終了時刻に到達すると自動で終了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F3769EDF-E181-F6D6-2E2A-312EFE136D52}"/>
              </a:ext>
            </a:extLst>
          </p:cNvPr>
          <p:cNvSpPr/>
          <p:nvPr/>
        </p:nvSpPr>
        <p:spPr>
          <a:xfrm>
            <a:off x="6248400" y="1905000"/>
            <a:ext cx="5130800" cy="370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D78C90D-1AB6-0194-522B-CF9732A9F9C6}"/>
              </a:ext>
            </a:extLst>
          </p:cNvPr>
          <p:cNvSpPr/>
          <p:nvPr/>
        </p:nvSpPr>
        <p:spPr>
          <a:xfrm>
            <a:off x="6248400" y="1905000"/>
            <a:ext cx="5130800" cy="635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2C12480-35D6-79C1-5512-05D77D34C38E}"/>
              </a:ext>
            </a:extLst>
          </p:cNvPr>
          <p:cNvSpPr txBox="1"/>
          <p:nvPr/>
        </p:nvSpPr>
        <p:spPr>
          <a:xfrm>
            <a:off x="6578600" y="22860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ログを確認する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D9A9B94-855E-35CB-F5AF-709FC689C20E}"/>
              </a:ext>
            </a:extLst>
          </p:cNvPr>
          <p:cNvSpPr txBox="1"/>
          <p:nvPr/>
        </p:nvSpPr>
        <p:spPr>
          <a:xfrm>
            <a:off x="6578600" y="2743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表示に問題があるときは、管理者がログを確認できます。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2A3A600A-8CEF-9E45-2DD0-D40948BE3A30}"/>
              </a:ext>
            </a:extLst>
          </p:cNvPr>
          <p:cNvSpPr/>
          <p:nvPr/>
        </p:nvSpPr>
        <p:spPr>
          <a:xfrm>
            <a:off x="6578600" y="3175000"/>
            <a:ext cx="38100" cy="508000"/>
          </a:xfrm>
          <a:prstGeom prst="rect">
            <a:avLst/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B2E9CCD-BB87-9790-E25F-1C5CB61390C0}"/>
              </a:ext>
            </a:extLst>
          </p:cNvPr>
          <p:cNvSpPr txBox="1"/>
          <p:nvPr/>
        </p:nvSpPr>
        <p:spPr>
          <a:xfrm>
            <a:off x="6781800" y="3124200"/>
            <a:ext cx="4470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場所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01D51D41-78DE-304B-00A1-A00A56D4E84A}"/>
              </a:ext>
            </a:extLst>
          </p:cNvPr>
          <p:cNvSpPr txBox="1"/>
          <p:nvPr/>
        </p:nvSpPr>
        <p:spPr>
          <a:xfrm>
            <a:off x="6781800" y="3378200"/>
            <a:ext cx="42672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監視フォルダと同じ階層の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logs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C6698261-BB65-3A40-CB95-9686C24792A7}"/>
              </a:ext>
            </a:extLst>
          </p:cNvPr>
          <p:cNvSpPr/>
          <p:nvPr/>
        </p:nvSpPr>
        <p:spPr>
          <a:xfrm>
            <a:off x="6578600" y="3886200"/>
            <a:ext cx="38100" cy="508000"/>
          </a:xfrm>
          <a:prstGeom prst="rect">
            <a:avLst/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7BD407E-3AB5-AD6B-8017-4289A1318A73}"/>
              </a:ext>
            </a:extLst>
          </p:cNvPr>
          <p:cNvSpPr txBox="1"/>
          <p:nvPr/>
        </p:nvSpPr>
        <p:spPr>
          <a:xfrm>
            <a:off x="6781800" y="3835400"/>
            <a:ext cx="4470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例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FBFF5D0E-7F11-4A21-3AA4-BF67D5BA2FBF}"/>
              </a:ext>
            </a:extLst>
          </p:cNvPr>
          <p:cNvSpPr txBox="1"/>
          <p:nvPr/>
        </p:nvSpPr>
        <p:spPr>
          <a:xfrm>
            <a:off x="6781800" y="4089400"/>
            <a:ext cx="42672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監視フォルダが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D:\Signage →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ログは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D:\logs</a:t>
            </a:r>
            <a:endParaRPr kumimoji="1" lang="ja-JP" altLang="en-US" sz="1250">
              <a:solidFill>
                <a:srgbClr val="465263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902F08EA-0F22-5B3A-1076-B4FA34C01D09}"/>
              </a:ext>
            </a:extLst>
          </p:cNvPr>
          <p:cNvSpPr/>
          <p:nvPr/>
        </p:nvSpPr>
        <p:spPr>
          <a:xfrm>
            <a:off x="6578600" y="4597400"/>
            <a:ext cx="38100" cy="508000"/>
          </a:xfrm>
          <a:prstGeom prst="rect">
            <a:avLst/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2377F726-5452-0D22-F3EC-95008660DB3A}"/>
              </a:ext>
            </a:extLst>
          </p:cNvPr>
          <p:cNvSpPr txBox="1"/>
          <p:nvPr/>
        </p:nvSpPr>
        <p:spPr>
          <a:xfrm>
            <a:off x="6781800" y="4546600"/>
            <a:ext cx="4470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保存期間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CA5CDE9-8FD2-9AA1-CF36-D065247BE93E}"/>
              </a:ext>
            </a:extLst>
          </p:cNvPr>
          <p:cNvSpPr txBox="1"/>
          <p:nvPr/>
        </p:nvSpPr>
        <p:spPr>
          <a:xfrm>
            <a:off x="6781800" y="4800600"/>
            <a:ext cx="42672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7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日間（古いログは自動削除）</a:t>
            </a:r>
          </a:p>
        </p:txBody>
      </p:sp>
    </p:spTree>
    <p:extLst>
      <p:ext uri="{BB962C8B-B14F-4D97-AF65-F5344CB8AC3E}">
        <p14:creationId xmlns:p14="http://schemas.microsoft.com/office/powerpoint/2010/main" val="2608227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363F74C-8447-9C82-075A-23A4728D1BB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DB41952-7627-3493-B703-DC471B26F7DC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BE7A79F-1C5E-DFE3-AC1E-33E88647D2EB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FAQ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6B69EE7-039D-6469-CC71-AA20B24635CA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よくある質問（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1/2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5FEA889-A1F2-8C19-3F7F-6FEF08085D0B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B49D953-EC83-A476-2028-6926049E5FBF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A5ED2A7-E4C1-0C70-6A77-BA3EF8969216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13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7AB24BB0-A4B5-633E-A327-23E3260CED5D}"/>
              </a:ext>
            </a:extLst>
          </p:cNvPr>
          <p:cNvSpPr/>
          <p:nvPr/>
        </p:nvSpPr>
        <p:spPr>
          <a:xfrm>
            <a:off x="812800" y="19304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BE5F220C-E790-55AE-CEA4-A2843EEDC8F4}"/>
              </a:ext>
            </a:extLst>
          </p:cNvPr>
          <p:cNvSpPr/>
          <p:nvPr/>
        </p:nvSpPr>
        <p:spPr>
          <a:xfrm>
            <a:off x="1092200" y="21844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DFA1E02-47B5-CED9-BCE6-015F30724637}"/>
              </a:ext>
            </a:extLst>
          </p:cNvPr>
          <p:cNvSpPr txBox="1"/>
          <p:nvPr/>
        </p:nvSpPr>
        <p:spPr>
          <a:xfrm>
            <a:off x="1092200" y="2184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3F0D8F8-9F21-AEFB-9C4D-4C1D4A75624D}"/>
              </a:ext>
            </a:extLst>
          </p:cNvPr>
          <p:cNvSpPr txBox="1"/>
          <p:nvPr/>
        </p:nvSpPr>
        <p:spPr>
          <a:xfrm>
            <a:off x="1651000" y="21590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ファイルを入れたのに、すぐ変わりません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A08AD4A-EA18-260D-4B20-A14D4A6552C4}"/>
              </a:ext>
            </a:extLst>
          </p:cNvPr>
          <p:cNvSpPr txBox="1"/>
          <p:nvPr/>
        </p:nvSpPr>
        <p:spPr>
          <a:xfrm>
            <a:off x="1651000" y="25019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いま表示中のスライドが終わるまで待ちます。動画の場合は再生が完了するまで切り替わりません。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609ECC8-4460-3150-9D60-62B78B08A892}"/>
              </a:ext>
            </a:extLst>
          </p:cNvPr>
          <p:cNvSpPr/>
          <p:nvPr/>
        </p:nvSpPr>
        <p:spPr>
          <a:xfrm>
            <a:off x="812800" y="32512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E5F5732E-D40C-B67E-2F17-CDCD9A4A9C08}"/>
              </a:ext>
            </a:extLst>
          </p:cNvPr>
          <p:cNvSpPr/>
          <p:nvPr/>
        </p:nvSpPr>
        <p:spPr>
          <a:xfrm>
            <a:off x="1092200" y="35052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B5900F7A-EFE3-9D45-D525-DF5142B7ECC1}"/>
              </a:ext>
            </a:extLst>
          </p:cNvPr>
          <p:cNvSpPr txBox="1"/>
          <p:nvPr/>
        </p:nvSpPr>
        <p:spPr>
          <a:xfrm>
            <a:off x="1092200" y="35052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E2FA7BC-31B8-130F-60D2-54C9A4D0B1C4}"/>
              </a:ext>
            </a:extLst>
          </p:cNvPr>
          <p:cNvSpPr txBox="1"/>
          <p:nvPr/>
        </p:nvSpPr>
        <p:spPr>
          <a:xfrm>
            <a:off x="1651000" y="34798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サブフォルダに入れたファイルが表示されません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AD10062-8372-446A-23D2-936AA5E7D90A}"/>
              </a:ext>
            </a:extLst>
          </p:cNvPr>
          <p:cNvSpPr txBox="1"/>
          <p:nvPr/>
        </p:nvSpPr>
        <p:spPr>
          <a:xfrm>
            <a:off x="1651000" y="38227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監視フォルダの直下だけが対象です。ファイルを一つ上のフォルダへ移動してください。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9A92054E-506E-7E75-63A3-A987532CC8A5}"/>
              </a:ext>
            </a:extLst>
          </p:cNvPr>
          <p:cNvSpPr/>
          <p:nvPr/>
        </p:nvSpPr>
        <p:spPr>
          <a:xfrm>
            <a:off x="812800" y="45720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1E755932-73CD-4A30-69CA-FC859C55779B}"/>
              </a:ext>
            </a:extLst>
          </p:cNvPr>
          <p:cNvSpPr/>
          <p:nvPr/>
        </p:nvSpPr>
        <p:spPr>
          <a:xfrm>
            <a:off x="1092200" y="48260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87B64103-EEE2-2941-09D8-69D469FE57BB}"/>
              </a:ext>
            </a:extLst>
          </p:cNvPr>
          <p:cNvSpPr txBox="1"/>
          <p:nvPr/>
        </p:nvSpPr>
        <p:spPr>
          <a:xfrm>
            <a:off x="1092200" y="48260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5E8326A-7674-5763-E773-95AE6A169D42}"/>
              </a:ext>
            </a:extLst>
          </p:cNvPr>
          <p:cNvSpPr txBox="1"/>
          <p:nvPr/>
        </p:nvSpPr>
        <p:spPr>
          <a:xfrm>
            <a:off x="1651000" y="48006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管理画面が開けません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923BAEFE-65D1-4991-B317-B20A6F5DDCBD}"/>
              </a:ext>
            </a:extLst>
          </p:cNvPr>
          <p:cNvSpPr txBox="1"/>
          <p:nvPr/>
        </p:nvSpPr>
        <p:spPr>
          <a:xfrm>
            <a:off x="1651000" y="51435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を同時に押してください。キオスク表示の画面がアクティブな状態で試すのがポイントです。</a:t>
            </a:r>
          </a:p>
        </p:txBody>
      </p:sp>
    </p:spTree>
    <p:extLst>
      <p:ext uri="{BB962C8B-B14F-4D97-AF65-F5344CB8AC3E}">
        <p14:creationId xmlns:p14="http://schemas.microsoft.com/office/powerpoint/2010/main" val="26941742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C8DF4F7-68A9-C3F9-216B-575834DEF9B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1B3673E-0597-3F9E-4639-40D7C85455CC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6B5CD0A-F01D-D37D-6BFA-8753D80B1978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FAQ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A4D7543-B7BE-AEB4-B1EB-2AD24FDDD718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よくある質問（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2/2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72BFBDB-FDD8-17BC-89DF-D2982872F86E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7222006-0B24-E349-326E-E001E3A6F975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2DE5AE8-7EE3-7CF6-F271-BFF2485DF2CB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14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684D9A1A-9DC5-1027-8F6A-40B1A96DC50A}"/>
              </a:ext>
            </a:extLst>
          </p:cNvPr>
          <p:cNvSpPr/>
          <p:nvPr/>
        </p:nvSpPr>
        <p:spPr>
          <a:xfrm>
            <a:off x="812800" y="1930400"/>
            <a:ext cx="10566400" cy="12700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D9F92511-6F29-805E-3811-24874CB8F55A}"/>
              </a:ext>
            </a:extLst>
          </p:cNvPr>
          <p:cNvSpPr/>
          <p:nvPr/>
        </p:nvSpPr>
        <p:spPr>
          <a:xfrm>
            <a:off x="1092200" y="21844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BF3C6E5-E5C5-096E-E135-39E34A52D6CB}"/>
              </a:ext>
            </a:extLst>
          </p:cNvPr>
          <p:cNvSpPr txBox="1"/>
          <p:nvPr/>
        </p:nvSpPr>
        <p:spPr>
          <a:xfrm>
            <a:off x="1092200" y="2184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0A7BA63-D0F9-9503-84D0-C6E0C4E46E91}"/>
              </a:ext>
            </a:extLst>
          </p:cNvPr>
          <p:cNvSpPr txBox="1"/>
          <p:nvPr/>
        </p:nvSpPr>
        <p:spPr>
          <a:xfrm>
            <a:off x="1651000" y="21590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画面に「表示を復旧しています」と出ます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ED3CD46-CD2A-2804-C97E-CAE1BA7E4F5E}"/>
              </a:ext>
            </a:extLst>
          </p:cNvPr>
          <p:cNvSpPr txBox="1"/>
          <p:nvPr/>
        </p:nvSpPr>
        <p:spPr>
          <a:xfrm>
            <a:off x="1651000" y="2501900"/>
            <a:ext cx="93472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フォルダ内のファイルがすべて読み込めない状態です。ファイルの破損や形式の誤りを確認してください。文言は管理画面の「復帰不能時メッセージ」で変更できます。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C03BDAE-A794-A724-1A8E-0741F953477B}"/>
              </a:ext>
            </a:extLst>
          </p:cNvPr>
          <p:cNvSpPr/>
          <p:nvPr/>
        </p:nvSpPr>
        <p:spPr>
          <a:xfrm>
            <a:off x="812800" y="33528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19DCE7A8-04DD-E4E2-B0BD-5A37B5779F97}"/>
              </a:ext>
            </a:extLst>
          </p:cNvPr>
          <p:cNvSpPr/>
          <p:nvPr/>
        </p:nvSpPr>
        <p:spPr>
          <a:xfrm>
            <a:off x="1092200" y="36068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ADB8809-5141-A32E-0900-EFF303EE4427}"/>
              </a:ext>
            </a:extLst>
          </p:cNvPr>
          <p:cNvSpPr txBox="1"/>
          <p:nvPr/>
        </p:nvSpPr>
        <p:spPr>
          <a:xfrm>
            <a:off x="1092200" y="36068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685AD910-D850-1E5D-E80D-F86876B9E8C6}"/>
              </a:ext>
            </a:extLst>
          </p:cNvPr>
          <p:cNvSpPr txBox="1"/>
          <p:nvPr/>
        </p:nvSpPr>
        <p:spPr>
          <a:xfrm>
            <a:off x="1651000" y="35814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動画だけ表示時間を短くしたい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DD94A49-CB50-8336-A5B6-3A55454654F4}"/>
              </a:ext>
            </a:extLst>
          </p:cNvPr>
          <p:cNvSpPr txBox="1"/>
          <p:nvPr/>
        </p:nvSpPr>
        <p:spPr>
          <a:xfrm>
            <a:off x="1651000" y="39243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動画は再生完了まで表示され、秒数指定はできません。短くしたい場合は動画自体を編集してください。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DF145FF0-5EF3-C6D2-0C07-324A8AE2BF1C}"/>
              </a:ext>
            </a:extLst>
          </p:cNvPr>
          <p:cNvSpPr/>
          <p:nvPr/>
        </p:nvSpPr>
        <p:spPr>
          <a:xfrm>
            <a:off x="812800" y="4673600"/>
            <a:ext cx="10566400" cy="12700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184AF926-327A-A3CC-B69E-BE6CB64DAF19}"/>
              </a:ext>
            </a:extLst>
          </p:cNvPr>
          <p:cNvSpPr/>
          <p:nvPr/>
        </p:nvSpPr>
        <p:spPr>
          <a:xfrm>
            <a:off x="1092200" y="49276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C52C068-0C84-0E2E-4588-AF34197FBF7D}"/>
              </a:ext>
            </a:extLst>
          </p:cNvPr>
          <p:cNvSpPr txBox="1"/>
          <p:nvPr/>
        </p:nvSpPr>
        <p:spPr>
          <a:xfrm>
            <a:off x="1092200" y="49276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A809CE6D-9CBB-86BC-85FA-FD430B62B27D}"/>
              </a:ext>
            </a:extLst>
          </p:cNvPr>
          <p:cNvSpPr txBox="1"/>
          <p:nvPr/>
        </p:nvSpPr>
        <p:spPr>
          <a:xfrm>
            <a:off x="1651000" y="49022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複数の </a:t>
            </a:r>
            <a:r>
              <a:rPr kumimoji="1" lang="en-US" altLang="ja-JP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で同じフォルダを見せたい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E873167-87BB-30FD-3B0B-12F768F801DC}"/>
              </a:ext>
            </a:extLst>
          </p:cNvPr>
          <p:cNvSpPr txBox="1"/>
          <p:nvPr/>
        </p:nvSpPr>
        <p:spPr>
          <a:xfrm>
            <a:off x="1651000" y="5245100"/>
            <a:ext cx="93472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各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にアプリを入れて同じ共有フォルダを指定する運用は可能ですが、ネットワーク共有パスの正式サポートは将来拡張です。まずはローカルフォルダを推奨します。</a:t>
            </a:r>
          </a:p>
        </p:txBody>
      </p:sp>
    </p:spTree>
    <p:extLst>
      <p:ext uri="{BB962C8B-B14F-4D97-AF65-F5344CB8AC3E}">
        <p14:creationId xmlns:p14="http://schemas.microsoft.com/office/powerpoint/2010/main" val="2869544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6C68DF-7F30-C7D6-2FBD-E4C04F2463B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75C8538-69D4-3CF8-C703-C3166FBF4639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5AA1F73-5B72-B47D-0D6F-ABBD8CD1334F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CHEAT SHEET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357E53D-FB9F-88F1-1F52-B431DD18EA8E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操作の早見表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75C98BA-8503-3203-858C-0A54C2E4D97B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25DB701-9739-EA54-719E-D1AF2E81CB6E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EDBF70D-E00A-B6F1-8DE5-0646356E4884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15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B344356-C4DB-FF35-DDA0-CB803CD2BB9C}"/>
              </a:ext>
            </a:extLst>
          </p:cNvPr>
          <p:cNvSpPr txBox="1"/>
          <p:nvPr/>
        </p:nvSpPr>
        <p:spPr>
          <a:xfrm>
            <a:off x="812800" y="1930400"/>
            <a:ext cx="5130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A2E3263E-7531-B176-B9D7-734034A72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455970"/>
              </p:ext>
            </p:extLst>
          </p:nvPr>
        </p:nvGraphicFramePr>
        <p:xfrm>
          <a:off x="812800" y="2336800"/>
          <a:ext cx="5130800" cy="2641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4008003692"/>
                    </a:ext>
                  </a:extLst>
                </a:gridCol>
                <a:gridCol w="3225800">
                  <a:extLst>
                    <a:ext uri="{9D8B030D-6E8A-4147-A177-3AD203B41FA5}">
                      <a16:colId xmlns:a16="http://schemas.microsoft.com/office/drawing/2014/main" val="27871864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やりたいこと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操作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02126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表示を追加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監視フォルダ直下にファイルを保存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55822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表示を削除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監視フォルダからファイルを削除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058924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表示順を変える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ファイル名を変更（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001, 002 …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220923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表示時間を変える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ファイル名に 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_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秒数 を付ける（動画を除く）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756942"/>
                  </a:ext>
                </a:extLst>
              </a:tr>
            </a:tbl>
          </a:graphicData>
        </a:graphic>
      </p:graphicFrame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438AC19-14B9-2077-D71F-E42C67374E63}"/>
              </a:ext>
            </a:extLst>
          </p:cNvPr>
          <p:cNvSpPr txBox="1"/>
          <p:nvPr/>
        </p:nvSpPr>
        <p:spPr>
          <a:xfrm>
            <a:off x="6248400" y="1930400"/>
            <a:ext cx="5130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0C501282-7E67-B09F-A94C-593FF64AF7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9420729"/>
              </p:ext>
            </p:extLst>
          </p:nvPr>
        </p:nvGraphicFramePr>
        <p:xfrm>
          <a:off x="6248400" y="2336800"/>
          <a:ext cx="5130800" cy="2641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1261744215"/>
                    </a:ext>
                  </a:extLst>
                </a:gridCol>
                <a:gridCol w="3225800">
                  <a:extLst>
                    <a:ext uri="{9D8B030D-6E8A-4147-A177-3AD203B41FA5}">
                      <a16:colId xmlns:a16="http://schemas.microsoft.com/office/drawing/2014/main" val="2841341205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やりたいこと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操作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316098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設定を変更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Ctrl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Shift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M →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変更→「保存して設定する」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446680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キオスクに戻る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「通常モード（キオスク）に戻る」または 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Ctrl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Shift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M</a:t>
                      </a:r>
                      <a:endParaRPr kumimoji="1" lang="ja-JP" altLang="en-US" sz="11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513915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アプリを終了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管理画面の「アプリを終了」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85514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夜に止めて朝始める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アプリ終了時刻・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電源オフ時刻＋自動起動を 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ON</a:t>
                      </a:r>
                      <a:endParaRPr kumimoji="1" lang="ja-JP" altLang="en-US" sz="11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507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23436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BC53F4D-10B9-7404-122B-B8D01A648EC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2E106E5-59D9-F46F-9E8C-31428ED2C6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C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BCFBB02A-E8B3-822D-E307-E1899651C447}"/>
              </a:ext>
            </a:extLst>
          </p:cNvPr>
          <p:cNvSpPr/>
          <p:nvPr/>
        </p:nvSpPr>
        <p:spPr>
          <a:xfrm>
            <a:off x="-2032000" y="3810000"/>
            <a:ext cx="5842000" cy="5842000"/>
          </a:xfrm>
          <a:prstGeom prst="ellipse">
            <a:avLst/>
          </a:prstGeom>
          <a:solidFill>
            <a:srgbClr val="2563EB">
              <a:alpha val="1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F0643B5-9C87-F4F5-53B7-5285070C622B}"/>
              </a:ext>
            </a:extLst>
          </p:cNvPr>
          <p:cNvSpPr/>
          <p:nvPr/>
        </p:nvSpPr>
        <p:spPr>
          <a:xfrm>
            <a:off x="812800" y="1219200"/>
            <a:ext cx="8636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9E881F6-5F1F-5BC4-5B0D-18210D50BF42}"/>
              </a:ext>
            </a:extLst>
          </p:cNvPr>
          <p:cNvSpPr txBox="1"/>
          <p:nvPr/>
        </p:nvSpPr>
        <p:spPr>
          <a:xfrm>
            <a:off x="812800" y="1574800"/>
            <a:ext cx="7620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38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困ったときは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C799E91-4804-6B13-0536-1E56AF89F14D}"/>
              </a:ext>
            </a:extLst>
          </p:cNvPr>
          <p:cNvSpPr txBox="1"/>
          <p:nvPr/>
        </p:nvSpPr>
        <p:spPr>
          <a:xfrm>
            <a:off x="812800" y="2463800"/>
            <a:ext cx="889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まずは「反映は次のスライドから」「フォルダ直下だけ」「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」の 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つを確認。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BE0B333-9214-70A9-7867-573450119847}"/>
              </a:ext>
            </a:extLst>
          </p:cNvPr>
          <p:cNvSpPr/>
          <p:nvPr/>
        </p:nvSpPr>
        <p:spPr>
          <a:xfrm>
            <a:off x="812800" y="3225800"/>
            <a:ext cx="3352800" cy="1473200"/>
          </a:xfrm>
          <a:prstGeom prst="roundRect">
            <a:avLst>
              <a:gd name="adj" fmla="val 9000"/>
            </a:avLst>
          </a:prstGeom>
          <a:solidFill>
            <a:srgbClr val="1B2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AF1133D-E2B6-2F08-E840-800526D27E21}"/>
              </a:ext>
            </a:extLst>
          </p:cNvPr>
          <p:cNvSpPr/>
          <p:nvPr/>
        </p:nvSpPr>
        <p:spPr>
          <a:xfrm>
            <a:off x="1117600" y="3530600"/>
            <a:ext cx="355600" cy="38100"/>
          </a:xfrm>
          <a:prstGeom prst="rect">
            <a:avLst/>
          </a:prstGeom>
          <a:solidFill>
            <a:srgbClr val="7FA6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F7A75E2-1FAE-7BAD-D137-CBF4BC03376E}"/>
              </a:ext>
            </a:extLst>
          </p:cNvPr>
          <p:cNvSpPr txBox="1"/>
          <p:nvPr/>
        </p:nvSpPr>
        <p:spPr>
          <a:xfrm>
            <a:off x="1117600" y="3759200"/>
            <a:ext cx="27432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7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運用ガイド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4A7EEE6-7F58-3B84-0F3E-3A408E0FED27}"/>
              </a:ext>
            </a:extLst>
          </p:cNvPr>
          <p:cNvSpPr txBox="1"/>
          <p:nvPr/>
        </p:nvSpPr>
        <p:spPr>
          <a:xfrm>
            <a:off x="1117600" y="4140200"/>
            <a:ext cx="27432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ログ・権限・技術的な制限事項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1BB9A-14A2-D116-8E57-FF68B64B94FC}"/>
              </a:ext>
            </a:extLst>
          </p:cNvPr>
          <p:cNvSpPr/>
          <p:nvPr/>
        </p:nvSpPr>
        <p:spPr>
          <a:xfrm>
            <a:off x="4419600" y="3225800"/>
            <a:ext cx="3352800" cy="1473200"/>
          </a:xfrm>
          <a:prstGeom prst="roundRect">
            <a:avLst>
              <a:gd name="adj" fmla="val 9000"/>
            </a:avLst>
          </a:prstGeom>
          <a:solidFill>
            <a:srgbClr val="1B2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4C3E68F-8DC1-CE46-9271-5EA2C659518E}"/>
              </a:ext>
            </a:extLst>
          </p:cNvPr>
          <p:cNvSpPr/>
          <p:nvPr/>
        </p:nvSpPr>
        <p:spPr>
          <a:xfrm>
            <a:off x="4724400" y="3530600"/>
            <a:ext cx="355600" cy="38100"/>
          </a:xfrm>
          <a:prstGeom prst="rect">
            <a:avLst/>
          </a:prstGeom>
          <a:solidFill>
            <a:srgbClr val="7FA6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AECA8DC-85EC-0CAA-FA5A-4C0E543B9186}"/>
              </a:ext>
            </a:extLst>
          </p:cNvPr>
          <p:cNvSpPr txBox="1"/>
          <p:nvPr/>
        </p:nvSpPr>
        <p:spPr>
          <a:xfrm>
            <a:off x="4724400" y="3759200"/>
            <a:ext cx="27432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7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受け入れテスト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0EF9722-1930-9030-BF6A-D7D1DCBBCA08}"/>
              </a:ext>
            </a:extLst>
          </p:cNvPr>
          <p:cNvSpPr txBox="1"/>
          <p:nvPr/>
        </p:nvSpPr>
        <p:spPr>
          <a:xfrm>
            <a:off x="4724400" y="4140200"/>
            <a:ext cx="27432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導入時の確認チェックリスト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D48A8923-53EC-0B79-0F9E-3F6C1390C05B}"/>
              </a:ext>
            </a:extLst>
          </p:cNvPr>
          <p:cNvSpPr/>
          <p:nvPr/>
        </p:nvSpPr>
        <p:spPr>
          <a:xfrm>
            <a:off x="8026400" y="3225800"/>
            <a:ext cx="3352800" cy="1473200"/>
          </a:xfrm>
          <a:prstGeom prst="roundRect">
            <a:avLst>
              <a:gd name="adj" fmla="val 9000"/>
            </a:avLst>
          </a:prstGeom>
          <a:solidFill>
            <a:srgbClr val="1B2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EEF43DE3-3175-E386-54BE-F484E1339D2F}"/>
              </a:ext>
            </a:extLst>
          </p:cNvPr>
          <p:cNvSpPr/>
          <p:nvPr/>
        </p:nvSpPr>
        <p:spPr>
          <a:xfrm>
            <a:off x="8331200" y="3530600"/>
            <a:ext cx="355600" cy="38100"/>
          </a:xfrm>
          <a:prstGeom prst="rect">
            <a:avLst/>
          </a:prstGeom>
          <a:solidFill>
            <a:srgbClr val="7FA6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AD25363-7EB6-14D5-59A2-A9C88FCAD547}"/>
              </a:ext>
            </a:extLst>
          </p:cNvPr>
          <p:cNvSpPr txBox="1"/>
          <p:nvPr/>
        </p:nvSpPr>
        <p:spPr>
          <a:xfrm>
            <a:off x="8331200" y="3759200"/>
            <a:ext cx="27432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7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アプリ要件定義書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BA0D66F-84AB-4E91-3AD7-7551C3F28251}"/>
              </a:ext>
            </a:extLst>
          </p:cNvPr>
          <p:cNvSpPr txBox="1"/>
          <p:nvPr/>
        </p:nvSpPr>
        <p:spPr>
          <a:xfrm>
            <a:off x="8331200" y="4140200"/>
            <a:ext cx="27432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機能仕様の詳細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3317ADA3-D2DA-A57D-31CF-67F3D3304A2F}"/>
              </a:ext>
            </a:extLst>
          </p:cNvPr>
          <p:cNvSpPr/>
          <p:nvPr/>
        </p:nvSpPr>
        <p:spPr>
          <a:xfrm>
            <a:off x="812800" y="5308600"/>
            <a:ext cx="10566400" cy="12700"/>
          </a:xfrm>
          <a:prstGeom prst="rect">
            <a:avLst/>
          </a:prstGeom>
          <a:solidFill>
            <a:srgbClr val="2E405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8B56C8B-736D-B2C4-6FB4-422EEF1B4BB2}"/>
              </a:ext>
            </a:extLst>
          </p:cNvPr>
          <p:cNvSpPr txBox="1"/>
          <p:nvPr/>
        </p:nvSpPr>
        <p:spPr>
          <a:xfrm>
            <a:off x="812800" y="5537200"/>
            <a:ext cx="7620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　（出典：操作ガイド</a:t>
            </a:r>
            <a:r>
              <a:rPr kumimoji="1" lang="en-US" altLang="ja-JP" sz="115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.md</a:t>
            </a:r>
            <a:r>
              <a:rPr kumimoji="1" lang="ja-JP" altLang="en-US" sz="115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98193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1811</Words>
  <Application>Microsoft Office PowerPoint</Application>
  <PresentationFormat>ユーザー設定</PresentationFormat>
  <Paragraphs>269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2" baseType="lpstr">
      <vt:lpstr>Yu Gothic UI</vt:lpstr>
      <vt:lpstr>游ゴシック</vt:lpstr>
      <vt:lpstr>游ゴシック Light</vt:lpstr>
      <vt:lpstr>Arial</vt:lpstr>
      <vt:lpstr>Consolas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Noriyuki Kamata</dc:creator>
  <cp:lastModifiedBy>Noriyuki Kamata</cp:lastModifiedBy>
  <cp:revision>1</cp:revision>
  <dcterms:created xsi:type="dcterms:W3CDTF">2026-08-28T13:36:33Z</dcterms:created>
  <dcterms:modified xsi:type="dcterms:W3CDTF">2026-08-28T13:36:33Z</dcterms:modified>
</cp:coreProperties>
</file>